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EB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0" Type="http://schemas.openxmlformats.org/officeDocument/2006/relationships/notesSlide" Target="../notesSlides/notesSlide4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-85725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6305550"/>
            <a:ext cx="10668000" cy="10478"/>
          </a:xfrm>
          <a:prstGeom prst="rect">
            <a:avLst/>
          </a:prstGeom>
          <a:solidFill>
            <a:srgbClr val="E2DD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723900"/>
            <a:ext cx="91440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先把项目理解成一个分层温室控制系统</a:t>
            </a:r>
            <a:endParaRPr sz="2325" b="1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42950" y="2266950"/>
            <a:ext cx="1524000" cy="914400"/>
          </a:xfrm>
          <a:prstGeom prst="rect">
            <a:avLst/>
          </a:prstGeom>
          <a:solidFill>
            <a:srgbClr val="DDEBF2"/>
          </a:solidFill>
          <a:ln w="9525">
            <a:solidFill>
              <a:srgbClr val="DDEBF2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14400" y="2352675"/>
            <a:ext cx="118173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2E6F9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00" b="1">
                <a:solidFill>
                  <a:srgbClr val="2E6F91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Observe</a:t>
            </a:r>
            <a:endParaRPr sz="1800" b="1">
              <a:solidFill>
                <a:srgbClr val="2E6F91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14400" y="2686050"/>
            <a:ext cx="1181100" cy="31496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00" b="1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温室状态</a:t>
            </a:r>
            <a:endParaRPr sz="1600" b="1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362200" y="2724150"/>
            <a:ext cx="304800" cy="20955"/>
          </a:xfrm>
          <a:prstGeom prst="rect">
            <a:avLst/>
          </a:prstGeom>
          <a:solidFill>
            <a:srgbClr val="8D948A"/>
          </a:solidFill>
          <a:ln w="0">
            <a:solidFill>
              <a:srgbClr val="8D948A"/>
            </a:solidFill>
            <a:prstDash val="solid"/>
          </a:ln>
        </p:spPr>
      </p:sp>
      <p:sp>
        <p:nvSpPr>
          <p:cNvPr id="13" name="等腰三角形 12"/>
          <p:cNvSpPr>
            <a:spLocks noGrp="1"/>
          </p:cNvSpPr>
          <p:nvPr/>
        </p:nvSpPr>
        <p:spPr>
          <a:xfrm>
            <a:off x="2647950" y="2676525"/>
            <a:ext cx="114300" cy="114300"/>
          </a:xfrm>
          <a:prstGeom prst="triangle">
            <a:avLst/>
          </a:prstGeom>
          <a:solidFill>
            <a:srgbClr val="8D948A"/>
          </a:solidFill>
          <a:ln w="0">
            <a:solidFill>
              <a:srgbClr val="8D948A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2857500" y="2266950"/>
            <a:ext cx="1524000" cy="914400"/>
          </a:xfrm>
          <a:prstGeom prst="rect">
            <a:avLst/>
          </a:prstGeom>
          <a:solidFill>
            <a:srgbClr val="DCECE2"/>
          </a:solidFill>
          <a:ln w="9525">
            <a:solidFill>
              <a:srgbClr val="DCECE2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028950" y="2352675"/>
            <a:ext cx="1181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F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00" b="1">
                <a:solidFill>
                  <a:srgbClr val="1F6B4B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Plan</a:t>
            </a:r>
            <a:endParaRPr sz="1800" b="1">
              <a:solidFill>
                <a:srgbClr val="1F6B4B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028950" y="26860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00" b="1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高层目标</a:t>
            </a:r>
            <a:endParaRPr sz="1600" b="1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476750" y="2724150"/>
            <a:ext cx="304800" cy="20955"/>
          </a:xfrm>
          <a:prstGeom prst="rect">
            <a:avLst/>
          </a:prstGeom>
          <a:solidFill>
            <a:srgbClr val="8D948A"/>
          </a:solidFill>
          <a:ln w="0">
            <a:solidFill>
              <a:srgbClr val="8D948A"/>
            </a:solidFill>
            <a:prstDash val="solid"/>
          </a:ln>
        </p:spPr>
      </p:sp>
      <p:sp>
        <p:nvSpPr>
          <p:cNvPr id="18" name="等腰三角形 17"/>
          <p:cNvSpPr>
            <a:spLocks noGrp="1"/>
          </p:cNvSpPr>
          <p:nvPr/>
        </p:nvSpPr>
        <p:spPr>
          <a:xfrm>
            <a:off x="4762500" y="2676525"/>
            <a:ext cx="114300" cy="114300"/>
          </a:xfrm>
          <a:prstGeom prst="triangle">
            <a:avLst/>
          </a:prstGeom>
          <a:solidFill>
            <a:srgbClr val="8D948A"/>
          </a:solidFill>
          <a:ln w="0">
            <a:solidFill>
              <a:srgbClr val="8D948A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972050" y="2266950"/>
            <a:ext cx="1524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DD2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143500" y="2352675"/>
            <a:ext cx="1181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00" b="1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Contract</a:t>
            </a:r>
            <a:endParaRPr sz="1800" b="1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143500" y="26860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00" b="1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设定点合同</a:t>
            </a:r>
            <a:endParaRPr sz="1600" b="1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591300" y="2724150"/>
            <a:ext cx="304800" cy="20955"/>
          </a:xfrm>
          <a:prstGeom prst="rect">
            <a:avLst/>
          </a:prstGeom>
          <a:solidFill>
            <a:srgbClr val="8D948A"/>
          </a:solidFill>
          <a:ln w="0">
            <a:solidFill>
              <a:srgbClr val="8D948A"/>
            </a:solidFill>
            <a:prstDash val="solid"/>
          </a:ln>
        </p:spPr>
      </p:sp>
      <p:sp>
        <p:nvSpPr>
          <p:cNvPr id="23" name="等腰三角形 22"/>
          <p:cNvSpPr>
            <a:spLocks noGrp="1"/>
          </p:cNvSpPr>
          <p:nvPr/>
        </p:nvSpPr>
        <p:spPr>
          <a:xfrm>
            <a:off x="6877050" y="2676525"/>
            <a:ext cx="114300" cy="114300"/>
          </a:xfrm>
          <a:prstGeom prst="triangle">
            <a:avLst/>
          </a:prstGeom>
          <a:solidFill>
            <a:srgbClr val="8D948A"/>
          </a:solidFill>
          <a:ln w="0">
            <a:solidFill>
              <a:srgbClr val="8D948A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086600" y="2266950"/>
            <a:ext cx="1524000" cy="914400"/>
          </a:xfrm>
          <a:prstGeom prst="rect">
            <a:avLst/>
          </a:prstGeom>
          <a:solidFill>
            <a:srgbClr val="F3E3BE"/>
          </a:solidFill>
          <a:ln w="9525">
            <a:solidFill>
              <a:srgbClr val="F3E3BE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258050" y="2352675"/>
            <a:ext cx="1181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C8892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00" b="1">
                <a:solidFill>
                  <a:srgbClr val="C8892F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Control</a:t>
            </a:r>
            <a:endParaRPr sz="1800" b="1">
              <a:solidFill>
                <a:srgbClr val="C8892F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258050" y="26860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00" b="1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RSPC 安全执行</a:t>
            </a:r>
            <a:endParaRPr sz="1600" b="1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705850" y="2724150"/>
            <a:ext cx="304800" cy="20955"/>
          </a:xfrm>
          <a:prstGeom prst="rect">
            <a:avLst/>
          </a:prstGeom>
          <a:solidFill>
            <a:srgbClr val="8D948A"/>
          </a:solidFill>
          <a:ln w="0">
            <a:solidFill>
              <a:srgbClr val="8D948A"/>
            </a:solidFill>
            <a:prstDash val="solid"/>
          </a:ln>
        </p:spPr>
      </p:sp>
      <p:sp>
        <p:nvSpPr>
          <p:cNvPr id="28" name="等腰三角形 27"/>
          <p:cNvSpPr>
            <a:spLocks noGrp="1"/>
          </p:cNvSpPr>
          <p:nvPr/>
        </p:nvSpPr>
        <p:spPr>
          <a:xfrm>
            <a:off x="8991600" y="2676525"/>
            <a:ext cx="114300" cy="114300"/>
          </a:xfrm>
          <a:prstGeom prst="triangle">
            <a:avLst/>
          </a:prstGeom>
          <a:solidFill>
            <a:srgbClr val="8D948A"/>
          </a:solidFill>
          <a:ln w="0">
            <a:solidFill>
              <a:srgbClr val="8D948A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9201150" y="2266950"/>
            <a:ext cx="1524000" cy="914400"/>
          </a:xfrm>
          <a:prstGeom prst="rect">
            <a:avLst/>
          </a:prstGeom>
          <a:solidFill>
            <a:srgbClr val="F1D8D1"/>
          </a:solidFill>
          <a:ln w="9525">
            <a:solidFill>
              <a:srgbClr val="F1D8D1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9372600" y="2352675"/>
            <a:ext cx="1181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C9574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00" b="1">
                <a:solidFill>
                  <a:srgbClr val="C95743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Diagnose</a:t>
            </a:r>
            <a:endParaRPr sz="1800" b="1">
              <a:solidFill>
                <a:srgbClr val="C95743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372600" y="26860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00" b="1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影子诊断/经验</a:t>
            </a:r>
            <a:endParaRPr sz="1600" b="1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38200" y="3886200"/>
            <a:ext cx="3143250" cy="1962150"/>
          </a:xfrm>
          <a:prstGeom prst="rect">
            <a:avLst/>
          </a:prstGeom>
          <a:solidFill>
            <a:srgbClr val="FFFFFF"/>
          </a:solidFill>
          <a:ln w="9525">
            <a:solidFill>
              <a:srgbClr val="E2DDD2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1123950" y="4037330"/>
            <a:ext cx="1238885" cy="439420"/>
          </a:xfrm>
          <a:prstGeom prst="rect">
            <a:avLst/>
          </a:prstGeom>
          <a:solidFill>
            <a:srgbClr val="F1D8D1"/>
          </a:solidFill>
          <a:ln w="9525">
            <a:solidFill>
              <a:srgbClr val="F1D8D1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1123950" y="4610100"/>
            <a:ext cx="236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C9574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00" b="1">
                <a:solidFill>
                  <a:srgbClr val="C957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不直接当最终控制器</a:t>
            </a:r>
            <a:endParaRPr sz="1600" b="1">
              <a:solidFill>
                <a:srgbClr val="C957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1123950" y="4953000"/>
            <a:ext cx="2381250" cy="89471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00" b="0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规划未来目标状态；真正每一步送进环境的动作，由本地控制、fallback 和安全层决定。</a:t>
            </a:r>
            <a:endParaRPr sz="1400" b="0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4514850" y="3886200"/>
            <a:ext cx="3143250" cy="1962150"/>
          </a:xfrm>
          <a:prstGeom prst="rect">
            <a:avLst/>
          </a:prstGeom>
          <a:solidFill>
            <a:srgbClr val="FFFFFF"/>
          </a:solidFill>
          <a:ln w="9525">
            <a:solidFill>
              <a:srgbClr val="E2DDD2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4800600" y="4610100"/>
            <a:ext cx="262763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00" b="1">
                <a:solidFill>
                  <a:srgbClr val="1F6B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每一步输出 6 个执行器开度</a:t>
            </a:r>
            <a:endParaRPr sz="1600" b="1">
              <a:solidFill>
                <a:srgbClr val="1F6B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4800600" y="4953000"/>
            <a:ext cx="2457450" cy="89471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00" b="0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heating、CO2、screen、ventilation、lighting、shading，取值都在 0 到 1 之间。</a:t>
            </a:r>
            <a:endParaRPr sz="1400" b="0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191500" y="3886200"/>
            <a:ext cx="3143250" cy="1962150"/>
          </a:xfrm>
          <a:prstGeom prst="rect">
            <a:avLst/>
          </a:prstGeom>
          <a:solidFill>
            <a:srgbClr val="FFFFFF"/>
          </a:solidFill>
          <a:ln w="9525">
            <a:solidFill>
              <a:srgbClr val="E2DDD2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8477250" y="4676775"/>
            <a:ext cx="57150" cy="57150"/>
          </a:xfrm>
          <a:prstGeom prst="rect">
            <a:avLst/>
          </a:prstGeom>
          <a:solidFill>
            <a:srgbClr val="2E6F91"/>
          </a:solidFill>
          <a:ln w="0">
            <a:solidFill>
              <a:srgbClr val="2E6F91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8629650" y="4610100"/>
            <a:ext cx="22288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00" b="0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先看主闭环，再看旁路模块</a:t>
            </a:r>
            <a:endParaRPr sz="1400" b="0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8477250" y="5057775"/>
            <a:ext cx="57150" cy="57150"/>
          </a:xfrm>
          <a:prstGeom prst="rect">
            <a:avLst/>
          </a:prstGeom>
          <a:solidFill>
            <a:srgbClr val="2E6F91"/>
          </a:solidFill>
          <a:ln w="0">
            <a:solidFill>
              <a:srgbClr val="2E6F91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8629650" y="4991100"/>
            <a:ext cx="22288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00" b="0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先讲作用，再讲算法细节</a:t>
            </a:r>
            <a:endParaRPr sz="1400" b="0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8477250" y="5438775"/>
            <a:ext cx="57150" cy="57150"/>
          </a:xfrm>
          <a:prstGeom prst="rect">
            <a:avLst/>
          </a:prstGeom>
          <a:solidFill>
            <a:srgbClr val="2E6F91"/>
          </a:solidFill>
          <a:ln w="0">
            <a:solidFill>
              <a:srgbClr val="2E6F91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8629650" y="5372100"/>
            <a:ext cx="22288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00" b="0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最后再说当前进展和下一步</a:t>
            </a:r>
            <a:endParaRPr sz="1400" b="0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1200150" y="4078605"/>
            <a:ext cx="1100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核心边界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4800600" y="4037330"/>
            <a:ext cx="1238885" cy="439420"/>
          </a:xfrm>
          <a:prstGeom prst="rect">
            <a:avLst/>
          </a:prstGeom>
          <a:solidFill>
            <a:srgbClr val="DCECE2"/>
          </a:solidFill>
          <a:ln w="9525">
            <a:solidFill>
              <a:srgbClr val="DCECE2"/>
            </a:solidFill>
            <a:prstDash val="solid"/>
          </a:ln>
        </p:spPr>
      </p:sp>
      <p:sp>
        <p:nvSpPr>
          <p:cNvPr id="55" name="文本框 54"/>
          <p:cNvSpPr txBox="1"/>
          <p:nvPr/>
        </p:nvSpPr>
        <p:spPr>
          <a:xfrm>
            <a:off x="4866005" y="4097655"/>
            <a:ext cx="1162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动作向量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8470900" y="4021455"/>
            <a:ext cx="1238885" cy="439420"/>
          </a:xfrm>
          <a:prstGeom prst="rect">
            <a:avLst/>
          </a:prstGeom>
          <a:solidFill>
            <a:srgbClr val="DDEBF2"/>
          </a:solidFill>
          <a:ln w="9525">
            <a:solidFill>
              <a:srgbClr val="DCECE2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8536305" y="4081780"/>
            <a:ext cx="1162685" cy="368300"/>
          </a:xfrm>
          <a:prstGeom prst="rect">
            <a:avLst/>
          </a:prstGeom>
          <a:solidFill>
            <a:srgbClr val="DDEBF2"/>
          </a:solidFill>
          <a:ln w="9525">
            <a:solidFill>
              <a:srgbClr val="DDEBF2"/>
            </a:solidFill>
            <a:prstDash val="solid"/>
          </a:ln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动作向量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62560"/>
            <a:ext cx="612648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F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330" b="1">
                <a:solidFill>
                  <a:srgbClr val="1F6B4B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整体架构</a:t>
            </a:r>
            <a:endParaRPr sz="2330" b="1">
              <a:solidFill>
                <a:srgbClr val="1F6B4B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6305550"/>
            <a:ext cx="10668000" cy="10478"/>
          </a:xfrm>
          <a:prstGeom prst="rect">
            <a:avLst/>
          </a:prstGeom>
          <a:solidFill>
            <a:srgbClr val="E2DD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723900"/>
            <a:ext cx="91440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系统有一条主控制路径，旁边挂着诊断和经验模块</a:t>
            </a:r>
            <a:endParaRPr sz="2325" b="1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1447800"/>
            <a:ext cx="8763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E69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00" b="0">
                <a:solidFill>
                  <a:srgbClr val="5E695F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实线表示会影响最终动作的闭环路径；旁路模块主要用于解释、发现机会或为未来版本准备经验。</a:t>
            </a:r>
            <a:endParaRPr sz="1600" b="0">
              <a:solidFill>
                <a:srgbClr val="5E695F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90550" y="2209800"/>
            <a:ext cx="1657350" cy="1066800"/>
          </a:xfrm>
          <a:prstGeom prst="rect">
            <a:avLst/>
          </a:prstGeom>
          <a:solidFill>
            <a:srgbClr val="DDEBF2"/>
          </a:solidFill>
          <a:ln w="9525">
            <a:solidFill>
              <a:srgbClr val="E2DDD2"/>
            </a:solidFill>
            <a:prstDash val="solid"/>
          </a:ln>
        </p:spPr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2950" y="2362200"/>
            <a:ext cx="209550" cy="209550"/>
          </a:xfrm>
          <a:prstGeom prst="rect">
            <a:avLst/>
          </a:prstGeom>
        </p:spPr>
      </p:pic>
      <p:sp>
        <p:nvSpPr>
          <p:cNvPr id="11" name="矩形 10"/>
          <p:cNvSpPr>
            <a:spLocks noGrp="1"/>
          </p:cNvSpPr>
          <p:nvPr/>
        </p:nvSpPr>
        <p:spPr>
          <a:xfrm>
            <a:off x="1047750" y="234315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E6F9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00" b="1">
                <a:solidFill>
                  <a:srgbClr val="2E6F91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温室状态</a:t>
            </a:r>
            <a:endParaRPr sz="1600" b="1">
              <a:solidFill>
                <a:srgbClr val="2E6F91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47750" y="2628900"/>
            <a:ext cx="1047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5E69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00" b="0">
                <a:solidFill>
                  <a:srgbClr val="5E69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temp_air、rh_air、VPD、CO2、辐射、外界天气、作物状态</a:t>
            </a:r>
            <a:endParaRPr sz="1000" b="0">
              <a:solidFill>
                <a:srgbClr val="5E69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381250" y="2743200"/>
            <a:ext cx="361950" cy="20955"/>
          </a:xfrm>
          <a:prstGeom prst="rect">
            <a:avLst/>
          </a:prstGeom>
          <a:solidFill>
            <a:srgbClr val="8D948A"/>
          </a:solidFill>
          <a:ln w="0">
            <a:solidFill>
              <a:srgbClr val="8D948A"/>
            </a:solidFill>
            <a:prstDash val="solid"/>
          </a:ln>
        </p:spPr>
      </p:sp>
      <p:sp>
        <p:nvSpPr>
          <p:cNvPr id="14" name="等腰三角形 13"/>
          <p:cNvSpPr>
            <a:spLocks noGrp="1"/>
          </p:cNvSpPr>
          <p:nvPr/>
        </p:nvSpPr>
        <p:spPr>
          <a:xfrm>
            <a:off x="2724150" y="2695575"/>
            <a:ext cx="114300" cy="114300"/>
          </a:xfrm>
          <a:prstGeom prst="triangle">
            <a:avLst/>
          </a:prstGeom>
          <a:solidFill>
            <a:srgbClr val="8D948A"/>
          </a:solidFill>
          <a:ln w="0">
            <a:solidFill>
              <a:srgbClr val="8D948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2933700" y="2133600"/>
            <a:ext cx="1752600" cy="1219200"/>
          </a:xfrm>
          <a:prstGeom prst="rect">
            <a:avLst/>
          </a:prstGeom>
          <a:solidFill>
            <a:srgbClr val="DCECE2"/>
          </a:solidFill>
          <a:ln w="9525">
            <a:solidFill>
              <a:srgbClr val="E2DDD2"/>
            </a:solidFill>
            <a:prstDash val="solid"/>
          </a:ln>
        </p:spPr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86100" y="2286000"/>
            <a:ext cx="209550" cy="209550"/>
          </a:xfrm>
          <a:prstGeom prst="rect">
            <a:avLst/>
          </a:prstGeom>
        </p:spPr>
      </p:pic>
      <p:sp>
        <p:nvSpPr>
          <p:cNvPr id="17" name="矩形 16"/>
          <p:cNvSpPr>
            <a:spLocks noGrp="1"/>
          </p:cNvSpPr>
          <p:nvPr/>
        </p:nvSpPr>
        <p:spPr>
          <a:xfrm>
            <a:off x="3295650" y="2266950"/>
            <a:ext cx="134048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F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00" b="1">
                <a:solidFill>
                  <a:srgbClr val="1F6B4B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LLM Planner</a:t>
            </a:r>
            <a:endParaRPr sz="1600" b="1">
              <a:solidFill>
                <a:srgbClr val="1F6B4B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390900" y="2552700"/>
            <a:ext cx="11430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5E69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00" b="0">
                <a:solidFill>
                  <a:srgbClr val="5E69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理解当前风险，规划 anchor action 与未来目标状态</a:t>
            </a:r>
            <a:endParaRPr sz="1000" b="0">
              <a:solidFill>
                <a:srgbClr val="5E69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819650" y="2743200"/>
            <a:ext cx="361950" cy="20955"/>
          </a:xfrm>
          <a:prstGeom prst="rect">
            <a:avLst/>
          </a:prstGeom>
          <a:solidFill>
            <a:srgbClr val="8D948A"/>
          </a:solidFill>
          <a:ln w="0">
            <a:solidFill>
              <a:srgbClr val="8D948A"/>
            </a:solidFill>
            <a:prstDash val="solid"/>
          </a:ln>
        </p:spPr>
      </p:sp>
      <p:sp>
        <p:nvSpPr>
          <p:cNvPr id="20" name="等腰三角形 19"/>
          <p:cNvSpPr>
            <a:spLocks noGrp="1"/>
          </p:cNvSpPr>
          <p:nvPr/>
        </p:nvSpPr>
        <p:spPr>
          <a:xfrm>
            <a:off x="5162550" y="2695575"/>
            <a:ext cx="114300" cy="114300"/>
          </a:xfrm>
          <a:prstGeom prst="triangle">
            <a:avLst/>
          </a:prstGeom>
          <a:solidFill>
            <a:srgbClr val="8D948A"/>
          </a:solidFill>
          <a:ln w="0">
            <a:solidFill>
              <a:srgbClr val="8D948A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5353050" y="2133600"/>
            <a:ext cx="188595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DD2"/>
            </a:solidFill>
            <a:prstDash val="solid"/>
          </a:ln>
        </p:spPr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05450" y="2286000"/>
            <a:ext cx="209550" cy="209550"/>
          </a:xfrm>
          <a:prstGeom prst="rect">
            <a:avLst/>
          </a:prstGeom>
        </p:spPr>
      </p:pic>
      <p:sp>
        <p:nvSpPr>
          <p:cNvPr id="23" name="矩形 22"/>
          <p:cNvSpPr>
            <a:spLocks noGrp="1"/>
          </p:cNvSpPr>
          <p:nvPr/>
        </p:nvSpPr>
        <p:spPr>
          <a:xfrm>
            <a:off x="5810250" y="2266950"/>
            <a:ext cx="120777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00" b="1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Setpoint Contract</a:t>
            </a:r>
            <a:endParaRPr sz="1600" b="1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810250" y="2781300"/>
            <a:ext cx="1276350" cy="4114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5E69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00" b="0">
                <a:solidFill>
                  <a:srgbClr val="5E69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补齐、裁剪、平滑并约束 target profiles</a:t>
            </a:r>
            <a:endParaRPr sz="1000" b="0">
              <a:solidFill>
                <a:srgbClr val="5E69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372350" y="2743200"/>
            <a:ext cx="361950" cy="20955"/>
          </a:xfrm>
          <a:prstGeom prst="rect">
            <a:avLst/>
          </a:prstGeom>
          <a:solidFill>
            <a:srgbClr val="8D948A"/>
          </a:solidFill>
          <a:ln w="0">
            <a:solidFill>
              <a:srgbClr val="8D948A"/>
            </a:solidFill>
            <a:prstDash val="solid"/>
          </a:ln>
        </p:spPr>
      </p:sp>
      <p:sp>
        <p:nvSpPr>
          <p:cNvPr id="26" name="等腰三角形 25"/>
          <p:cNvSpPr>
            <a:spLocks noGrp="1"/>
          </p:cNvSpPr>
          <p:nvPr/>
        </p:nvSpPr>
        <p:spPr>
          <a:xfrm>
            <a:off x="7715250" y="2695575"/>
            <a:ext cx="114300" cy="114300"/>
          </a:xfrm>
          <a:prstGeom prst="triangle">
            <a:avLst/>
          </a:prstGeom>
          <a:solidFill>
            <a:srgbClr val="8D948A"/>
          </a:solidFill>
          <a:ln w="0">
            <a:solidFill>
              <a:srgbClr val="8D948A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7924800" y="2133600"/>
            <a:ext cx="2000250" cy="1219200"/>
          </a:xfrm>
          <a:prstGeom prst="rect">
            <a:avLst/>
          </a:prstGeom>
          <a:solidFill>
            <a:srgbClr val="F3E3BE"/>
          </a:solidFill>
          <a:ln w="9525">
            <a:solidFill>
              <a:srgbClr val="E2DDD2"/>
            </a:solidFill>
            <a:prstDash val="solid"/>
          </a:ln>
        </p:spPr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77200" y="2286000"/>
            <a:ext cx="209550" cy="209550"/>
          </a:xfrm>
          <a:prstGeom prst="rect">
            <a:avLst/>
          </a:prstGeom>
        </p:spPr>
      </p:pic>
      <p:sp>
        <p:nvSpPr>
          <p:cNvPr id="29" name="矩形 28"/>
          <p:cNvSpPr>
            <a:spLocks noGrp="1"/>
          </p:cNvSpPr>
          <p:nvPr/>
        </p:nvSpPr>
        <p:spPr>
          <a:xfrm>
            <a:off x="8382000" y="2266950"/>
            <a:ext cx="154368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C8892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00" b="1">
                <a:solidFill>
                  <a:srgbClr val="C8892F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RSPC /Fallback</a:t>
            </a:r>
            <a:endParaRPr sz="1600" b="1">
              <a:solidFill>
                <a:srgbClr val="C8892F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382000" y="2552700"/>
            <a:ext cx="13906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5E69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00" b="0">
                <a:solidFill>
                  <a:srgbClr val="5E69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跟踪设定点，生成并评分候选动作，选出 selected_control</a:t>
            </a:r>
            <a:endParaRPr sz="1000" b="0">
              <a:solidFill>
                <a:srgbClr val="5E69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0058400" y="2743200"/>
            <a:ext cx="323850" cy="20955"/>
          </a:xfrm>
          <a:prstGeom prst="rect">
            <a:avLst/>
          </a:prstGeom>
          <a:solidFill>
            <a:srgbClr val="8D948A"/>
          </a:solidFill>
          <a:ln w="0">
            <a:solidFill>
              <a:srgbClr val="8D948A"/>
            </a:solidFill>
            <a:prstDash val="solid"/>
          </a:ln>
        </p:spPr>
      </p:sp>
      <p:sp>
        <p:nvSpPr>
          <p:cNvPr id="32" name="等腰三角形 31"/>
          <p:cNvSpPr>
            <a:spLocks noGrp="1"/>
          </p:cNvSpPr>
          <p:nvPr/>
        </p:nvSpPr>
        <p:spPr>
          <a:xfrm>
            <a:off x="10363200" y="2695575"/>
            <a:ext cx="114300" cy="114300"/>
          </a:xfrm>
          <a:prstGeom prst="triangle">
            <a:avLst/>
          </a:prstGeom>
          <a:solidFill>
            <a:srgbClr val="8D948A"/>
          </a:solidFill>
          <a:ln w="0">
            <a:solidFill>
              <a:srgbClr val="8D948A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10496550" y="2133600"/>
            <a:ext cx="1238250" cy="1219200"/>
          </a:xfrm>
          <a:prstGeom prst="rect">
            <a:avLst/>
          </a:prstGeom>
          <a:solidFill>
            <a:srgbClr val="F1D8D1"/>
          </a:solidFill>
          <a:ln w="9525">
            <a:solidFill>
              <a:srgbClr val="E2DDD2"/>
            </a:solidFill>
            <a:prstDash val="solid"/>
          </a:ln>
        </p:spPr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648950" y="2286000"/>
            <a:ext cx="209550" cy="209550"/>
          </a:xfrm>
          <a:prstGeom prst="rect">
            <a:avLst/>
          </a:prstGeom>
        </p:spPr>
      </p:pic>
      <p:sp>
        <p:nvSpPr>
          <p:cNvPr id="35" name="矩形 34"/>
          <p:cNvSpPr>
            <a:spLocks noGrp="1"/>
          </p:cNvSpPr>
          <p:nvPr/>
        </p:nvSpPr>
        <p:spPr>
          <a:xfrm>
            <a:off x="10953750" y="2266950"/>
            <a:ext cx="781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C9574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00" b="1">
                <a:solidFill>
                  <a:srgbClr val="C95743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Safety</a:t>
            </a:r>
            <a:endParaRPr sz="1600" b="1">
              <a:solidFill>
                <a:srgbClr val="C95743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10953750" y="2552700"/>
            <a:ext cx="6286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5E69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00" b="0">
                <a:solidFill>
                  <a:srgbClr val="5E69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guardrail + Tomato v2，输出最终动作</a:t>
            </a:r>
            <a:endParaRPr sz="1000" b="0">
              <a:solidFill>
                <a:srgbClr val="5E69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19150" y="3810000"/>
            <a:ext cx="26670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DD2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1104900" y="4095750"/>
            <a:ext cx="1524000" cy="266700"/>
          </a:xfrm>
          <a:prstGeom prst="rect">
            <a:avLst/>
          </a:prstGeom>
          <a:solidFill>
            <a:srgbClr val="DCECE2"/>
          </a:solidFill>
          <a:ln w="9525">
            <a:solidFill>
              <a:srgbClr val="DCECE2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1104900" y="4096385"/>
            <a:ext cx="1524635" cy="26606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F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1F6B4B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Plan Cache / Replay</a:t>
            </a:r>
            <a:endParaRPr sz="1200" b="1">
              <a:solidFill>
                <a:srgbClr val="1F6B4B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104900" y="4514850"/>
            <a:ext cx="195262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00" b="0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冻结同一批 LLM 计划，用于公平比较底层控制逻辑。</a:t>
            </a:r>
            <a:endParaRPr sz="1000" b="0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4095750" y="3810000"/>
            <a:ext cx="3028950" cy="1219200"/>
          </a:xfrm>
          <a:prstGeom prst="rect">
            <a:avLst/>
          </a:prstGeom>
          <a:solidFill>
            <a:srgbClr val="DDEBF2"/>
          </a:solidFill>
          <a:ln w="9525">
            <a:solidFill>
              <a:srgbClr val="BBD6E4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4381500" y="4095750"/>
            <a:ext cx="142875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4381500" y="4095115"/>
            <a:ext cx="1470025" cy="26733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E6F9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2E6F91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MC-SERO Shadow</a:t>
            </a:r>
            <a:endParaRPr sz="1200" b="1">
              <a:solidFill>
                <a:srgbClr val="2E6F91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4381500" y="4514850"/>
            <a:ext cx="2279015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00" b="0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后台生成机制候选并评分，只记录 would_select、margin 和原因，不改变动作。</a:t>
            </a:r>
            <a:endParaRPr sz="1000" b="0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7734300" y="3810000"/>
            <a:ext cx="3028950" cy="1219200"/>
          </a:xfrm>
          <a:prstGeom prst="rect">
            <a:avLst/>
          </a:prstGeom>
          <a:solidFill>
            <a:srgbClr val="DCECE2"/>
          </a:solidFill>
          <a:ln w="9525">
            <a:solidFill>
              <a:srgbClr val="C7DCCD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8020050" y="4095750"/>
            <a:ext cx="8382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8096250" y="4143375"/>
            <a:ext cx="685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F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1F6B4B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HEM</a:t>
            </a:r>
            <a:endParaRPr sz="1200" b="1">
              <a:solidFill>
                <a:srgbClr val="1F6B4B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8020050" y="45148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00" b="0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离线挖掘湿度经济经验，当前更像经验库框架，不是在线主控制器。</a:t>
            </a:r>
            <a:endParaRPr sz="1000" b="0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1257300" y="5619750"/>
            <a:ext cx="876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253229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00" b="1">
                <a:solidFill>
                  <a:srgbClr val="2532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一句话：主路径负责控制温室，旁路模块负责让我们知道“还有哪些更好动作可能存在”。</a:t>
            </a:r>
            <a:endParaRPr sz="1500" b="1">
              <a:solidFill>
                <a:srgbClr val="2532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61925"/>
            <a:ext cx="1911350" cy="43243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F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330" b="1">
                <a:solidFill>
                  <a:srgbClr val="1F6B4B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LLM-RSPC</a:t>
            </a:r>
            <a:endParaRPr sz="2330" b="1">
              <a:solidFill>
                <a:srgbClr val="1F6B4B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6305550"/>
            <a:ext cx="10668000" cy="10478"/>
          </a:xfrm>
          <a:prstGeom prst="rect">
            <a:avLst/>
          </a:prstGeom>
          <a:solidFill>
            <a:srgbClr val="E2DD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723900"/>
            <a:ext cx="91440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7211B"/>
                </a:solidFill>
                <a:cs typeface="微软雅黑" panose="020B0503020204020204" charset="-122"/>
              </a:rPr>
              <a:t>LLM-RSPC</a:t>
            </a:r>
            <a:r>
              <a:rPr sz="2325" b="1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LLM 规划目标 + 本地鲁棒滚动执行</a:t>
            </a:r>
            <a:endParaRPr sz="2325" b="1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1447800"/>
            <a:ext cx="91249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E69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00" b="0">
                <a:solidFill>
                  <a:srgbClr val="5E69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它不是一个单独的神经网络控制器，而是一套“高层规划”和“底层安全执行”分工明确的控制架构。</a:t>
            </a:r>
            <a:endParaRPr sz="1600" b="0">
              <a:solidFill>
                <a:srgbClr val="5E69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42950" y="2209800"/>
            <a:ext cx="2952750" cy="2286000"/>
          </a:xfrm>
          <a:prstGeom prst="rect">
            <a:avLst/>
          </a:prstGeom>
          <a:solidFill>
            <a:srgbClr val="DCECE2"/>
          </a:solidFill>
          <a:ln w="9525">
            <a:solidFill>
              <a:srgbClr val="C5DCCB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028700" y="2438400"/>
            <a:ext cx="1638935" cy="38989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04900" y="2486025"/>
            <a:ext cx="1504950" cy="34226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F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1F6B4B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LLM-guided planning</a:t>
            </a:r>
            <a:endParaRPr sz="1200" b="1">
              <a:solidFill>
                <a:srgbClr val="1F6B4B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28700" y="28956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F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50" b="1">
                <a:solidFill>
                  <a:srgbClr val="1F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LLM 做什么</a:t>
            </a:r>
            <a:endParaRPr sz="1650" b="1">
              <a:solidFill>
                <a:srgbClr val="1F6B4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28700" y="3362325"/>
            <a:ext cx="57150" cy="57150"/>
          </a:xfrm>
          <a:prstGeom prst="rect">
            <a:avLst/>
          </a:prstGeom>
          <a:solidFill>
            <a:srgbClr val="1F6B4B"/>
          </a:solidFill>
          <a:ln w="0">
            <a:solidFill>
              <a:srgbClr val="1F6B4B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181100" y="3295650"/>
            <a:ext cx="2038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读取当前温室状态和风险</a:t>
            </a:r>
            <a:endParaRPr sz="1125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028700" y="3724275"/>
            <a:ext cx="57150" cy="57150"/>
          </a:xfrm>
          <a:prstGeom prst="rect">
            <a:avLst/>
          </a:prstGeom>
          <a:solidFill>
            <a:srgbClr val="1F6B4B"/>
          </a:solidFill>
          <a:ln w="0">
            <a:solidFill>
              <a:srgbClr val="1F6B4B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181100" y="3657600"/>
            <a:ext cx="2133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给出策略意图和 anchor action</a:t>
            </a:r>
            <a:endParaRPr sz="1125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028700" y="4086225"/>
            <a:ext cx="57150" cy="57150"/>
          </a:xfrm>
          <a:prstGeom prst="rect">
            <a:avLst/>
          </a:prstGeom>
          <a:solidFill>
            <a:srgbClr val="1F6B4B"/>
          </a:solidFill>
          <a:ln w="0">
            <a:solidFill>
              <a:srgbClr val="1F6B4B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181100" y="4019550"/>
            <a:ext cx="22288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规划未来 target_temp / target_rh / target_co2</a:t>
            </a:r>
            <a:endParaRPr sz="1125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981450" y="3314700"/>
            <a:ext cx="647700" cy="20955"/>
          </a:xfrm>
          <a:prstGeom prst="rect">
            <a:avLst/>
          </a:prstGeom>
          <a:solidFill>
            <a:srgbClr val="8D948A"/>
          </a:solidFill>
          <a:ln w="0">
            <a:solidFill>
              <a:srgbClr val="8D948A"/>
            </a:solidFill>
            <a:prstDash val="solid"/>
          </a:ln>
        </p:spPr>
      </p:sp>
      <p:sp>
        <p:nvSpPr>
          <p:cNvPr id="20" name="等腰三角形 19"/>
          <p:cNvSpPr>
            <a:spLocks noGrp="1"/>
          </p:cNvSpPr>
          <p:nvPr/>
        </p:nvSpPr>
        <p:spPr>
          <a:xfrm>
            <a:off x="4610100" y="3267075"/>
            <a:ext cx="114300" cy="114300"/>
          </a:xfrm>
          <a:prstGeom prst="triangle">
            <a:avLst/>
          </a:prstGeom>
          <a:solidFill>
            <a:srgbClr val="8D948A"/>
          </a:solidFill>
          <a:ln w="0">
            <a:solidFill>
              <a:srgbClr val="8D948A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4953000" y="2209800"/>
            <a:ext cx="2952750" cy="2286000"/>
          </a:xfrm>
          <a:prstGeom prst="rect">
            <a:avLst/>
          </a:prstGeom>
          <a:solidFill>
            <a:srgbClr val="F3E3BE"/>
          </a:solidFill>
          <a:ln w="9525">
            <a:solidFill>
              <a:srgbClr val="E5C47F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5238750" y="2438400"/>
            <a:ext cx="1804035" cy="38989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5314950" y="2486025"/>
            <a:ext cx="1657350" cy="34163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C8892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C8892F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Robust setpoint tracking</a:t>
            </a:r>
            <a:endParaRPr sz="1200" b="1">
              <a:solidFill>
                <a:srgbClr val="C8892F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238750" y="28956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C8892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50" b="1">
                <a:solidFill>
                  <a:srgbClr val="C8892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RSPC 做什么</a:t>
            </a:r>
            <a:endParaRPr sz="1650" b="1">
              <a:solidFill>
                <a:srgbClr val="C8892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238750" y="3362325"/>
            <a:ext cx="57150" cy="57150"/>
          </a:xfrm>
          <a:prstGeom prst="rect">
            <a:avLst/>
          </a:prstGeom>
          <a:solidFill>
            <a:srgbClr val="C8892F"/>
          </a:solidFill>
          <a:ln w="0">
            <a:solidFill>
              <a:srgbClr val="C8892F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5391150" y="3295650"/>
            <a:ext cx="2114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拿当前状态对齐下一步目标</a:t>
            </a:r>
            <a:endParaRPr sz="1125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238750" y="3724275"/>
            <a:ext cx="57150" cy="57150"/>
          </a:xfrm>
          <a:prstGeom prst="rect">
            <a:avLst/>
          </a:prstGeom>
          <a:solidFill>
            <a:srgbClr val="C8892F"/>
          </a:solidFill>
          <a:ln w="0">
            <a:solidFill>
              <a:srgbClr val="C8892F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5391150" y="3657600"/>
            <a:ext cx="21812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生成 anchor / rule / blend / fallback 候选</a:t>
            </a:r>
            <a:endParaRPr sz="1125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238750" y="4086225"/>
            <a:ext cx="57150" cy="57150"/>
          </a:xfrm>
          <a:prstGeom prst="rect">
            <a:avLst/>
          </a:prstGeom>
          <a:solidFill>
            <a:srgbClr val="C8892F"/>
          </a:solidFill>
          <a:ln w="0">
            <a:solidFill>
              <a:srgbClr val="C8892F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5391150" y="4019550"/>
            <a:ext cx="21526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按短期风险和代价选择 selected_control</a:t>
            </a:r>
            <a:endParaRPr sz="1125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172450" y="3314700"/>
            <a:ext cx="647700" cy="20955"/>
          </a:xfrm>
          <a:prstGeom prst="rect">
            <a:avLst/>
          </a:prstGeom>
          <a:solidFill>
            <a:srgbClr val="8D948A"/>
          </a:solidFill>
          <a:ln w="0">
            <a:solidFill>
              <a:srgbClr val="8D948A"/>
            </a:solidFill>
            <a:prstDash val="solid"/>
          </a:ln>
        </p:spPr>
      </p:sp>
      <p:sp>
        <p:nvSpPr>
          <p:cNvPr id="32" name="等腰三角形 31"/>
          <p:cNvSpPr>
            <a:spLocks noGrp="1"/>
          </p:cNvSpPr>
          <p:nvPr/>
        </p:nvSpPr>
        <p:spPr>
          <a:xfrm>
            <a:off x="8801100" y="3267075"/>
            <a:ext cx="114300" cy="114300"/>
          </a:xfrm>
          <a:prstGeom prst="triangle">
            <a:avLst/>
          </a:prstGeom>
          <a:solidFill>
            <a:srgbClr val="8D948A"/>
          </a:solidFill>
          <a:ln w="0">
            <a:solidFill>
              <a:srgbClr val="8D948A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9144000" y="2209800"/>
            <a:ext cx="2190750" cy="2457450"/>
          </a:xfrm>
          <a:prstGeom prst="rect">
            <a:avLst/>
          </a:prstGeom>
          <a:solidFill>
            <a:srgbClr val="F1D8D1"/>
          </a:solidFill>
          <a:ln w="9525">
            <a:solidFill>
              <a:srgbClr val="E0B8AE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9429750" y="2438400"/>
            <a:ext cx="1118870" cy="38989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9505950" y="2486025"/>
            <a:ext cx="990600" cy="34163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C9574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C95743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Safe rollout</a:t>
            </a:r>
            <a:endParaRPr sz="1200" b="1">
              <a:solidFill>
                <a:srgbClr val="C95743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9429750" y="28956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C9574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50" b="1">
                <a:solidFill>
                  <a:srgbClr val="C9574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落地原则</a:t>
            </a:r>
            <a:endParaRPr sz="1650" b="1">
              <a:solidFill>
                <a:srgbClr val="C9574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9429750" y="3362325"/>
            <a:ext cx="57150" cy="57150"/>
          </a:xfrm>
          <a:prstGeom prst="rect">
            <a:avLst/>
          </a:prstGeom>
          <a:solidFill>
            <a:srgbClr val="C95743"/>
          </a:solidFill>
          <a:ln w="0">
            <a:solidFill>
              <a:srgbClr val="C95743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9582150" y="3295650"/>
            <a:ext cx="14668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每一步动作都可裁剪</a:t>
            </a:r>
            <a:endParaRPr sz="1125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9429750" y="3724275"/>
            <a:ext cx="57150" cy="57150"/>
          </a:xfrm>
          <a:prstGeom prst="rect">
            <a:avLst/>
          </a:prstGeom>
          <a:solidFill>
            <a:srgbClr val="C95743"/>
          </a:solidFill>
          <a:ln w="0">
            <a:solidFill>
              <a:srgbClr val="C95743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9582150" y="3657600"/>
            <a:ext cx="1485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温湿度/VPD/露点受护栏约束</a:t>
            </a:r>
            <a:endParaRPr sz="1125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9429750" y="4238625"/>
            <a:ext cx="57150" cy="57150"/>
          </a:xfrm>
          <a:prstGeom prst="rect">
            <a:avLst/>
          </a:prstGeom>
          <a:solidFill>
            <a:srgbClr val="C95743"/>
          </a:solidFill>
          <a:ln w="0">
            <a:solidFill>
              <a:srgbClr val="C95743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9582150" y="4171950"/>
            <a:ext cx="1447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异常时能退回 fallback</a:t>
            </a:r>
            <a:endParaRPr sz="1125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1104900" y="5048250"/>
            <a:ext cx="93345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DD2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1447800" y="5219700"/>
            <a:ext cx="8667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LLM-RSPC 的核心不是“让 LLM 操作锅炉和窗户”，而是让 LLM 给目标状态，本地控制器负责安全地一步步执行。</a:t>
            </a:r>
            <a:endParaRPr sz="1275" b="1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304800"/>
            <a:ext cx="6096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F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330" b="1">
                <a:solidFill>
                  <a:srgbClr val="1F6B4B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Setpoint Contract</a:t>
            </a:r>
            <a:endParaRPr sz="2330" b="1">
              <a:solidFill>
                <a:srgbClr val="1F6B4B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6305550"/>
            <a:ext cx="10668000" cy="10478"/>
          </a:xfrm>
          <a:prstGeom prst="rect">
            <a:avLst/>
          </a:prstGeom>
          <a:solidFill>
            <a:srgbClr val="E2DD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723900"/>
            <a:ext cx="91440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Setpoint Contract 把 LLM 的计划变成可跟踪的目标合同</a:t>
            </a:r>
            <a:endParaRPr sz="2325" b="1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1447800"/>
            <a:ext cx="9524365" cy="54800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E69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00" b="0">
                <a:solidFill>
                  <a:srgbClr val="5E69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输出可能缺字段、过激或前后不一致；合同层负责把它整理成底层控制可以稳定追踪的 reference profile。</a:t>
            </a:r>
            <a:endParaRPr sz="1600" b="0">
              <a:solidFill>
                <a:srgbClr val="5E69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23900" y="2305050"/>
            <a:ext cx="2476500" cy="2381250"/>
          </a:xfrm>
          <a:prstGeom prst="rect">
            <a:avLst/>
          </a:prstGeom>
          <a:solidFill>
            <a:srgbClr val="DCECE2"/>
          </a:solidFill>
          <a:ln w="9525">
            <a:solidFill>
              <a:srgbClr val="C7DCCD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009650" y="2533650"/>
            <a:ext cx="12573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085850" y="2581275"/>
            <a:ext cx="1104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F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1F6B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原始输出</a:t>
            </a:r>
            <a:endParaRPr sz="1200" b="1">
              <a:solidFill>
                <a:srgbClr val="1F6B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28700" y="3095625"/>
            <a:ext cx="57150" cy="57150"/>
          </a:xfrm>
          <a:prstGeom prst="rect">
            <a:avLst/>
          </a:prstGeom>
          <a:solidFill>
            <a:srgbClr val="1F6B4B"/>
          </a:solidFill>
          <a:ln w="0">
            <a:solidFill>
              <a:srgbClr val="1F6B4B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181100" y="3028950"/>
            <a:ext cx="15621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anchor control</a:t>
            </a:r>
            <a:endParaRPr sz="1125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028700" y="3457575"/>
            <a:ext cx="57150" cy="57150"/>
          </a:xfrm>
          <a:prstGeom prst="rect">
            <a:avLst/>
          </a:prstGeom>
          <a:solidFill>
            <a:srgbClr val="1F6B4B"/>
          </a:solidFill>
          <a:ln w="0">
            <a:solidFill>
              <a:srgbClr val="1F6B4B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181100" y="3390900"/>
            <a:ext cx="15621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target_temp</a:t>
            </a:r>
            <a:endParaRPr sz="1125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28700" y="3819525"/>
            <a:ext cx="57150" cy="57150"/>
          </a:xfrm>
          <a:prstGeom prst="rect">
            <a:avLst/>
          </a:prstGeom>
          <a:solidFill>
            <a:srgbClr val="1F6B4B"/>
          </a:solidFill>
          <a:ln w="0">
            <a:solidFill>
              <a:srgbClr val="1F6B4B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181100" y="3752850"/>
            <a:ext cx="15621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target_rh</a:t>
            </a:r>
            <a:endParaRPr sz="1125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28700" y="4181475"/>
            <a:ext cx="57150" cy="57150"/>
          </a:xfrm>
          <a:prstGeom prst="rect">
            <a:avLst/>
          </a:prstGeom>
          <a:solidFill>
            <a:srgbClr val="1F6B4B"/>
          </a:solidFill>
          <a:ln w="0">
            <a:solidFill>
              <a:srgbClr val="1F6B4B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181100" y="4114800"/>
            <a:ext cx="1657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target_co2 / target profiles</a:t>
            </a:r>
            <a:endParaRPr sz="1125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429000" y="3333750"/>
            <a:ext cx="533400" cy="20955"/>
          </a:xfrm>
          <a:prstGeom prst="rect">
            <a:avLst/>
          </a:prstGeom>
          <a:solidFill>
            <a:srgbClr val="8D948A"/>
          </a:solidFill>
          <a:ln w="0">
            <a:solidFill>
              <a:srgbClr val="8D948A"/>
            </a:solidFill>
            <a:prstDash val="solid"/>
          </a:ln>
        </p:spPr>
      </p:sp>
      <p:sp>
        <p:nvSpPr>
          <p:cNvPr id="21" name="等腰三角形 20"/>
          <p:cNvSpPr>
            <a:spLocks noGrp="1"/>
          </p:cNvSpPr>
          <p:nvPr/>
        </p:nvSpPr>
        <p:spPr>
          <a:xfrm>
            <a:off x="3943350" y="3286125"/>
            <a:ext cx="114300" cy="114300"/>
          </a:xfrm>
          <a:prstGeom prst="triangle">
            <a:avLst/>
          </a:prstGeom>
          <a:solidFill>
            <a:srgbClr val="8D948A"/>
          </a:solidFill>
          <a:ln w="0">
            <a:solidFill>
              <a:srgbClr val="8D948A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305300" y="2095500"/>
            <a:ext cx="3429000" cy="2571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DDD2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591050" y="2343150"/>
            <a:ext cx="1143000" cy="266700"/>
          </a:xfrm>
          <a:prstGeom prst="rect">
            <a:avLst/>
          </a:prstGeom>
          <a:solidFill>
            <a:srgbClr val="E2DDD2"/>
          </a:solidFill>
          <a:ln w="9525">
            <a:solidFill>
              <a:srgbClr val="E2DDD2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4667250" y="2390775"/>
            <a:ext cx="990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合同层处理</a:t>
            </a:r>
            <a:endParaRPr sz="1200" b="1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629150" y="2800350"/>
            <a:ext cx="552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C8892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C8892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补齐</a:t>
            </a:r>
            <a:endParaRPr sz="1275" b="1">
              <a:solidFill>
                <a:srgbClr val="C8892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334000" y="2819400"/>
            <a:ext cx="2000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1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缺少目标时用 fallback 或历史目标填上</a:t>
            </a:r>
            <a:endParaRPr sz="1015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629150" y="3219450"/>
            <a:ext cx="552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C8892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C8892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裁剪</a:t>
            </a:r>
            <a:endParaRPr sz="1275" b="1">
              <a:solidFill>
                <a:srgbClr val="C8892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334000" y="3238500"/>
            <a:ext cx="2000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1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把温度、湿度、CO2 限制在合理范围</a:t>
            </a:r>
            <a:endParaRPr sz="1015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4629150" y="3638550"/>
            <a:ext cx="552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C8892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C8892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平滑</a:t>
            </a:r>
            <a:endParaRPr sz="1275" b="1">
              <a:solidFill>
                <a:srgbClr val="C8892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5334000" y="3657600"/>
            <a:ext cx="2000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1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避免目标一步跳太大，引发动作振荡</a:t>
            </a:r>
            <a:endParaRPr sz="1015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4629150" y="4057650"/>
            <a:ext cx="552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C8892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C8892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一致性</a:t>
            </a:r>
            <a:endParaRPr sz="1275" b="1">
              <a:solidFill>
                <a:srgbClr val="C8892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5334000" y="4076700"/>
            <a:ext cx="2000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1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例如高通风与高 CO2 目标不能同时放任</a:t>
            </a:r>
            <a:endParaRPr sz="1015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7981950" y="3333750"/>
            <a:ext cx="533400" cy="20955"/>
          </a:xfrm>
          <a:prstGeom prst="rect">
            <a:avLst/>
          </a:prstGeom>
          <a:solidFill>
            <a:srgbClr val="8D948A"/>
          </a:solidFill>
          <a:ln w="0">
            <a:solidFill>
              <a:srgbClr val="8D948A"/>
            </a:solidFill>
            <a:prstDash val="solid"/>
          </a:ln>
        </p:spPr>
      </p:sp>
      <p:sp>
        <p:nvSpPr>
          <p:cNvPr id="34" name="等腰三角形 33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8496300" y="3286125"/>
            <a:ext cx="114300" cy="114300"/>
          </a:xfrm>
          <a:prstGeom prst="triangle">
            <a:avLst/>
          </a:prstGeom>
          <a:solidFill>
            <a:srgbClr val="8D948A"/>
          </a:solidFill>
          <a:ln w="0">
            <a:solidFill>
              <a:srgbClr val="8D948A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8858250" y="2305050"/>
            <a:ext cx="2552700" cy="2381250"/>
          </a:xfrm>
          <a:prstGeom prst="rect">
            <a:avLst/>
          </a:prstGeom>
          <a:solidFill>
            <a:srgbClr val="DDEBF2"/>
          </a:solidFill>
          <a:ln w="9525">
            <a:solidFill>
              <a:srgbClr val="BDD5E1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9144000" y="2533650"/>
            <a:ext cx="12573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9220200" y="2581275"/>
            <a:ext cx="1104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E6F9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2E6F91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合同后输出</a:t>
            </a:r>
            <a:endParaRPr sz="1200" b="1">
              <a:solidFill>
                <a:srgbClr val="2E6F91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9144000" y="3095625"/>
            <a:ext cx="57150" cy="57150"/>
          </a:xfrm>
          <a:prstGeom prst="rect">
            <a:avLst/>
          </a:prstGeom>
          <a:solidFill>
            <a:srgbClr val="2E6F91"/>
          </a:solidFill>
          <a:ln w="0">
            <a:solidFill>
              <a:srgbClr val="2E6F91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9296400" y="3028950"/>
            <a:ext cx="200152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bounded</a:t>
            </a:r>
            <a:r>
              <a:rPr lang="en-US" sz="105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</a:t>
            </a:r>
            <a:r>
              <a:rPr sz="105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target_temp_profile</a:t>
            </a:r>
            <a:endParaRPr sz="1050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9144000" y="3457575"/>
            <a:ext cx="57150" cy="57150"/>
          </a:xfrm>
          <a:prstGeom prst="rect">
            <a:avLst/>
          </a:prstGeom>
          <a:solidFill>
            <a:srgbClr val="2E6F91"/>
          </a:solidFill>
          <a:ln w="0">
            <a:solidFill>
              <a:srgbClr val="2E6F91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9296400" y="3390900"/>
            <a:ext cx="18478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bounded target_rh_profile</a:t>
            </a:r>
            <a:endParaRPr sz="1050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9144000" y="3819525"/>
            <a:ext cx="57150" cy="57150"/>
          </a:xfrm>
          <a:prstGeom prst="rect">
            <a:avLst/>
          </a:prstGeom>
          <a:solidFill>
            <a:srgbClr val="2E6F91"/>
          </a:solidFill>
          <a:ln w="0">
            <a:solidFill>
              <a:srgbClr val="2E6F91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9296400" y="3752850"/>
            <a:ext cx="18478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bounded target_co2_profile</a:t>
            </a:r>
            <a:endParaRPr sz="1050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9144000" y="4181475"/>
            <a:ext cx="57150" cy="57150"/>
          </a:xfrm>
          <a:prstGeom prst="rect">
            <a:avLst/>
          </a:prstGeom>
          <a:solidFill>
            <a:srgbClr val="2E6F91"/>
          </a:solidFill>
          <a:ln w="0">
            <a:solidFill>
              <a:srgbClr val="2E6F91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9296400" y="4114800"/>
            <a:ext cx="18478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contract metadata / corrected fields</a:t>
            </a:r>
            <a:endParaRPr sz="1050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1257300" y="5181600"/>
            <a:ext cx="9144000" cy="514350"/>
          </a:xfrm>
          <a:prstGeom prst="rect">
            <a:avLst/>
          </a:prstGeom>
          <a:solidFill>
            <a:srgbClr val="F3E3BE"/>
          </a:solidFill>
          <a:ln w="9525">
            <a:solidFill>
              <a:srgbClr val="E2C47C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1600200" y="5353050"/>
            <a:ext cx="847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253229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1">
                <a:solidFill>
                  <a:srgbClr val="253229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可以把它理解为：LLM 写“目标草案”，Setpoint Contract 负责审稿、补全、限幅，然后交给 RSPC 执行。</a:t>
            </a:r>
            <a:endParaRPr sz="1350" b="1">
              <a:solidFill>
                <a:srgbClr val="253229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304800"/>
            <a:ext cx="6096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F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330" b="1">
                <a:solidFill>
                  <a:srgbClr val="1F6B4B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RSPC / Fallback</a:t>
            </a:r>
            <a:endParaRPr sz="2330" b="1">
              <a:solidFill>
                <a:srgbClr val="1F6B4B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6305550"/>
            <a:ext cx="10668000" cy="10478"/>
          </a:xfrm>
          <a:prstGeom prst="rect">
            <a:avLst/>
          </a:prstGeom>
          <a:solidFill>
            <a:srgbClr val="E2DD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723900"/>
            <a:ext cx="91440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RSPC / Fallback 是真正每一步生成动作的地方</a:t>
            </a:r>
            <a:endParaRPr sz="2325" b="1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1447800"/>
            <a:ext cx="8990965" cy="511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E69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00" b="0">
                <a:solidFill>
                  <a:srgbClr val="5E69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它把当前状态和合同后的目标状态转成候选动作，再按风险、代价和冲突评分，选出本步 selected_control。</a:t>
            </a:r>
            <a:endParaRPr sz="1600" b="0">
              <a:solidFill>
                <a:srgbClr val="5E69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2209800"/>
            <a:ext cx="2190750" cy="1524000"/>
          </a:xfrm>
          <a:prstGeom prst="rect">
            <a:avLst/>
          </a:prstGeom>
          <a:solidFill>
            <a:srgbClr val="DDEBF2"/>
          </a:solidFill>
          <a:ln w="9525">
            <a:solidFill>
              <a:srgbClr val="BCD7E4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95350" y="2438400"/>
            <a:ext cx="66675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971550" y="2486025"/>
            <a:ext cx="5143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E6F9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00" b="1">
                <a:solidFill>
                  <a:srgbClr val="2E6F91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输入</a:t>
            </a:r>
            <a:endParaRPr sz="1400" b="1">
              <a:solidFill>
                <a:srgbClr val="2E6F91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14400" y="2962275"/>
            <a:ext cx="57150" cy="57150"/>
          </a:xfrm>
          <a:prstGeom prst="rect">
            <a:avLst/>
          </a:prstGeom>
          <a:solidFill>
            <a:srgbClr val="2E6F91"/>
          </a:solidFill>
          <a:ln w="0">
            <a:solidFill>
              <a:srgbClr val="2E6F91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066800" y="2895600"/>
            <a:ext cx="1371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当前状态</a:t>
            </a:r>
            <a:endParaRPr sz="1125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305175"/>
            <a:ext cx="57150" cy="57150"/>
          </a:xfrm>
          <a:prstGeom prst="rect">
            <a:avLst/>
          </a:prstGeom>
          <a:solidFill>
            <a:srgbClr val="2E6F91"/>
          </a:solidFill>
          <a:ln w="0">
            <a:solidFill>
              <a:srgbClr val="2E6F91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066800" y="3238500"/>
            <a:ext cx="14668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下一段 target profiles</a:t>
            </a:r>
            <a:endParaRPr sz="1125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009900" y="2781300"/>
            <a:ext cx="361950" cy="20955"/>
          </a:xfrm>
          <a:prstGeom prst="rect">
            <a:avLst/>
          </a:prstGeom>
          <a:solidFill>
            <a:srgbClr val="8D948A"/>
          </a:solidFill>
          <a:ln w="0">
            <a:solidFill>
              <a:srgbClr val="8D948A"/>
            </a:solidFill>
            <a:prstDash val="solid"/>
          </a:ln>
        </p:spPr>
      </p:sp>
      <p:sp>
        <p:nvSpPr>
          <p:cNvPr id="17" name="等腰三角形 16"/>
          <p:cNvSpPr>
            <a:spLocks noGrp="1"/>
          </p:cNvSpPr>
          <p:nvPr/>
        </p:nvSpPr>
        <p:spPr>
          <a:xfrm>
            <a:off x="3352800" y="2733675"/>
            <a:ext cx="114300" cy="114300"/>
          </a:xfrm>
          <a:prstGeom prst="triangle">
            <a:avLst/>
          </a:prstGeom>
          <a:solidFill>
            <a:srgbClr val="8D948A"/>
          </a:solidFill>
          <a:ln w="0">
            <a:solidFill>
              <a:srgbClr val="8D948A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3676650" y="2000250"/>
            <a:ext cx="285750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E2DDD2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3962400" y="2228850"/>
            <a:ext cx="1123950" cy="266700"/>
          </a:xfrm>
          <a:prstGeom prst="rect">
            <a:avLst/>
          </a:prstGeom>
          <a:solidFill>
            <a:srgbClr val="DCECE2"/>
          </a:solidFill>
          <a:ln w="9525">
            <a:solidFill>
              <a:srgbClr val="DCECE2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038600" y="2276475"/>
            <a:ext cx="9715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F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00" b="1">
                <a:solidFill>
                  <a:srgbClr val="1F6B4B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候选动作池</a:t>
            </a:r>
            <a:endParaRPr sz="1400" b="1">
              <a:solidFill>
                <a:srgbClr val="1F6B4B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000500" y="2686050"/>
            <a:ext cx="2285365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anchor / rule / blend</a:t>
            </a:r>
            <a:endParaRPr sz="1125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112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recent / emergency</a:t>
            </a:r>
            <a:endParaRPr sz="1125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112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safe_dehumidify / dry_recovery</a:t>
            </a:r>
            <a:endParaRPr sz="1125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112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economy_hold / hot_dry_relief</a:t>
            </a:r>
            <a:endParaRPr sz="1125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762750" y="2781300"/>
            <a:ext cx="361950" cy="20955"/>
          </a:xfrm>
          <a:prstGeom prst="rect">
            <a:avLst/>
          </a:prstGeom>
          <a:solidFill>
            <a:srgbClr val="8D948A"/>
          </a:solidFill>
          <a:ln w="0">
            <a:solidFill>
              <a:srgbClr val="8D948A"/>
            </a:solidFill>
            <a:prstDash val="solid"/>
          </a:ln>
        </p:spPr>
      </p:sp>
      <p:sp>
        <p:nvSpPr>
          <p:cNvPr id="23" name="等腰三角形 22"/>
          <p:cNvSpPr>
            <a:spLocks noGrp="1"/>
          </p:cNvSpPr>
          <p:nvPr/>
        </p:nvSpPr>
        <p:spPr>
          <a:xfrm>
            <a:off x="7105650" y="2733675"/>
            <a:ext cx="114300" cy="114300"/>
          </a:xfrm>
          <a:prstGeom prst="triangle">
            <a:avLst/>
          </a:prstGeom>
          <a:solidFill>
            <a:srgbClr val="8D948A"/>
          </a:solidFill>
          <a:ln w="0">
            <a:solidFill>
              <a:srgbClr val="8D948A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429500" y="2000250"/>
            <a:ext cx="2495550" cy="1885950"/>
          </a:xfrm>
          <a:prstGeom prst="rect">
            <a:avLst/>
          </a:prstGeom>
          <a:solidFill>
            <a:srgbClr val="F3E3BE"/>
          </a:solidFill>
          <a:ln w="9525">
            <a:solidFill>
              <a:srgbClr val="E4C47D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715250" y="2228850"/>
            <a:ext cx="100965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791450" y="2276475"/>
            <a:ext cx="857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C8892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00" b="1">
                <a:solidFill>
                  <a:srgbClr val="C8892F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评分逻辑</a:t>
            </a:r>
            <a:endParaRPr sz="1400" b="1">
              <a:solidFill>
                <a:srgbClr val="C8892F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734300" y="2752725"/>
            <a:ext cx="57150" cy="57150"/>
          </a:xfrm>
          <a:prstGeom prst="rect">
            <a:avLst/>
          </a:prstGeom>
          <a:solidFill>
            <a:srgbClr val="C8892F"/>
          </a:solidFill>
          <a:ln w="0">
            <a:solidFill>
              <a:srgbClr val="C8892F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886700" y="2686050"/>
            <a:ext cx="1752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温度 / RH / VPD / 露点风险</a:t>
            </a:r>
            <a:endParaRPr sz="975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734300" y="3133725"/>
            <a:ext cx="57150" cy="57150"/>
          </a:xfrm>
          <a:prstGeom prst="rect">
            <a:avLst/>
          </a:prstGeom>
          <a:solidFill>
            <a:srgbClr val="C8892F"/>
          </a:solidFill>
          <a:ln w="0">
            <a:solidFill>
              <a:srgbClr val="C8892F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7886700" y="3067050"/>
            <a:ext cx="1657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能耗和动作平滑性</a:t>
            </a:r>
            <a:endParaRPr sz="975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7734300" y="3514725"/>
            <a:ext cx="57150" cy="57150"/>
          </a:xfrm>
          <a:prstGeom prst="rect">
            <a:avLst/>
          </a:prstGeom>
          <a:solidFill>
            <a:srgbClr val="C8892F"/>
          </a:solidFill>
          <a:ln w="0">
            <a:solidFill>
              <a:srgbClr val="C8892F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7886700" y="3448050"/>
            <a:ext cx="18478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heat+vent、CO2+vent 冲突</a:t>
            </a:r>
            <a:endParaRPr sz="975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0115550" y="2781300"/>
            <a:ext cx="342900" cy="20955"/>
          </a:xfrm>
          <a:prstGeom prst="rect">
            <a:avLst/>
          </a:prstGeom>
          <a:solidFill>
            <a:srgbClr val="8D948A"/>
          </a:solidFill>
          <a:ln w="0">
            <a:solidFill>
              <a:srgbClr val="8D948A"/>
            </a:solidFill>
            <a:prstDash val="solid"/>
          </a:ln>
        </p:spPr>
      </p:sp>
      <p:sp>
        <p:nvSpPr>
          <p:cNvPr id="34" name="等腰三角形 33"/>
          <p:cNvSpPr>
            <a:spLocks noGrp="1"/>
          </p:cNvSpPr>
          <p:nvPr/>
        </p:nvSpPr>
        <p:spPr>
          <a:xfrm>
            <a:off x="10439400" y="2733675"/>
            <a:ext cx="114300" cy="114300"/>
          </a:xfrm>
          <a:prstGeom prst="triangle">
            <a:avLst/>
          </a:prstGeom>
          <a:solidFill>
            <a:srgbClr val="8D948A"/>
          </a:solidFill>
          <a:ln w="0">
            <a:solidFill>
              <a:srgbClr val="8D948A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10725150" y="2209800"/>
            <a:ext cx="838200" cy="1162050"/>
          </a:xfrm>
          <a:prstGeom prst="rect">
            <a:avLst/>
          </a:prstGeom>
          <a:solidFill>
            <a:srgbClr val="DCECE2"/>
          </a:solidFill>
          <a:ln w="9525">
            <a:solidFill>
              <a:srgbClr val="C7DCCD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10839450" y="2571750"/>
            <a:ext cx="609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F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1F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selected</a:t>
            </a:r>
            <a:endParaRPr sz="1200" b="1">
              <a:solidFill>
                <a:srgbClr val="1F6B4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ctr">
              <a:defRPr sz="1200" b="1">
                <a:solidFill>
                  <a:srgbClr val="1F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1F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control</a:t>
            </a:r>
            <a:endParaRPr sz="1200" b="1">
              <a:solidFill>
                <a:srgbClr val="1F6B4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066800" y="4267200"/>
            <a:ext cx="44386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E2DDD2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1352550" y="4476750"/>
            <a:ext cx="1428750" cy="266700"/>
          </a:xfrm>
          <a:prstGeom prst="rect">
            <a:avLst/>
          </a:prstGeom>
          <a:solidFill>
            <a:srgbClr val="DCECE2"/>
          </a:solidFill>
          <a:ln w="9525">
            <a:solidFill>
              <a:srgbClr val="DCECE2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1428750" y="4524375"/>
            <a:ext cx="12763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F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1F6B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RSPC 正常工作时</a:t>
            </a:r>
            <a:endParaRPr sz="1200" b="1">
              <a:solidFill>
                <a:srgbClr val="1F6B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352550" y="4876800"/>
            <a:ext cx="3429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沿着 LLM 给出的目标状态滚动跟踪，每一步根据误差和风险微调动作。</a:t>
            </a:r>
            <a:endParaRPr sz="1125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286500" y="4267200"/>
            <a:ext cx="4438650" cy="1123950"/>
          </a:xfrm>
          <a:prstGeom prst="rect">
            <a:avLst/>
          </a:prstGeom>
          <a:solidFill>
            <a:srgbClr val="F1D8D1"/>
          </a:solidFill>
          <a:ln w="9525">
            <a:solidFill>
              <a:srgbClr val="DFB6AD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6572250" y="4476750"/>
            <a:ext cx="131445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6648450" y="4524375"/>
            <a:ext cx="1162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C9574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C957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Fallback 介入时</a:t>
            </a:r>
            <a:endParaRPr sz="1200" b="1">
              <a:solidFill>
                <a:srgbClr val="C957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6572250" y="4876800"/>
            <a:ext cx="3429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当 LLM 无动作、计划缺失、cache miss 或安全风险太高时，用规则、近期动作和紧急专家候选兜底。</a:t>
            </a:r>
            <a:endParaRPr sz="1125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2457450" y="5753100"/>
            <a:ext cx="6858000" cy="3327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5E69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00" b="1">
                <a:solidFill>
                  <a:srgbClr val="5E69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动作向量顺序：heating, CO2, screen, ventilation, lighting, shading</a:t>
            </a:r>
            <a:endParaRPr sz="1600" b="1">
              <a:solidFill>
                <a:srgbClr val="5E69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304800"/>
            <a:ext cx="6096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F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330" b="1">
                <a:solidFill>
                  <a:srgbClr val="1F6B4B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安全修正层</a:t>
            </a:r>
            <a:endParaRPr sz="2330" b="1">
              <a:solidFill>
                <a:srgbClr val="1F6B4B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25200" y="30480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8D948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1">
                <a:solidFill>
                  <a:srgbClr val="8D948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06</a:t>
            </a:r>
            <a:endParaRPr sz="1050" b="1">
              <a:solidFill>
                <a:srgbClr val="8D948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6305550"/>
            <a:ext cx="10668000" cy="10478"/>
          </a:xfrm>
          <a:prstGeom prst="rect">
            <a:avLst/>
          </a:prstGeom>
          <a:solidFill>
            <a:srgbClr val="E2DD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64198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8D948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90" b="0">
                <a:solidFill>
                  <a:srgbClr val="8D948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GreenLight-Gym2 | greenhouse control framework</a:t>
            </a:r>
            <a:endParaRPr sz="790" b="0">
              <a:solidFill>
                <a:srgbClr val="8D948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723900"/>
            <a:ext cx="91440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Guardrail 和 Tomato Safety v2 都是动作修正，但范围不同</a:t>
            </a:r>
            <a:endParaRPr sz="2325" b="1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1447800"/>
            <a:ext cx="9124315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E69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00" b="0">
                <a:solidFill>
                  <a:srgbClr val="5E69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通用 guardrail 负责基础物理/安全边界；Tomato Safety v2 是番茄专项二级护栏，只在 llm_rspc_v2 opt-in 时启用。</a:t>
            </a:r>
            <a:endParaRPr sz="1600" b="0">
              <a:solidFill>
                <a:srgbClr val="5E69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90600" y="2247900"/>
            <a:ext cx="1809750" cy="323850"/>
          </a:xfrm>
          <a:prstGeom prst="rect">
            <a:avLst/>
          </a:prstGeom>
          <a:solidFill>
            <a:srgbClr val="253229"/>
          </a:solidFill>
          <a:ln w="9525">
            <a:solidFill>
              <a:srgbClr val="253229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085850" y="228600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模块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800350" y="2247900"/>
            <a:ext cx="2667000" cy="323850"/>
          </a:xfrm>
          <a:prstGeom prst="rect">
            <a:avLst/>
          </a:prstGeom>
          <a:solidFill>
            <a:srgbClr val="253229"/>
          </a:solidFill>
          <a:ln w="9525">
            <a:solidFill>
              <a:srgbClr val="253229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2895600" y="228600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作用范围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467350" y="2247900"/>
            <a:ext cx="4095750" cy="323850"/>
          </a:xfrm>
          <a:prstGeom prst="rect">
            <a:avLst/>
          </a:prstGeom>
          <a:solidFill>
            <a:srgbClr val="253229"/>
          </a:solidFill>
          <a:ln w="9525">
            <a:solidFill>
              <a:srgbClr val="253229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5562600" y="2286000"/>
            <a:ext cx="3905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典型修正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563100" y="2247900"/>
            <a:ext cx="2000250" cy="323850"/>
          </a:xfrm>
          <a:prstGeom prst="rect">
            <a:avLst/>
          </a:prstGeom>
          <a:solidFill>
            <a:srgbClr val="253229"/>
          </a:solidFill>
          <a:ln w="9525">
            <a:solidFill>
              <a:srgbClr val="253229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9658350" y="2286000"/>
            <a:ext cx="1809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是否默认主线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90600" y="2571750"/>
            <a:ext cx="180975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E2DDD2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085850" y="2676525"/>
            <a:ext cx="16192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40" b="1">
                <a:solidFill>
                  <a:srgbClr val="1F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00" b="1">
                <a:solidFill>
                  <a:srgbClr val="1F6B4B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Guardrail</a:t>
            </a:r>
            <a:endParaRPr sz="1600" b="1">
              <a:solidFill>
                <a:srgbClr val="1F6B4B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800350" y="2571750"/>
            <a:ext cx="266700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E2DDD2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2895600" y="2676525"/>
            <a:ext cx="2476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00" b="0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所有控制器的基础安全过滤</a:t>
            </a:r>
            <a:endParaRPr sz="1600" b="0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467350" y="2571750"/>
            <a:ext cx="409575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E2DDD2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5562600" y="2676525"/>
            <a:ext cx="39052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00" b="0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限幅动作、避免明显执行器冲突、保护温度/RH/VPD/露点边界</a:t>
            </a:r>
            <a:endParaRPr sz="1600" b="0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563100" y="2571750"/>
            <a:ext cx="200025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E2DDD2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9658350" y="2676525"/>
            <a:ext cx="1809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00" b="0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通用底座</a:t>
            </a:r>
            <a:endParaRPr sz="1600" b="0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90600" y="3276600"/>
            <a:ext cx="1809750" cy="838200"/>
          </a:xfrm>
          <a:prstGeom prst="rect">
            <a:avLst/>
          </a:prstGeom>
          <a:solidFill>
            <a:srgbClr val="F1D8D1"/>
          </a:solidFill>
          <a:ln w="9525">
            <a:solidFill>
              <a:srgbClr val="E2DDD2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085850" y="3381375"/>
            <a:ext cx="16192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40" b="1">
                <a:solidFill>
                  <a:srgbClr val="C9574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00" b="1">
                <a:solidFill>
                  <a:srgbClr val="C95743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Tomato Safety v2</a:t>
            </a:r>
            <a:endParaRPr sz="1600" b="1">
              <a:solidFill>
                <a:srgbClr val="C95743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2800350" y="3276600"/>
            <a:ext cx="2667000" cy="838200"/>
          </a:xfrm>
          <a:prstGeom prst="rect">
            <a:avLst/>
          </a:prstGeom>
          <a:solidFill>
            <a:srgbClr val="F1D8D1"/>
          </a:solidFill>
          <a:ln w="9525">
            <a:solidFill>
              <a:srgbClr val="E2DDD2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2895600" y="3381375"/>
            <a:ext cx="2476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00" b="0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番茄低湿、高 VPD、低温恢复、高温强辐射等专项风险</a:t>
            </a:r>
            <a:endParaRPr sz="1600" b="0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467350" y="3276600"/>
            <a:ext cx="4095750" cy="838200"/>
          </a:xfrm>
          <a:prstGeom prst="rect">
            <a:avLst/>
          </a:prstGeom>
          <a:solidFill>
            <a:srgbClr val="F1D8D1"/>
          </a:solidFill>
          <a:ln w="9525">
            <a:solidFill>
              <a:srgbClr val="E2DDD2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5562600" y="3381375"/>
            <a:ext cx="39052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00" b="0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 guardrail 后继续修正 screen、vent、shade、heat、CO2、lamp</a:t>
            </a:r>
            <a:endParaRPr sz="1600" b="0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563100" y="3276600"/>
            <a:ext cx="2000250" cy="838200"/>
          </a:xfrm>
          <a:prstGeom prst="rect">
            <a:avLst/>
          </a:prstGeom>
          <a:solidFill>
            <a:srgbClr val="F1D8D1"/>
          </a:solidFill>
          <a:ln w="9525">
            <a:solidFill>
              <a:srgbClr val="E2DDD2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9658350" y="3381375"/>
            <a:ext cx="18097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00" b="0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opt-in</a:t>
            </a:r>
            <a:endParaRPr sz="1600" b="0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123950" y="4400550"/>
            <a:ext cx="428625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DD2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1409700" y="4610100"/>
            <a:ext cx="1809750" cy="266700"/>
          </a:xfrm>
          <a:prstGeom prst="rect">
            <a:avLst/>
          </a:prstGeom>
          <a:solidFill>
            <a:srgbClr val="F3E3BE"/>
          </a:solidFill>
          <a:ln w="9525">
            <a:solidFill>
              <a:srgbClr val="F3E3BE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1485900" y="4657725"/>
            <a:ext cx="16573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C8892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C8892F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为什么暂时不完全合并</a:t>
            </a:r>
            <a:endParaRPr sz="1200" b="1">
              <a:solidFill>
                <a:srgbClr val="C8892F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1409700" y="5076825"/>
            <a:ext cx="57150" cy="57150"/>
          </a:xfrm>
          <a:prstGeom prst="rect">
            <a:avLst/>
          </a:prstGeom>
          <a:solidFill>
            <a:srgbClr val="C8892F"/>
          </a:solidFill>
          <a:ln w="0">
            <a:solidFill>
              <a:srgbClr val="C8892F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1562100" y="5010150"/>
            <a:ext cx="3181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通用安全逻辑要保持稳定，不能被番茄专项调参污染</a:t>
            </a:r>
            <a:endParaRPr sz="1050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1409700" y="5495925"/>
            <a:ext cx="57150" cy="57150"/>
          </a:xfrm>
          <a:prstGeom prst="rect">
            <a:avLst/>
          </a:prstGeom>
          <a:solidFill>
            <a:srgbClr val="C8892F"/>
          </a:solidFill>
          <a:ln w="0">
            <a:solidFill>
              <a:srgbClr val="C8892F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1562100" y="5429250"/>
            <a:ext cx="3181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v2 还在验证，单独开关便于回退、消融和定位问题</a:t>
            </a:r>
            <a:endParaRPr sz="1050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191250" y="4400550"/>
            <a:ext cx="4286250" cy="1524000"/>
          </a:xfrm>
          <a:prstGeom prst="rect">
            <a:avLst/>
          </a:prstGeom>
          <a:solidFill>
            <a:srgbClr val="DDEBF2"/>
          </a:solidFill>
          <a:ln w="9525">
            <a:solidFill>
              <a:srgbClr val="BED8E5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6477000" y="4610100"/>
            <a:ext cx="180975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6553200" y="4657725"/>
            <a:ext cx="16573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E6F9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2E6F91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当前要特别解释的风险</a:t>
            </a:r>
            <a:endParaRPr sz="1200" b="1">
              <a:solidFill>
                <a:srgbClr val="2E6F91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6477000" y="5076825"/>
            <a:ext cx="57150" cy="57150"/>
          </a:xfrm>
          <a:prstGeom prst="rect">
            <a:avLst/>
          </a:prstGeom>
          <a:solidFill>
            <a:srgbClr val="2E6F91"/>
          </a:solidFill>
          <a:ln w="0">
            <a:solidFill>
              <a:srgbClr val="2E6F91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6629400" y="5010150"/>
            <a:ext cx="29908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干侧保湿不能压过高温安全</a:t>
            </a:r>
            <a:endParaRPr sz="1050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6477000" y="5495925"/>
            <a:ext cx="57150" cy="57150"/>
          </a:xfrm>
          <a:prstGeom prst="rect">
            <a:avLst/>
          </a:prstGeom>
          <a:solidFill>
            <a:srgbClr val="2E6F91"/>
          </a:solidFill>
          <a:ln w="0">
            <a:solidFill>
              <a:srgbClr val="2E6F91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6629400" y="5429250"/>
            <a:ext cx="3181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高温强辐射时应释放 screen、启用 shade、允许足够 vent</a:t>
            </a:r>
            <a:endParaRPr sz="1050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304800"/>
            <a:ext cx="6096000" cy="43878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F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330" b="1">
                <a:solidFill>
                  <a:srgbClr val="1F6B4B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MC-SERO Shadow</a:t>
            </a:r>
            <a:endParaRPr sz="2330" b="1">
              <a:solidFill>
                <a:srgbClr val="1F6B4B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6305550"/>
            <a:ext cx="10668000" cy="10478"/>
          </a:xfrm>
          <a:prstGeom prst="rect">
            <a:avLst/>
          </a:prstGeom>
          <a:solidFill>
            <a:srgbClr val="E2DD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723900"/>
            <a:ext cx="91440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MC-SERO Shadow 是后台机制诊断层，不是当前控制器</a:t>
            </a:r>
            <a:endParaRPr sz="2325" b="1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1447800"/>
            <a:ext cx="912431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E69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00" b="0">
                <a:solidFill>
                  <a:srgbClr val="5E695F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它回答的问题是：在同一个状态下，是否存在更符合机理的候选动作？但当前只记录，不把候选动作送进环境。</a:t>
            </a:r>
            <a:endParaRPr sz="1600" b="0">
              <a:solidFill>
                <a:srgbClr val="5E695F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04850" y="2343150"/>
            <a:ext cx="192405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DD2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71550" y="2552700"/>
            <a:ext cx="1257300" cy="266700"/>
          </a:xfrm>
          <a:prstGeom prst="rect">
            <a:avLst/>
          </a:prstGeom>
          <a:solidFill>
            <a:srgbClr val="DCECE2"/>
          </a:solidFill>
          <a:ln w="9525">
            <a:solidFill>
              <a:srgbClr val="DCECE2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047750" y="2600325"/>
            <a:ext cx="1104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F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1F6B4B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baseline_score</a:t>
            </a:r>
            <a:endParaRPr sz="1200" b="1">
              <a:solidFill>
                <a:srgbClr val="1F6B4B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28700" y="2990850"/>
            <a:ext cx="12573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F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1F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当前已经选出的</a:t>
            </a:r>
            <a:endParaRPr sz="1200" b="1">
              <a:solidFill>
                <a:srgbClr val="1F6B4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ctr">
              <a:defRPr sz="1200" b="1">
                <a:solidFill>
                  <a:srgbClr val="1F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1F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selected_control</a:t>
            </a:r>
            <a:endParaRPr sz="1200" b="1">
              <a:solidFill>
                <a:srgbClr val="1F6B4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819400" y="2876550"/>
            <a:ext cx="285750" cy="20955"/>
          </a:xfrm>
          <a:prstGeom prst="rect">
            <a:avLst/>
          </a:prstGeom>
          <a:solidFill>
            <a:srgbClr val="8D948A"/>
          </a:solidFill>
          <a:ln w="0">
            <a:solidFill>
              <a:srgbClr val="8D948A"/>
            </a:solidFill>
            <a:prstDash val="solid"/>
          </a:ln>
        </p:spPr>
      </p:sp>
      <p:sp>
        <p:nvSpPr>
          <p:cNvPr id="14" name="等腰三角形 13"/>
          <p:cNvSpPr>
            <a:spLocks noGrp="1"/>
          </p:cNvSpPr>
          <p:nvPr/>
        </p:nvSpPr>
        <p:spPr>
          <a:xfrm>
            <a:off x="3086100" y="2828925"/>
            <a:ext cx="114300" cy="114300"/>
          </a:xfrm>
          <a:prstGeom prst="triangle">
            <a:avLst/>
          </a:prstGeom>
          <a:solidFill>
            <a:srgbClr val="8D948A"/>
          </a:solidFill>
          <a:ln w="0">
            <a:solidFill>
              <a:srgbClr val="8D948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333750" y="2133600"/>
            <a:ext cx="2552700" cy="1619250"/>
          </a:xfrm>
          <a:prstGeom prst="rect">
            <a:avLst/>
          </a:prstGeom>
          <a:solidFill>
            <a:srgbClr val="DDEBF2"/>
          </a:solidFill>
          <a:ln w="9525">
            <a:solidFill>
              <a:srgbClr val="BED8E5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619500" y="2362200"/>
            <a:ext cx="11430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3695700" y="2409825"/>
            <a:ext cx="990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E6F9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2E6F91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动态候选池</a:t>
            </a:r>
            <a:endParaRPr sz="1200" b="1">
              <a:solidFill>
                <a:srgbClr val="2E6F91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657600" y="2819400"/>
            <a:ext cx="18478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1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existing rollout candidates</a:t>
            </a:r>
            <a:endParaRPr sz="1015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101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1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+ economy_hold</a:t>
            </a:r>
            <a:endParaRPr sz="1015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101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1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+ economic/safe/emergency dehumidify</a:t>
            </a:r>
            <a:endParaRPr sz="1015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101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1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+ dry_recovery / heat_buffer</a:t>
            </a:r>
            <a:endParaRPr sz="1015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076950" y="2876550"/>
            <a:ext cx="285750" cy="20955"/>
          </a:xfrm>
          <a:prstGeom prst="rect">
            <a:avLst/>
          </a:prstGeom>
          <a:solidFill>
            <a:srgbClr val="8D948A"/>
          </a:solidFill>
          <a:ln w="0">
            <a:solidFill>
              <a:srgbClr val="8D948A"/>
            </a:solidFill>
            <a:prstDash val="solid"/>
          </a:ln>
        </p:spPr>
      </p:sp>
      <p:sp>
        <p:nvSpPr>
          <p:cNvPr id="20" name="等腰三角形 19"/>
          <p:cNvSpPr>
            <a:spLocks noGrp="1"/>
          </p:cNvSpPr>
          <p:nvPr/>
        </p:nvSpPr>
        <p:spPr>
          <a:xfrm>
            <a:off x="6343650" y="2828925"/>
            <a:ext cx="114300" cy="114300"/>
          </a:xfrm>
          <a:prstGeom prst="triangle">
            <a:avLst/>
          </a:prstGeom>
          <a:solidFill>
            <a:srgbClr val="8D948A"/>
          </a:solidFill>
          <a:ln w="0">
            <a:solidFill>
              <a:srgbClr val="8D948A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648450" y="2133600"/>
            <a:ext cx="2286000" cy="1619250"/>
          </a:xfrm>
          <a:prstGeom prst="rect">
            <a:avLst/>
          </a:prstGeom>
          <a:solidFill>
            <a:srgbClr val="F3E3BE"/>
          </a:solidFill>
          <a:ln w="9525">
            <a:solidFill>
              <a:srgbClr val="E4C47D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934200" y="2362200"/>
            <a:ext cx="11430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010400" y="2409825"/>
            <a:ext cx="990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C8892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C8892F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6-step proxy</a:t>
            </a:r>
            <a:endParaRPr sz="1200" b="1">
              <a:solidFill>
                <a:srgbClr val="C8892F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934200" y="2819400"/>
            <a:ext cx="16192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15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每个候选动作假设连续执行若干小步，估计温湿度、VPD、露点、能耗和冲突风险。</a:t>
            </a:r>
            <a:endParaRPr sz="1015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124950" y="2876550"/>
            <a:ext cx="285750" cy="20955"/>
          </a:xfrm>
          <a:prstGeom prst="rect">
            <a:avLst/>
          </a:prstGeom>
          <a:solidFill>
            <a:srgbClr val="8D948A"/>
          </a:solidFill>
          <a:ln w="0">
            <a:solidFill>
              <a:srgbClr val="8D948A"/>
            </a:solidFill>
            <a:prstDash val="solid"/>
          </a:ln>
        </p:spPr>
      </p:sp>
      <p:sp>
        <p:nvSpPr>
          <p:cNvPr id="26" name="等腰三角形 25"/>
          <p:cNvSpPr>
            <a:spLocks noGrp="1"/>
          </p:cNvSpPr>
          <p:nvPr/>
        </p:nvSpPr>
        <p:spPr>
          <a:xfrm>
            <a:off x="9391650" y="2828925"/>
            <a:ext cx="114300" cy="114300"/>
          </a:xfrm>
          <a:prstGeom prst="triangle">
            <a:avLst/>
          </a:prstGeom>
          <a:solidFill>
            <a:srgbClr val="8D948A"/>
          </a:solidFill>
          <a:ln w="0">
            <a:solidFill>
              <a:srgbClr val="8D948A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9620250" y="2343150"/>
            <a:ext cx="1809750" cy="1219200"/>
          </a:xfrm>
          <a:prstGeom prst="rect">
            <a:avLst/>
          </a:prstGeom>
          <a:solidFill>
            <a:srgbClr val="DCECE2"/>
          </a:solidFill>
          <a:ln w="9525">
            <a:solidFill>
              <a:srgbClr val="C7DCCD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9906000" y="2552700"/>
            <a:ext cx="81915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9982200" y="260032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F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1F6B4B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margin</a:t>
            </a:r>
            <a:endParaRPr sz="1200" b="1">
              <a:solidFill>
                <a:srgbClr val="1F6B4B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829800" y="2914650"/>
            <a:ext cx="13906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5" b="1">
                <a:solidFill>
                  <a:srgbClr val="1F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15" b="1">
                <a:solidFill>
                  <a:srgbClr val="1F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baseline_score</a:t>
            </a:r>
            <a:endParaRPr sz="1015" b="1">
              <a:solidFill>
                <a:srgbClr val="1F6B4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ctr">
              <a:defRPr sz="1015" b="1">
                <a:solidFill>
                  <a:srgbClr val="1F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15" b="1">
                <a:solidFill>
                  <a:srgbClr val="1F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-</a:t>
            </a:r>
            <a:endParaRPr sz="1015" b="1">
              <a:solidFill>
                <a:srgbClr val="1F6B4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ctr">
              <a:defRPr sz="1015" b="1">
                <a:solidFill>
                  <a:srgbClr val="1F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15" b="1">
                <a:solidFill>
                  <a:srgbClr val="1F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best_candidate_score</a:t>
            </a:r>
            <a:endParaRPr sz="1015" b="1">
              <a:solidFill>
                <a:srgbClr val="1F6B4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62050" y="4305300"/>
            <a:ext cx="44386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E2DDD2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1447800" y="4514850"/>
            <a:ext cx="2095500" cy="266700"/>
          </a:xfrm>
          <a:prstGeom prst="rect">
            <a:avLst/>
          </a:prstGeom>
          <a:solidFill>
            <a:srgbClr val="F1D8D1"/>
          </a:solidFill>
          <a:ln w="9525">
            <a:solidFill>
              <a:srgbClr val="F1D8D1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1524000" y="4562475"/>
            <a:ext cx="19431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C9574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C957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候选会不会和 fallback 重合？</a:t>
            </a:r>
            <a:endParaRPr sz="1200" b="1">
              <a:solidFill>
                <a:srgbClr val="C957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447800" y="4914900"/>
            <a:ext cx="3429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会有重合。因为两者都基于温室机理生成动作，例如除湿、干侧恢复、经济保持。区别是 fallback 是兜底执行路径，MC-SERO Shadow 只是旁路评分和记录。</a:t>
            </a:r>
            <a:endParaRPr sz="1050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286500" y="4305300"/>
            <a:ext cx="4438650" cy="1524000"/>
          </a:xfrm>
          <a:prstGeom prst="rect">
            <a:avLst/>
          </a:prstGeom>
          <a:solidFill>
            <a:srgbClr val="DCECE2"/>
          </a:solidFill>
          <a:ln w="9525">
            <a:solidFill>
              <a:srgbClr val="C7DCCD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6572250" y="4514850"/>
            <a:ext cx="15240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6648450" y="4562475"/>
            <a:ext cx="1371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F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1F6B4B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它在项目中的作用</a:t>
            </a:r>
            <a:endParaRPr sz="1200" b="1">
              <a:solidFill>
                <a:srgbClr val="1F6B4B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6572250" y="4981575"/>
            <a:ext cx="57150" cy="57150"/>
          </a:xfrm>
          <a:prstGeom prst="rect">
            <a:avLst/>
          </a:prstGeom>
          <a:solidFill>
            <a:srgbClr val="1F6B4B"/>
          </a:solidFill>
          <a:ln w="0">
            <a:solidFill>
              <a:srgbClr val="1F6B4B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6724650" y="4914900"/>
            <a:ext cx="30861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发现当前 RSPC 可能错过的机制动作</a:t>
            </a:r>
            <a:endParaRPr sz="1050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572250" y="5400675"/>
            <a:ext cx="57150" cy="57150"/>
          </a:xfrm>
          <a:prstGeom prst="rect">
            <a:avLst/>
          </a:prstGeom>
          <a:solidFill>
            <a:srgbClr val="1F6B4B"/>
          </a:solidFill>
          <a:ln w="0">
            <a:solidFill>
              <a:srgbClr val="1F6B4B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6724650" y="5334000"/>
            <a:ext cx="30861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为下一步是否进入 guarded select 提供证据</a:t>
            </a:r>
            <a:endParaRPr sz="1050" b="0">
              <a:solidFill>
                <a:srgbClr val="17211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304800"/>
            <a:ext cx="620141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F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330" b="1">
                <a:solidFill>
                  <a:srgbClr val="1F6B4B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HEM</a:t>
            </a:r>
            <a:endParaRPr sz="2330" b="1">
              <a:solidFill>
                <a:srgbClr val="1F6B4B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6305550"/>
            <a:ext cx="10668000" cy="10478"/>
          </a:xfrm>
          <a:prstGeom prst="rect">
            <a:avLst/>
          </a:prstGeom>
          <a:solidFill>
            <a:srgbClr val="E2DD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723900"/>
            <a:ext cx="91440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HEM 是湿度经济经验库：先离线挖掘，再决定是否接入候选池</a:t>
            </a:r>
            <a:endParaRPr sz="2325" b="1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1447800"/>
            <a:ext cx="8763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E69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00" b="0">
                <a:solidFill>
                  <a:srgbClr val="5E69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它不是把 PPO 当最终教师，而是从配对轨迹中筛选“更省成本且不更危险”的局部经验。</a:t>
            </a:r>
            <a:endParaRPr sz="1600" b="0">
              <a:solidFill>
                <a:srgbClr val="5E69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42950" y="2476500"/>
            <a:ext cx="1466850" cy="1066800"/>
          </a:xfrm>
          <a:prstGeom prst="rect">
            <a:avLst/>
          </a:prstGeom>
          <a:solidFill>
            <a:srgbClr val="DDEBF2"/>
          </a:solidFill>
          <a:ln w="9525">
            <a:solidFill>
              <a:srgbClr val="DDEBF2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76300" y="2686050"/>
            <a:ext cx="1200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5" b="1">
                <a:solidFill>
                  <a:srgbClr val="2E6F9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2E6F91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paired rollouts</a:t>
            </a:r>
            <a:endParaRPr sz="1200" b="1">
              <a:solidFill>
                <a:srgbClr val="2E6F91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43585" y="3009900"/>
            <a:ext cx="14668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4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PPO 与 LLM-RSPC</a:t>
            </a:r>
            <a:endParaRPr sz="1200" b="0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4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同场景轨迹</a:t>
            </a:r>
            <a:endParaRPr sz="1200" b="0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305050" y="3009900"/>
            <a:ext cx="304800" cy="20955"/>
          </a:xfrm>
          <a:prstGeom prst="rect">
            <a:avLst/>
          </a:prstGeom>
          <a:solidFill>
            <a:srgbClr val="8D948A"/>
          </a:solidFill>
          <a:ln w="0">
            <a:solidFill>
              <a:srgbClr val="8D948A"/>
            </a:solidFill>
            <a:prstDash val="solid"/>
          </a:ln>
        </p:spPr>
      </p:sp>
      <p:sp>
        <p:nvSpPr>
          <p:cNvPr id="13" name="等腰三角形 12"/>
          <p:cNvSpPr>
            <a:spLocks noGrp="1"/>
          </p:cNvSpPr>
          <p:nvPr/>
        </p:nvSpPr>
        <p:spPr>
          <a:xfrm>
            <a:off x="2590800" y="2962275"/>
            <a:ext cx="114300" cy="114300"/>
          </a:xfrm>
          <a:prstGeom prst="triangle">
            <a:avLst/>
          </a:prstGeom>
          <a:solidFill>
            <a:srgbClr val="8D948A"/>
          </a:solidFill>
          <a:ln w="0">
            <a:solidFill>
              <a:srgbClr val="8D948A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2781300" y="2476500"/>
            <a:ext cx="1466850" cy="1066800"/>
          </a:xfrm>
          <a:prstGeom prst="rect">
            <a:avLst/>
          </a:prstGeom>
          <a:solidFill>
            <a:srgbClr val="DCECE2"/>
          </a:solidFill>
          <a:ln w="9525">
            <a:solidFill>
              <a:srgbClr val="DCECE2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2914650" y="2686050"/>
            <a:ext cx="1200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5" b="1">
                <a:solidFill>
                  <a:srgbClr val="1F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1F6B4B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mine</a:t>
            </a:r>
            <a:endParaRPr sz="1200" b="1">
              <a:solidFill>
                <a:srgbClr val="1F6B4B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781300" y="3086100"/>
            <a:ext cx="146621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4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筛选 free-air</a:t>
            </a:r>
            <a:endParaRPr sz="1200" b="0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4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exchange 经验</a:t>
            </a:r>
            <a:endParaRPr sz="1200" b="0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343400" y="3009900"/>
            <a:ext cx="304800" cy="20955"/>
          </a:xfrm>
          <a:prstGeom prst="rect">
            <a:avLst/>
          </a:prstGeom>
          <a:solidFill>
            <a:srgbClr val="8D948A"/>
          </a:solidFill>
          <a:ln w="0">
            <a:solidFill>
              <a:srgbClr val="8D948A"/>
            </a:solidFill>
            <a:prstDash val="solid"/>
          </a:ln>
        </p:spPr>
      </p:sp>
      <p:sp>
        <p:nvSpPr>
          <p:cNvPr id="18" name="等腰三角形 17"/>
          <p:cNvSpPr>
            <a:spLocks noGrp="1"/>
          </p:cNvSpPr>
          <p:nvPr/>
        </p:nvSpPr>
        <p:spPr>
          <a:xfrm>
            <a:off x="4629150" y="2962275"/>
            <a:ext cx="114300" cy="114300"/>
          </a:xfrm>
          <a:prstGeom prst="triangle">
            <a:avLst/>
          </a:prstGeom>
          <a:solidFill>
            <a:srgbClr val="8D948A"/>
          </a:solidFill>
          <a:ln w="0">
            <a:solidFill>
              <a:srgbClr val="8D948A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819650" y="2476500"/>
            <a:ext cx="14668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DD2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953000" y="2686050"/>
            <a:ext cx="1200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5" b="1">
                <a:solidFill>
                  <a:srgbClr val="1F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1F6B4B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pending memory</a:t>
            </a:r>
            <a:endParaRPr sz="1200" b="1">
              <a:solidFill>
                <a:srgbClr val="1F6B4B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819650" y="3086100"/>
            <a:ext cx="146748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4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 residual_action</a:t>
            </a:r>
            <a:endParaRPr sz="1200" b="0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4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 trust</a:t>
            </a:r>
            <a:endParaRPr sz="1200" b="0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381750" y="3009900"/>
            <a:ext cx="304800" cy="20955"/>
          </a:xfrm>
          <a:prstGeom prst="rect">
            <a:avLst/>
          </a:prstGeom>
          <a:solidFill>
            <a:srgbClr val="8D948A"/>
          </a:solidFill>
          <a:ln w="0">
            <a:solidFill>
              <a:srgbClr val="8D948A"/>
            </a:solidFill>
            <a:prstDash val="solid"/>
          </a:ln>
        </p:spPr>
      </p:sp>
      <p:sp>
        <p:nvSpPr>
          <p:cNvPr id="23" name="等腰三角形 22"/>
          <p:cNvSpPr>
            <a:spLocks noGrp="1"/>
          </p:cNvSpPr>
          <p:nvPr/>
        </p:nvSpPr>
        <p:spPr>
          <a:xfrm>
            <a:off x="6667500" y="2962275"/>
            <a:ext cx="114300" cy="114300"/>
          </a:xfrm>
          <a:prstGeom prst="triangle">
            <a:avLst/>
          </a:prstGeom>
          <a:solidFill>
            <a:srgbClr val="8D948A"/>
          </a:solidFill>
          <a:ln w="0">
            <a:solidFill>
              <a:srgbClr val="8D948A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858000" y="2476500"/>
            <a:ext cx="1466850" cy="1066800"/>
          </a:xfrm>
          <a:prstGeom prst="rect">
            <a:avLst/>
          </a:prstGeom>
          <a:solidFill>
            <a:srgbClr val="F3E3BE"/>
          </a:solidFill>
          <a:ln w="9525">
            <a:solidFill>
              <a:srgbClr val="F3E3BE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991350" y="2686050"/>
            <a:ext cx="1200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5" b="1">
                <a:solidFill>
                  <a:srgbClr val="C8892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C8892F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shadow validate</a:t>
            </a:r>
            <a:endParaRPr sz="1200" b="1">
              <a:solidFill>
                <a:srgbClr val="C8892F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858000" y="3086100"/>
            <a:ext cx="146621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4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不改变动作</a:t>
            </a:r>
            <a:endParaRPr sz="1200" b="0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  <a:p>
            <a:pPr algn="ctr">
              <a:defRPr sz="94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只看是否命中</a:t>
            </a:r>
            <a:endParaRPr sz="1200" b="0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420100" y="3009900"/>
            <a:ext cx="304800" cy="20955"/>
          </a:xfrm>
          <a:prstGeom prst="rect">
            <a:avLst/>
          </a:prstGeom>
          <a:solidFill>
            <a:srgbClr val="8D948A"/>
          </a:solidFill>
          <a:ln w="0">
            <a:solidFill>
              <a:srgbClr val="8D948A"/>
            </a:solidFill>
            <a:prstDash val="solid"/>
          </a:ln>
        </p:spPr>
      </p:sp>
      <p:sp>
        <p:nvSpPr>
          <p:cNvPr id="28" name="等腰三角形 27"/>
          <p:cNvSpPr>
            <a:spLocks noGrp="1"/>
          </p:cNvSpPr>
          <p:nvPr/>
        </p:nvSpPr>
        <p:spPr>
          <a:xfrm>
            <a:off x="8705850" y="2962275"/>
            <a:ext cx="114300" cy="114300"/>
          </a:xfrm>
          <a:prstGeom prst="triangle">
            <a:avLst/>
          </a:prstGeom>
          <a:solidFill>
            <a:srgbClr val="8D948A"/>
          </a:solidFill>
          <a:ln w="0">
            <a:solidFill>
              <a:srgbClr val="8D948A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896350" y="2476500"/>
            <a:ext cx="1466850" cy="1066800"/>
          </a:xfrm>
          <a:prstGeom prst="rect">
            <a:avLst/>
          </a:prstGeom>
          <a:solidFill>
            <a:srgbClr val="DCECE2"/>
          </a:solidFill>
          <a:ln w="9525">
            <a:solidFill>
              <a:srgbClr val="DCECE2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9029700" y="2686050"/>
            <a:ext cx="1200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5" b="1">
                <a:solidFill>
                  <a:srgbClr val="1F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1F6B4B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validated</a:t>
            </a:r>
            <a:endParaRPr sz="1200" b="1">
              <a:solidFill>
                <a:srgbClr val="1F6B4B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896350" y="3086100"/>
            <a:ext cx="146621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4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未来可作为</a:t>
            </a:r>
            <a:endParaRPr sz="1200" b="0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4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memory candidate</a:t>
            </a:r>
            <a:endParaRPr sz="1200" b="0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123950" y="4248150"/>
            <a:ext cx="428625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DD2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1409700" y="4495800"/>
            <a:ext cx="1257300" cy="266700"/>
          </a:xfrm>
          <a:prstGeom prst="rect">
            <a:avLst/>
          </a:prstGeom>
          <a:solidFill>
            <a:srgbClr val="DCECE2"/>
          </a:solidFill>
          <a:ln w="9525">
            <a:solidFill>
              <a:srgbClr val="DCECE2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1485900" y="4543425"/>
            <a:ext cx="1104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F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1F6B4B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它想解决什么</a:t>
            </a:r>
            <a:endParaRPr sz="1200" b="1">
              <a:solidFill>
                <a:srgbClr val="1F6B4B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409700" y="4943475"/>
            <a:ext cx="57150" cy="57150"/>
          </a:xfrm>
          <a:prstGeom prst="rect">
            <a:avLst/>
          </a:prstGeom>
          <a:solidFill>
            <a:srgbClr val="1F6B4B"/>
          </a:solidFill>
          <a:ln w="0">
            <a:solidFill>
              <a:srgbClr val="1F6B4B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1562100" y="4876800"/>
            <a:ext cx="3181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中等湿度风险下，减少不必要的 heating + ventilation 除湿成本</a:t>
            </a:r>
            <a:endParaRPr sz="1200" b="0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409700" y="5362575"/>
            <a:ext cx="57150" cy="57150"/>
          </a:xfrm>
          <a:prstGeom prst="rect">
            <a:avLst/>
          </a:prstGeom>
          <a:solidFill>
            <a:srgbClr val="1F6B4B"/>
          </a:solidFill>
          <a:ln w="0">
            <a:solidFill>
              <a:srgbClr val="1F6B4B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1562100" y="5295900"/>
            <a:ext cx="3181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 PPO 里可能更经济的局部行为变成可复验经验</a:t>
            </a:r>
            <a:endParaRPr sz="1200" b="0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6172200" y="4248150"/>
            <a:ext cx="4286250" cy="1524000"/>
          </a:xfrm>
          <a:prstGeom prst="rect">
            <a:avLst/>
          </a:prstGeom>
          <a:solidFill>
            <a:srgbClr val="F1D8D1"/>
          </a:solidFill>
          <a:ln w="9525">
            <a:solidFill>
              <a:srgbClr val="DFB6AD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6457950" y="4495800"/>
            <a:ext cx="10668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6534150" y="4543425"/>
            <a:ext cx="914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C9574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C95743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当前边界</a:t>
            </a:r>
            <a:endParaRPr sz="1200" b="1">
              <a:solidFill>
                <a:srgbClr val="C95743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6457950" y="4943475"/>
            <a:ext cx="57150" cy="57150"/>
          </a:xfrm>
          <a:prstGeom prst="rect">
            <a:avLst/>
          </a:prstGeom>
          <a:solidFill>
            <a:srgbClr val="C95743"/>
          </a:solidFill>
          <a:ln w="0">
            <a:solidFill>
              <a:srgbClr val="C95743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6610350" y="4876800"/>
            <a:ext cx="3181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默认不作为收益主线，不应宣称已经带来闭环提升</a:t>
            </a:r>
            <a:endParaRPr sz="1200" b="0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6457950" y="5362575"/>
            <a:ext cx="57150" cy="57150"/>
          </a:xfrm>
          <a:prstGeom prst="rect">
            <a:avLst/>
          </a:prstGeom>
          <a:solidFill>
            <a:srgbClr val="C95743"/>
          </a:solidFill>
          <a:ln w="0">
            <a:solidFill>
              <a:srgbClr val="C95743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6610350" y="5295900"/>
            <a:ext cx="3181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需要等 RSPC 更稳定、强 PPO/SAC baseline 明确后再重挖经验</a:t>
            </a:r>
            <a:endParaRPr sz="1200" b="0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304800"/>
            <a:ext cx="6096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F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330" b="1">
                <a:solidFill>
                  <a:srgbClr val="1F6B4B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一步运行流程</a:t>
            </a:r>
            <a:endParaRPr sz="2330" b="1">
              <a:solidFill>
                <a:srgbClr val="1F6B4B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6305550"/>
            <a:ext cx="10668000" cy="10478"/>
          </a:xfrm>
          <a:prstGeom prst="rect">
            <a:avLst/>
          </a:prstGeom>
          <a:solidFill>
            <a:srgbClr val="E2DD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723900"/>
            <a:ext cx="91440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一个时间步里，哪些模块改动作，哪些模块只记录证据</a:t>
            </a:r>
            <a:endParaRPr sz="2325" b="1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1447800"/>
            <a:ext cx="8763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E695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00" b="0">
                <a:solidFill>
                  <a:srgbClr val="5E69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这页用运行顺序把模块关系串起来：主路径产出最终 action，旁路只产生日志、分数或未来经验。</a:t>
            </a:r>
            <a:endParaRPr sz="1600" b="0">
              <a:solidFill>
                <a:srgbClr val="5E69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28650" y="2266950"/>
            <a:ext cx="1162050" cy="838200"/>
          </a:xfrm>
          <a:prstGeom prst="rect">
            <a:avLst/>
          </a:prstGeom>
          <a:solidFill>
            <a:srgbClr val="DDEBF2"/>
          </a:solidFill>
          <a:ln w="9525">
            <a:solidFill>
              <a:srgbClr val="DDEBF2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42950" y="2514600"/>
            <a:ext cx="933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2E6F9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00" b="1">
                <a:solidFill>
                  <a:srgbClr val="2E6F91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状态读取</a:t>
            </a:r>
            <a:endParaRPr sz="1800" b="1">
              <a:solidFill>
                <a:srgbClr val="2E6F91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885950" y="2676525"/>
            <a:ext cx="190500" cy="20955"/>
          </a:xfrm>
          <a:prstGeom prst="rect">
            <a:avLst/>
          </a:prstGeom>
          <a:solidFill>
            <a:srgbClr val="8D948A"/>
          </a:solidFill>
          <a:ln w="0">
            <a:solidFill>
              <a:srgbClr val="8D948A"/>
            </a:solidFill>
            <a:prstDash val="solid"/>
          </a:ln>
        </p:spPr>
      </p:sp>
      <p:sp>
        <p:nvSpPr>
          <p:cNvPr id="12" name="等腰三角形 11"/>
          <p:cNvSpPr>
            <a:spLocks noGrp="1"/>
          </p:cNvSpPr>
          <p:nvPr/>
        </p:nvSpPr>
        <p:spPr>
          <a:xfrm>
            <a:off x="2057400" y="2628900"/>
            <a:ext cx="114300" cy="114300"/>
          </a:xfrm>
          <a:prstGeom prst="triangle">
            <a:avLst/>
          </a:prstGeom>
          <a:solidFill>
            <a:srgbClr val="8D948A"/>
          </a:solidFill>
          <a:ln w="0">
            <a:solidFill>
              <a:srgbClr val="8D948A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2133600" y="2266950"/>
            <a:ext cx="1162050" cy="838200"/>
          </a:xfrm>
          <a:prstGeom prst="rect">
            <a:avLst/>
          </a:prstGeom>
          <a:solidFill>
            <a:srgbClr val="DCECE2"/>
          </a:solidFill>
          <a:ln w="9525">
            <a:solidFill>
              <a:srgbClr val="DCECE2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2247900" y="2514600"/>
            <a:ext cx="933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1F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00" b="1">
                <a:solidFill>
                  <a:srgbClr val="1F6B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重规划</a:t>
            </a:r>
            <a:endParaRPr sz="1800" b="1">
              <a:solidFill>
                <a:srgbClr val="1F6B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390900" y="2676525"/>
            <a:ext cx="190500" cy="20955"/>
          </a:xfrm>
          <a:prstGeom prst="rect">
            <a:avLst/>
          </a:prstGeom>
          <a:solidFill>
            <a:srgbClr val="8D948A"/>
          </a:solidFill>
          <a:ln w="0">
            <a:solidFill>
              <a:srgbClr val="8D948A"/>
            </a:solidFill>
            <a:prstDash val="solid"/>
          </a:ln>
        </p:spPr>
      </p:sp>
      <p:sp>
        <p:nvSpPr>
          <p:cNvPr id="16" name="等腰三角形 15"/>
          <p:cNvSpPr>
            <a:spLocks noGrp="1"/>
          </p:cNvSpPr>
          <p:nvPr/>
        </p:nvSpPr>
        <p:spPr>
          <a:xfrm>
            <a:off x="3562350" y="2628900"/>
            <a:ext cx="114300" cy="114300"/>
          </a:xfrm>
          <a:prstGeom prst="triangle">
            <a:avLst/>
          </a:prstGeom>
          <a:solidFill>
            <a:srgbClr val="8D948A"/>
          </a:solidFill>
          <a:ln w="0">
            <a:solidFill>
              <a:srgbClr val="8D948A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3638550" y="2266950"/>
            <a:ext cx="116205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3638550" y="2489200"/>
            <a:ext cx="1162050" cy="615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00" b="1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Setpoint</a:t>
            </a:r>
            <a:endParaRPr sz="1800" b="1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  <a:p>
            <a:pPr algn="ctr">
              <a:defRPr sz="1050" b="1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00" b="1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Contract</a:t>
            </a:r>
            <a:endParaRPr sz="1800" b="1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895850" y="2676525"/>
            <a:ext cx="190500" cy="20955"/>
          </a:xfrm>
          <a:prstGeom prst="rect">
            <a:avLst/>
          </a:prstGeom>
          <a:solidFill>
            <a:srgbClr val="8D948A"/>
          </a:solidFill>
          <a:ln w="0">
            <a:solidFill>
              <a:srgbClr val="8D948A"/>
            </a:solidFill>
            <a:prstDash val="solid"/>
          </a:ln>
        </p:spPr>
      </p:sp>
      <p:sp>
        <p:nvSpPr>
          <p:cNvPr id="20" name="等腰三角形 19"/>
          <p:cNvSpPr>
            <a:spLocks noGrp="1"/>
          </p:cNvSpPr>
          <p:nvPr/>
        </p:nvSpPr>
        <p:spPr>
          <a:xfrm>
            <a:off x="5067300" y="2628900"/>
            <a:ext cx="114300" cy="114300"/>
          </a:xfrm>
          <a:prstGeom prst="triangle">
            <a:avLst/>
          </a:prstGeom>
          <a:solidFill>
            <a:srgbClr val="8D948A"/>
          </a:solidFill>
          <a:ln w="0">
            <a:solidFill>
              <a:srgbClr val="8D948A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5143500" y="2266950"/>
            <a:ext cx="1162050" cy="838200"/>
          </a:xfrm>
          <a:prstGeom prst="rect">
            <a:avLst/>
          </a:prstGeom>
          <a:solidFill>
            <a:srgbClr val="F3E3BE"/>
          </a:solidFill>
          <a:ln w="9525">
            <a:solidFill>
              <a:srgbClr val="F3E3BE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5143500" y="2514600"/>
            <a:ext cx="1162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C8892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00" b="1">
                <a:solidFill>
                  <a:srgbClr val="C8892F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RSPC /</a:t>
            </a:r>
            <a:endParaRPr sz="1800" b="1">
              <a:solidFill>
                <a:srgbClr val="C8892F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  <a:p>
            <a:pPr algn="ctr">
              <a:defRPr sz="1050" b="1">
                <a:solidFill>
                  <a:srgbClr val="C8892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00" b="1">
                <a:solidFill>
                  <a:srgbClr val="C8892F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Fallback</a:t>
            </a:r>
            <a:endParaRPr sz="1800" b="1">
              <a:solidFill>
                <a:srgbClr val="C8892F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400800" y="2676525"/>
            <a:ext cx="190500" cy="20955"/>
          </a:xfrm>
          <a:prstGeom prst="rect">
            <a:avLst/>
          </a:prstGeom>
          <a:solidFill>
            <a:srgbClr val="8D948A"/>
          </a:solidFill>
          <a:ln w="0">
            <a:solidFill>
              <a:srgbClr val="8D948A"/>
            </a:solidFill>
            <a:prstDash val="solid"/>
          </a:ln>
        </p:spPr>
      </p:sp>
      <p:sp>
        <p:nvSpPr>
          <p:cNvPr id="24" name="等腰三角形 23"/>
          <p:cNvSpPr>
            <a:spLocks noGrp="1"/>
          </p:cNvSpPr>
          <p:nvPr/>
        </p:nvSpPr>
        <p:spPr>
          <a:xfrm>
            <a:off x="6572250" y="2628900"/>
            <a:ext cx="114300" cy="114300"/>
          </a:xfrm>
          <a:prstGeom prst="triangle">
            <a:avLst/>
          </a:prstGeom>
          <a:solidFill>
            <a:srgbClr val="8D948A"/>
          </a:solidFill>
          <a:ln w="0">
            <a:solidFill>
              <a:srgbClr val="8D948A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648450" y="2266950"/>
            <a:ext cx="1162050" cy="838200"/>
          </a:xfrm>
          <a:prstGeom prst="rect">
            <a:avLst/>
          </a:prstGeom>
          <a:solidFill>
            <a:srgbClr val="F1D8D1"/>
          </a:solidFill>
          <a:ln w="9525">
            <a:solidFill>
              <a:srgbClr val="F1D8D1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648450" y="2267585"/>
            <a:ext cx="1161415" cy="83756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C9574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00" b="1">
                <a:solidFill>
                  <a:srgbClr val="C95743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Guardrail </a:t>
            </a:r>
            <a:endParaRPr sz="1800" b="1">
              <a:solidFill>
                <a:srgbClr val="C95743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  <a:p>
            <a:pPr algn="ctr">
              <a:defRPr sz="1050" b="1">
                <a:solidFill>
                  <a:srgbClr val="C9574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00" b="1">
                <a:solidFill>
                  <a:srgbClr val="C95743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Tomato v2</a:t>
            </a:r>
            <a:endParaRPr sz="1800" b="1">
              <a:solidFill>
                <a:srgbClr val="C95743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905750" y="2676525"/>
            <a:ext cx="190500" cy="20955"/>
          </a:xfrm>
          <a:prstGeom prst="rect">
            <a:avLst/>
          </a:prstGeom>
          <a:solidFill>
            <a:srgbClr val="8D948A"/>
          </a:solidFill>
          <a:ln w="0">
            <a:solidFill>
              <a:srgbClr val="8D948A"/>
            </a:solidFill>
            <a:prstDash val="solid"/>
          </a:ln>
        </p:spPr>
      </p:sp>
      <p:sp>
        <p:nvSpPr>
          <p:cNvPr id="28" name="等腰三角形 27"/>
          <p:cNvSpPr>
            <a:spLocks noGrp="1"/>
          </p:cNvSpPr>
          <p:nvPr/>
        </p:nvSpPr>
        <p:spPr>
          <a:xfrm>
            <a:off x="8077200" y="2628900"/>
            <a:ext cx="114300" cy="114300"/>
          </a:xfrm>
          <a:prstGeom prst="triangle">
            <a:avLst/>
          </a:prstGeom>
          <a:solidFill>
            <a:srgbClr val="8D948A"/>
          </a:solidFill>
          <a:ln w="0">
            <a:solidFill>
              <a:srgbClr val="8D948A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153400" y="2266950"/>
            <a:ext cx="1162050" cy="838200"/>
          </a:xfrm>
          <a:prstGeom prst="rect">
            <a:avLst/>
          </a:prstGeom>
          <a:solidFill>
            <a:srgbClr val="DCECE2"/>
          </a:solidFill>
          <a:ln w="9525">
            <a:solidFill>
              <a:srgbClr val="DCECE2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267700" y="2514600"/>
            <a:ext cx="933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1F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00" b="1">
                <a:solidFill>
                  <a:srgbClr val="1F6B4B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环境执行</a:t>
            </a:r>
            <a:endParaRPr sz="1800" b="1">
              <a:solidFill>
                <a:srgbClr val="1F6B4B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410700" y="2676525"/>
            <a:ext cx="190500" cy="20955"/>
          </a:xfrm>
          <a:prstGeom prst="rect">
            <a:avLst/>
          </a:prstGeom>
          <a:solidFill>
            <a:srgbClr val="8D948A"/>
          </a:solidFill>
          <a:ln w="0">
            <a:solidFill>
              <a:srgbClr val="8D948A"/>
            </a:solidFill>
            <a:prstDash val="solid"/>
          </a:ln>
        </p:spPr>
      </p:sp>
      <p:sp>
        <p:nvSpPr>
          <p:cNvPr id="32" name="等腰三角形 31"/>
          <p:cNvSpPr>
            <a:spLocks noGrp="1"/>
          </p:cNvSpPr>
          <p:nvPr/>
        </p:nvSpPr>
        <p:spPr>
          <a:xfrm>
            <a:off x="9582150" y="2628900"/>
            <a:ext cx="114300" cy="114300"/>
          </a:xfrm>
          <a:prstGeom prst="triangle">
            <a:avLst/>
          </a:prstGeom>
          <a:solidFill>
            <a:srgbClr val="8D948A"/>
          </a:solidFill>
          <a:ln w="0">
            <a:solidFill>
              <a:srgbClr val="8D948A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9658350" y="2266950"/>
            <a:ext cx="1162050" cy="838200"/>
          </a:xfrm>
          <a:prstGeom prst="rect">
            <a:avLst/>
          </a:prstGeom>
          <a:solidFill>
            <a:srgbClr val="DDEBF2"/>
          </a:solidFill>
          <a:ln w="9525">
            <a:solidFill>
              <a:srgbClr val="DDEBF2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9772650" y="2514600"/>
            <a:ext cx="933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2E6F9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00" b="1">
                <a:solidFill>
                  <a:srgbClr val="2E6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 记录</a:t>
            </a:r>
            <a:endParaRPr sz="1800" b="1">
              <a:solidFill>
                <a:srgbClr val="2E6F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104900" y="3581400"/>
            <a:ext cx="4362450" cy="18669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DD2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1390650" y="3848100"/>
            <a:ext cx="1714500" cy="266700"/>
          </a:xfrm>
          <a:prstGeom prst="rect">
            <a:avLst/>
          </a:prstGeom>
          <a:solidFill>
            <a:srgbClr val="DCECE2"/>
          </a:solidFill>
          <a:ln w="9525">
            <a:solidFill>
              <a:srgbClr val="DCECE2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1466850" y="3895725"/>
            <a:ext cx="15621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F6B4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1F6B4B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会影响最终动作的模块</a:t>
            </a:r>
            <a:endParaRPr sz="1200" b="1">
              <a:solidFill>
                <a:srgbClr val="1F6B4B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1390650" y="4238625"/>
            <a:ext cx="57150" cy="57150"/>
          </a:xfrm>
          <a:prstGeom prst="rect">
            <a:avLst/>
          </a:prstGeom>
          <a:solidFill>
            <a:srgbClr val="1F6B4B"/>
          </a:solidFill>
          <a:ln w="0">
            <a:solidFill>
              <a:srgbClr val="1F6B4B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1543050" y="4171950"/>
            <a:ext cx="3181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Planner：间接影响，给目标和 anchor</a:t>
            </a:r>
            <a:endParaRPr sz="1200" b="0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390650" y="4657725"/>
            <a:ext cx="57150" cy="57150"/>
          </a:xfrm>
          <a:prstGeom prst="rect">
            <a:avLst/>
          </a:prstGeom>
          <a:solidFill>
            <a:srgbClr val="1F6B4B"/>
          </a:solidFill>
          <a:ln w="0">
            <a:solidFill>
              <a:srgbClr val="1F6B4B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1543050" y="4591050"/>
            <a:ext cx="3181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Setpoint Contract：改目标，不直接改动作</a:t>
            </a:r>
            <a:endParaRPr sz="1200" b="0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1390650" y="5076825"/>
            <a:ext cx="57150" cy="57150"/>
          </a:xfrm>
          <a:prstGeom prst="rect">
            <a:avLst/>
          </a:prstGeom>
          <a:solidFill>
            <a:srgbClr val="1F6B4B"/>
          </a:solidFill>
          <a:ln w="0">
            <a:solidFill>
              <a:srgbClr val="1F6B4B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1543050" y="5010150"/>
            <a:ext cx="3181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RSPC/Fallback + Safety：直接决定最终 action</a:t>
            </a:r>
            <a:endParaRPr sz="1200" b="0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6210300" y="3581400"/>
            <a:ext cx="4362450" cy="1866900"/>
          </a:xfrm>
          <a:prstGeom prst="rect">
            <a:avLst/>
          </a:prstGeom>
          <a:solidFill>
            <a:srgbClr val="DDEBF2"/>
          </a:solidFill>
          <a:ln w="9525">
            <a:solidFill>
              <a:srgbClr val="BED8E5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6496050" y="3848100"/>
            <a:ext cx="17145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6572250" y="3895725"/>
            <a:ext cx="15621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E6F9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2E6F91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当前只记录证据的模块</a:t>
            </a:r>
            <a:endParaRPr sz="1200" b="1">
              <a:solidFill>
                <a:srgbClr val="2E6F91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6496050" y="4238625"/>
            <a:ext cx="57150" cy="57150"/>
          </a:xfrm>
          <a:prstGeom prst="rect">
            <a:avLst/>
          </a:prstGeom>
          <a:solidFill>
            <a:srgbClr val="2E6F91"/>
          </a:solidFill>
          <a:ln w="0">
            <a:solidFill>
              <a:srgbClr val="2E6F91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6648450" y="4171950"/>
            <a:ext cx="3181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MC-SERO Shadow：给候选评分，记录 would_select</a:t>
            </a:r>
            <a:endParaRPr sz="1200" b="0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6496050" y="4657725"/>
            <a:ext cx="57150" cy="57150"/>
          </a:xfrm>
          <a:prstGeom prst="rect">
            <a:avLst/>
          </a:prstGeom>
          <a:solidFill>
            <a:srgbClr val="2E6F91"/>
          </a:solidFill>
          <a:ln w="0">
            <a:solidFill>
              <a:srgbClr val="2E6F91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6648450" y="4591050"/>
            <a:ext cx="3181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HEM：离线挖掘和 shadow 验证经验</a:t>
            </a:r>
            <a:endParaRPr sz="1200" b="0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6496050" y="5076825"/>
            <a:ext cx="57150" cy="57150"/>
          </a:xfrm>
          <a:prstGeom prst="rect">
            <a:avLst/>
          </a:prstGeom>
          <a:solidFill>
            <a:srgbClr val="2E6F91"/>
          </a:solidFill>
          <a:ln w="0">
            <a:solidFill>
              <a:srgbClr val="2E6F91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6648450" y="5010150"/>
            <a:ext cx="3181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7211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1721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Plan Cache：冻结 LLM 计划，帮助复现实验</a:t>
            </a:r>
            <a:endParaRPr sz="1200" b="0">
              <a:solidFill>
                <a:srgbClr val="1721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27.5,&quot;left&quot;:364.5,&quot;top&quot;:220.5,&quot;width&quot;:525.1}"/>
</p:tagLst>
</file>

<file path=ppt/tags/tag2.xml><?xml version="1.0" encoding="utf-8"?>
<p:tagLst xmlns:p="http://schemas.openxmlformats.org/presentationml/2006/main">
  <p:tag name="KSO_WM_DIAGRAM_VIRTUALLY_FRAME" val="{&quot;height&quot;:127.5,&quot;left&quot;:364.5,&quot;top&quot;:220.5,&quot;width&quot;:525.1}"/>
</p:tagLst>
</file>

<file path=ppt/tags/tag3.xml><?xml version="1.0" encoding="utf-8"?>
<p:tagLst xmlns:p="http://schemas.openxmlformats.org/presentationml/2006/main">
  <p:tag name="KSO_WM_DIAGRAM_VIRTUALLY_FRAME" val="{&quot;height&quot;:127.5,&quot;left&quot;:364.5,&quot;top&quot;:220.5,&quot;width&quot;:525.1}"/>
</p:tagLst>
</file>

<file path=ppt/tags/tag4.xml><?xml version="1.0" encoding="utf-8"?>
<p:tagLst xmlns:p="http://schemas.openxmlformats.org/presentationml/2006/main">
  <p:tag name="KSO_WM_DIAGRAM_VIRTUALLY_FRAME" val="{&quot;height&quot;:127.5,&quot;left&quot;:364.5,&quot;top&quot;:220.5,&quot;width&quot;:525.1}"/>
</p:tagLst>
</file>

<file path=ppt/tags/tag5.xml><?xml version="1.0" encoding="utf-8"?>
<p:tagLst xmlns:p="http://schemas.openxmlformats.org/presentationml/2006/main">
  <p:tag name="KSO_WM_DIAGRAM_VIRTUALLY_FRAME" val="{&quot;height&quot;:127.5,&quot;left&quot;:364.5,&quot;top&quot;:220.5,&quot;width&quot;:525.1}"/>
</p:tagLst>
</file>

<file path=ppt/tags/tag6.xml><?xml version="1.0" encoding="utf-8"?>
<p:tagLst xmlns:p="http://schemas.openxmlformats.org/presentationml/2006/main">
  <p:tag name="KSO_WM_DIAGRAM_VIRTUALLY_FRAME" val="{&quot;height&quot;:127.5,&quot;left&quot;:364.5,&quot;top&quot;:220.5,&quot;width&quot;:525.1}"/>
</p:tagLst>
</file>

<file path=ppt/tags/tag7.xml><?xml version="1.0" encoding="utf-8"?>
<p:tagLst xmlns:p="http://schemas.openxmlformats.org/presentationml/2006/main">
  <p:tag name="KSO_WM_DIAGRAM_VIRTUALLY_FRAME" val="{&quot;height&quot;:127.5,&quot;left&quot;:364.5,&quot;top&quot;:220.5,&quot;width&quot;:525.1}"/>
</p:tagLst>
</file>

<file path=ppt/tags/tag8.xml><?xml version="1.0" encoding="utf-8"?>
<p:tagLst xmlns:p="http://schemas.openxmlformats.org/presentationml/2006/main">
  <p:tag name="KSO_WM_DIAGRAM_VIRTUALLY_FRAME" val="{&quot;height&quot;:127.5,&quot;left&quot;:364.5,&quot;top&quot;:220.5,&quot;width&quot;:525.1}"/>
</p:tagLst>
</file>

<file path=ppt/tags/tag9.xml><?xml version="1.0" encoding="utf-8"?>
<p:tagLst xmlns:p="http://schemas.openxmlformats.org/presentationml/2006/main">
  <p:tag name="KSO_WM_DIAGRAM_VIRTUALLY_FRAME" val="{&quot;height&quot;:127.5,&quot;left&quot;:364.5,&quot;top&quot;:220.5,&quot;width&quot;:525.1}"/>
</p:tagLst>
</file>

<file path=ppt/tags/tag10.xml><?xml version="1.0" encoding="utf-8"?>
<p:tagLst xmlns:p="http://schemas.openxmlformats.org/presentationml/2006/main">
  <p:tag name="KSO_WM_DIAGRAM_VIRTUALLY_FRAME" val="{&quot;height&quot;:127.5,&quot;left&quot;:364.5,&quot;top&quot;:220.5,&quot;width&quot;:525.1}"/>
</p:tagLst>
</file>

<file path=ppt/tags/tag11.xml><?xml version="1.0" encoding="utf-8"?>
<p:tagLst xmlns:p="http://schemas.openxmlformats.org/presentationml/2006/main">
  <p:tag name="KSO_WM_DIAGRAM_VIRTUALLY_FRAME" val="{&quot;height&quot;:127.5,&quot;left&quot;:364.5,&quot;top&quot;:220.5,&quot;width&quot;:525.1}"/>
</p:tagLst>
</file>

<file path=ppt/tags/tag12.xml><?xml version="1.0" encoding="utf-8"?>
<p:tagLst xmlns:p="http://schemas.openxmlformats.org/presentationml/2006/main">
  <p:tag name="KSO_WM_DIAGRAM_VIRTUALLY_FRAME" val="{&quot;height&quot;:127.5,&quot;left&quot;:364.5,&quot;top&quot;:220.5,&quot;width&quot;:525.1}"/>
</p:tagLst>
</file>

<file path=ppt/tags/tag13.xml><?xml version="1.0" encoding="utf-8"?>
<p:tagLst xmlns:p="http://schemas.openxmlformats.org/presentationml/2006/main">
  <p:tag name="KSO_WM_DIAGRAM_VIRTUALLY_FRAME" val="{&quot;height&quot;:127.5,&quot;left&quot;:364.5,&quot;top&quot;:220.5,&quot;width&quot;:525.1}"/>
</p:tagLst>
</file>

<file path=ppt/tags/tag14.xml><?xml version="1.0" encoding="utf-8"?>
<p:tagLst xmlns:p="http://schemas.openxmlformats.org/presentationml/2006/main">
  <p:tag name="KSO_WM_DIAGRAM_VIRTUALLY_FRAME" val="{&quot;height&quot;:127.5,&quot;left&quot;:364.5,&quot;top&quot;:220.5,&quot;width&quot;:525.1}"/>
</p:tagLst>
</file>

<file path=ppt/tags/tag15.xml><?xml version="1.0" encoding="utf-8"?>
<p:tagLst xmlns:p="http://schemas.openxmlformats.org/presentationml/2006/main">
  <p:tag name="KSO_WM_DIAGRAM_VIRTUALLY_FRAME" val="{&quot;height&quot;:127.5,&quot;left&quot;:364.5,&quot;top&quot;:220.5,&quot;width&quot;:525.1}"/>
</p:tagLst>
</file>

<file path=ppt/tags/tag16.xml><?xml version="1.0" encoding="utf-8"?>
<p:tagLst xmlns:p="http://schemas.openxmlformats.org/presentationml/2006/main">
  <p:tag name="KSO_WM_DIAGRAM_VIRTUALLY_FRAME" val="{&quot;height&quot;:127.5,&quot;left&quot;:364.5,&quot;top&quot;:220.5,&quot;width&quot;:525.1}"/>
</p:tagLst>
</file>

<file path=ppt/tags/tag17.xml><?xml version="1.0" encoding="utf-8"?>
<p:tagLst xmlns:p="http://schemas.openxmlformats.org/presentationml/2006/main">
  <p:tag name="KSO_WM_DIAGRAM_VIRTUALLY_FRAME" val="{&quot;height&quot;:127.5,&quot;left&quot;:364.5,&quot;top&quot;:220.5,&quot;width&quot;:525.1}"/>
</p:tagLst>
</file>

<file path=ppt/tags/tag18.xml><?xml version="1.0" encoding="utf-8"?>
<p:tagLst xmlns:p="http://schemas.openxmlformats.org/presentationml/2006/main">
  <p:tag name="KSO_WM_DIAGRAM_VIRTUALLY_FRAME" val="{&quot;height&quot;:127.5,&quot;left&quot;:364.5,&quot;top&quot;:220.5,&quot;width&quot;:525.1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3705</Words>
  <Application>WPS 演示</Application>
  <PresentationFormat>Converted Presentation</PresentationFormat>
  <Paragraphs>372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Microsoft YaHei UI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李俊杰</cp:lastModifiedBy>
  <cp:revision>1</cp:revision>
  <dcterms:created xsi:type="dcterms:W3CDTF">2026-05-08T04:00:09Z</dcterms:created>
  <dcterms:modified xsi:type="dcterms:W3CDTF">2026-05-08T04:00:09Z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DD3D695E9D644424B3D3546F0ECCACC3_12</vt:lpwstr>
  </property>
</Properties>
</file>