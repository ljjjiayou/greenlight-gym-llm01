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3cb2e56f78b4130" /><Relationship Type="http://schemas.openxmlformats.org/officeDocument/2006/relationships/extended-properties" Target="/docProps/app.xml" Id="Re133c0e86a504c87" /><Relationship Type="http://schemas.openxmlformats.org/officeDocument/2006/relationships/officeDocument" Target="/ppt/presentation.xml" Id="Rc6c8d5f27fbc431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c4461e8d3644dba"/>
  </p:sldMasterIdLst>
  <p:notesMasterIdLst>
    <p:notesMasterId xmlns:r="http://schemas.openxmlformats.org/officeDocument/2006/relationships" r:id="Race212f3947e400c"/>
  </p:notesMasterIdLst>
  <p:sldIdLst>
    <p:sldId xmlns:r="http://schemas.openxmlformats.org/officeDocument/2006/relationships" id="256" r:id="Rc9a705d5fdfc4e51"/>
    <p:sldId xmlns:r="http://schemas.openxmlformats.org/officeDocument/2006/relationships" id="257" r:id="R652b348ccaef4d6c"/>
    <p:sldId xmlns:r="http://schemas.openxmlformats.org/officeDocument/2006/relationships" id="258" r:id="R0d1cd5d2a00e4946"/>
    <p:sldId xmlns:r="http://schemas.openxmlformats.org/officeDocument/2006/relationships" id="259" r:id="R77eaec9bd4af4b88"/>
    <p:sldId xmlns:r="http://schemas.openxmlformats.org/officeDocument/2006/relationships" id="260" r:id="Rb6035b19d6eb482b"/>
    <p:sldId xmlns:r="http://schemas.openxmlformats.org/officeDocument/2006/relationships" id="261" r:id="Rf64d196b70554851"/>
    <p:sldId xmlns:r="http://schemas.openxmlformats.org/officeDocument/2006/relationships" id="262" r:id="Ra46f17a0fde24bdf"/>
    <p:sldId xmlns:r="http://schemas.openxmlformats.org/officeDocument/2006/relationships" id="263" r:id="R2f76dd28f376401b"/>
    <p:sldId xmlns:r="http://schemas.openxmlformats.org/officeDocument/2006/relationships" id="264" r:id="Ra0169a1c617c4178"/>
    <p:sldId xmlns:r="http://schemas.openxmlformats.org/officeDocument/2006/relationships" id="265" r:id="R6ee4cfaec7044463"/>
    <p:sldId xmlns:r="http://schemas.openxmlformats.org/officeDocument/2006/relationships" id="266" r:id="Rb7f5c1fc835a4221"/>
    <p:sldId xmlns:r="http://schemas.openxmlformats.org/officeDocument/2006/relationships" id="267" r:id="Ra6c4671e4a2d43a4"/>
  </p:sldIdLst>
  <p:sldSz cx="18288000" cy="10287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c4461e8d3644dba" /><Relationship Type="http://schemas.openxmlformats.org/officeDocument/2006/relationships/theme" Target="/ppt/theme/theme1.xml" Id="R265c5d04d67e4e6a" /><Relationship Type="http://schemas.openxmlformats.org/officeDocument/2006/relationships/notesMaster" Target="/ppt/notesMasters/notesMaster1.xml" Id="Race212f3947e400c" /><Relationship Type="http://schemas.openxmlformats.org/officeDocument/2006/relationships/presProps" Target="/ppt/presProps.xml" Id="R01f0285d5b984d00" /><Relationship Type="http://schemas.openxmlformats.org/officeDocument/2006/relationships/viewProps" Target="/ppt/viewProps.xml" Id="R82f2c7a736c1444e" /><Relationship Type="http://schemas.openxmlformats.org/officeDocument/2006/relationships/tableStyles" Target="/ppt/tableStyles.xml" Id="Rbf41d8c3830c400c" /><Relationship Type="http://schemas.openxmlformats.org/officeDocument/2006/relationships/slide" Target="/ppt/slides/slide1.xml" Id="Rc9a705d5fdfc4e51" /><Relationship Type="http://schemas.openxmlformats.org/officeDocument/2006/relationships/slide" Target="/ppt/slides/slide2.xml" Id="R652b348ccaef4d6c" /><Relationship Type="http://schemas.openxmlformats.org/officeDocument/2006/relationships/slide" Target="/ppt/slides/slide3.xml" Id="R0d1cd5d2a00e4946" /><Relationship Type="http://schemas.openxmlformats.org/officeDocument/2006/relationships/slide" Target="/ppt/slides/slide4.xml" Id="R77eaec9bd4af4b88" /><Relationship Type="http://schemas.openxmlformats.org/officeDocument/2006/relationships/slide" Target="/ppt/slides/slide5.xml" Id="Rb6035b19d6eb482b" /><Relationship Type="http://schemas.openxmlformats.org/officeDocument/2006/relationships/slide" Target="/ppt/slides/slide6.xml" Id="Rf64d196b70554851" /><Relationship Type="http://schemas.openxmlformats.org/officeDocument/2006/relationships/slide" Target="/ppt/slides/slide7.xml" Id="Ra46f17a0fde24bdf" /><Relationship Type="http://schemas.openxmlformats.org/officeDocument/2006/relationships/slide" Target="/ppt/slides/slide8.xml" Id="R2f76dd28f376401b" /><Relationship Type="http://schemas.openxmlformats.org/officeDocument/2006/relationships/slide" Target="/ppt/slides/slide9.xml" Id="Ra0169a1c617c4178" /><Relationship Type="http://schemas.openxmlformats.org/officeDocument/2006/relationships/slide" Target="/ppt/slides/slide10.xml" Id="R6ee4cfaec7044463" /><Relationship Type="http://schemas.openxmlformats.org/officeDocument/2006/relationships/slide" Target="/ppt/slides/slide11.xml" Id="Rb7f5c1fc835a4221" /><Relationship Type="http://schemas.openxmlformats.org/officeDocument/2006/relationships/slide" Target="/ppt/slides/slide12.xml" Id="Ra6c4671e4a2d43a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1eba373c54994fb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70df81d8cfd4fdf" /><Relationship Type="http://schemas.openxmlformats.org/officeDocument/2006/relationships/notesMaster" Target="/ppt/notesMasters/notesMaster1.xml" Id="Raab016bb64254f1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9cf2d6b35bf4098" /><Relationship Type="http://schemas.openxmlformats.org/officeDocument/2006/relationships/notesMaster" Target="/ppt/notesMasters/notesMaster1.xml" Id="R2521e90c108b49e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60dbb67225140a2" /><Relationship Type="http://schemas.openxmlformats.org/officeDocument/2006/relationships/notesMaster" Target="/ppt/notesMasters/notesMaster1.xml" Id="R68d349ee79a742c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f705cb64b1c4305" /><Relationship Type="http://schemas.openxmlformats.org/officeDocument/2006/relationships/notesMaster" Target="/ppt/notesMasters/notesMaster1.xml" Id="R7f5520df2f284b4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0013cf6d61144fe" /><Relationship Type="http://schemas.openxmlformats.org/officeDocument/2006/relationships/notesMaster" Target="/ppt/notesMasters/notesMaster1.xml" Id="Rcd2f3252910c4ce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5ad5be6f9b34969" /><Relationship Type="http://schemas.openxmlformats.org/officeDocument/2006/relationships/notesMaster" Target="/ppt/notesMasters/notesMaster1.xml" Id="R25a7693dd26841f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678603e2db3447f" /><Relationship Type="http://schemas.openxmlformats.org/officeDocument/2006/relationships/notesMaster" Target="/ppt/notesMasters/notesMaster1.xml" Id="R0f9721f3178d443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37b4c0bf0e042ef" /><Relationship Type="http://schemas.openxmlformats.org/officeDocument/2006/relationships/notesMaster" Target="/ppt/notesMasters/notesMaster1.xml" Id="R817e0e3e723a489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d444b96b26e493a" /><Relationship Type="http://schemas.openxmlformats.org/officeDocument/2006/relationships/notesMaster" Target="/ppt/notesMasters/notesMaster1.xml" Id="R695e6d9505154f4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d0f2dd0efda4ee4" /><Relationship Type="http://schemas.openxmlformats.org/officeDocument/2006/relationships/notesMaster" Target="/ppt/notesMasters/notesMaster1.xml" Id="R33bbd9edfa53474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18db89b3090445b" /><Relationship Type="http://schemas.openxmlformats.org/officeDocument/2006/relationships/notesMaster" Target="/ppt/notesMasters/notesMaster1.xml" Id="R906a91faef694fd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5633831bf4745fb" /><Relationship Type="http://schemas.openxmlformats.org/officeDocument/2006/relationships/notesMaster" Target="/ppt/notesMasters/notesMaster1.xml" Id="R1288adbb6d8c427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开场先说明：本次汇报不是宣称最终性能已经最好，而是说明目前系统流程、已完成模块、验证发现的问题，以及下一步如何稳健推进。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这一页先定研究目标：LLM 不直接输出最终动作并无约束执行，而是承担高层计划与专家知识注入；真正闭环安全由 RSPC、fallback、guardrail 和可复现评估体系保证。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这页回答项目整体怎么跑。用户之前的理解基本正确，但需要强调：现在我们把 LLM 输出拆成高层参考轨迹，底层 RSPC 才是实际每步闭环执行主体。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这一页要讲清楚模块边界：LLM-RSPC 是主线；PPO 是诊断，不是最终教师；HEM 是后续反事实经验学习；MC-SERO 仍是 shadow；v2 是 opt-in 护栏。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这一页讲实现细节：LLM 不是最终执行者。即使 LLM 给出不完整计划，setpoint contract 会补齐；rollout 和 fallback 再决定本步控制；最后 guardrail 兜底。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这页要让老师放心：现在我们没有直接扩大实验，而是先做可复现评估底座。以后所有模块对比都可以在同一批 cached plans 下公平比较。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这一页要避免夸大：我们确实实现了经验库生命周期和安全过滤，但当前 HEM 没有稳定 selected 和收益证据，所以暂时不作为论文主要性能来源。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这页说明 MC-SERO 的价值：它现在是诊断层，不会污染 baseline。我们利用它观察机制候选是否合理，为之后 guarded select 做准备。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这一页讲番茄机理：番茄控制不是只防高湿，低 RH 和高 VPD 也会导致作物胁迫。v2 是针对这个问题的保守护栏。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讲这页时要谨慎：pilot 结果很好，说明方向有价值，但我们没有说 v2 已经稳定泛化；下一页会说明 sentinel gate 发现了跨季节风险。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这一页要坦诚讲：v2 在 pilot 上改善明显，但 sentinel 发现高温强辐射副作用。这个结果反而说明 frozen benchmark 和 gate 是必要的。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最后总结：下一阶段不是继续堆 HEM 或扩大实验，而是修 hot override，通过 canary 和 12x240 sentinel 后再扩大到 36x240，并同步准备强 PPO/SAC baseline。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80ca29f32d048c6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17efb03dc0d34ae2" /><Relationship Type="http://schemas.openxmlformats.org/officeDocument/2006/relationships/slideLayout" Target="/ppt/slideLayouts/slideLayout2.xml" Id="R3a1183dd03aa4a9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a1183dd03aa4a9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433296dedb1439d" /><Relationship Type="http://schemas.openxmlformats.org/officeDocument/2006/relationships/notesSlide" Target="/ppt/notesSlides/notesSlide1.xml" Id="R8dabda34b081455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81d14d8aa404bae" /><Relationship Type="http://schemas.openxmlformats.org/officeDocument/2006/relationships/notesSlide" Target="/ppt/notesSlides/notesSlide2.xml" Id="Rc9a57bfabae6452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c794c39659f4740" /><Relationship Type="http://schemas.openxmlformats.org/officeDocument/2006/relationships/notesSlide" Target="/ppt/notesSlides/notesSlide3.xml" Id="Re67cb3715517407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f958b4ab6834588" /><Relationship Type="http://schemas.openxmlformats.org/officeDocument/2006/relationships/notesSlide" Target="/ppt/notesSlides/notesSlide4.xml" Id="R715821a6fdbf4a5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6bd36d606e54902" /><Relationship Type="http://schemas.openxmlformats.org/officeDocument/2006/relationships/notesSlide" Target="/ppt/notesSlides/notesSlide5.xml" Id="R9bd68c2664d5445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dbc9f4095d946ac" /><Relationship Type="http://schemas.openxmlformats.org/officeDocument/2006/relationships/notesSlide" Target="/ppt/notesSlides/notesSlide6.xml" Id="Rb0e54d58d9de4df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1f10315bc8f4e8b" /><Relationship Type="http://schemas.openxmlformats.org/officeDocument/2006/relationships/notesSlide" Target="/ppt/notesSlides/notesSlide7.xml" Id="R3c721e08bf234a8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b8a9ef9922346bf" /><Relationship Type="http://schemas.openxmlformats.org/officeDocument/2006/relationships/notesSlide" Target="/ppt/notesSlides/notesSlide8.xml" Id="R0a2c37ed57264b9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6907d813d8e434e" /><Relationship Type="http://schemas.openxmlformats.org/officeDocument/2006/relationships/notesSlide" Target="/ppt/notesSlides/notesSlide9.xml" Id="Re1daaeb851a5430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43d4f56bd7d4cd4" /><Relationship Type="http://schemas.openxmlformats.org/officeDocument/2006/relationships/notesSlide" Target="/ppt/notesSlides/notesSlide10.xml" Id="Rb2c2c62ef670476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adb6d20fc1e4baf" /><Relationship Type="http://schemas.openxmlformats.org/officeDocument/2006/relationships/notesSlide" Target="/ppt/notesSlides/notesSlide11.xml" Id="R4486c90e88964b5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7fadd3df359427c" /><Relationship Type="http://schemas.openxmlformats.org/officeDocument/2006/relationships/notesSlide" Target="/ppt/notesSlides/notesSlide12.xml" Id="Rd269e0cdea454d42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BE23E46-B328-4EA1-87BE-042504D57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B24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7047C0-E4C3-4B9A-8EBD-B9D94BE12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5334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D32"/>
          </a:solidFill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F1DE0D-8243-42F5-AE74-606788259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5B"/>
          </a:solidFill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703723-49E8-45DF-A471-C6B49E96E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704850"/>
            <a:ext cx="1352550" cy="381000"/>
          </a:xfrm>
          <a:prstGeom xmlns:a="http://schemas.openxmlformats.org/drawingml/2006/main" prst="roundRect">
            <a:avLst>
              <a:gd name="adj" fmla="val 45000"/>
            </a:avLst>
          </a:prstGeom>
          <a:solidFill xmlns:a="http://schemas.openxmlformats.org/drawingml/2006/main">
            <a:srgbClr val="DDEFE5"/>
          </a:solidFill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5AA167-FC73-44AB-94DD-AB06CB8DE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781050"/>
            <a:ext cx="10096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lnSpc>
                <a:spcPct val="122000"/>
              </a:lnSpc>
              <a:buNone/>
              <a:defRPr sz="1275" b="1">
                <a:solidFill>
                  <a:srgbClr val="2E7D5B"/>
                </a:solidFill>
              </a:defRPr>
            </a:pPr>
            <a:r>
              <a:rPr sz="1275" b="1">
                <a:solidFill>
                  <a:srgbClr val="2E7D5B"/>
                </a:solidFill>
              </a:rPr>
              <a:t>LLM-RSPC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44A9AF-88F5-4F23-90A2-872EB77D1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704850"/>
            <a:ext cx="1676400" cy="381000"/>
          </a:xfrm>
          <a:prstGeom xmlns:a="http://schemas.openxmlformats.org/drawingml/2006/main" prst="roundRect">
            <a:avLst>
              <a:gd name="adj" fmla="val 45000"/>
            </a:avLst>
          </a:prstGeom>
          <a:solidFill xmlns:a="http://schemas.openxmlformats.org/drawingml/2006/main">
            <a:srgbClr val="D9EAF5"/>
          </a:solidFill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47D24D-127A-41E2-B4A7-65BC7C571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781050"/>
            <a:ext cx="13335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lnSpc>
                <a:spcPct val="122000"/>
              </a:lnSpc>
              <a:buNone/>
              <a:defRPr sz="1275" b="1">
                <a:solidFill>
                  <a:srgbClr val="2F6F9F"/>
                </a:solidFill>
              </a:defRPr>
            </a:pPr>
            <a:r>
              <a:rPr sz="1275" b="1">
                <a:solidFill>
                  <a:srgbClr val="2F6F9F"/>
                </a:solidFill>
              </a:rPr>
              <a:t>Frozen Replay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5BCF68-66D4-4592-94DB-9CEC81081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704850"/>
            <a:ext cx="1695450" cy="381000"/>
          </a:xfrm>
          <a:prstGeom xmlns:a="http://schemas.openxmlformats.org/drawingml/2006/main" prst="roundRect">
            <a:avLst>
              <a:gd name="adj" fmla="val 45000"/>
            </a:avLst>
          </a:prstGeom>
          <a:solidFill xmlns:a="http://schemas.openxmlformats.org/drawingml/2006/main">
            <a:srgbClr val="F4E2BD"/>
          </a:solidFill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5D83C96-BC8D-4935-AA52-8C4A3D6CE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781050"/>
            <a:ext cx="13525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lnSpc>
                <a:spcPct val="122000"/>
              </a:lnSpc>
              <a:buNone/>
              <a:defRPr sz="1275" b="1">
                <a:solidFill>
                  <a:srgbClr val="B7791F"/>
                </a:solidFill>
              </a:defRPr>
            </a:pPr>
            <a:r>
              <a:rPr sz="1275" b="1">
                <a:solidFill>
                  <a:srgbClr val="B7791F"/>
                </a:solidFill>
              </a:rPr>
              <a:t>Tomato Safety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1A8842B-C0E9-4CB6-9225-C2ABE421E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428750"/>
            <a:ext cx="6134100" cy="1790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2000"/>
              </a:lnSpc>
              <a:buNone/>
              <a:defRPr sz="5700" b="1">
                <a:solidFill>
                  <a:srgbClr val="FFFFFF"/>
                </a:solidFill>
              </a:defRPr>
            </a:pPr>
            <a:r>
              <a:rPr sz="5700" b="1">
                <a:solidFill>
                  <a:srgbClr val="FFFFFF"/>
                </a:solidFill>
              </a:rPr>
              <a:t>温室控制项目阶段进展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17297A1-3FDF-49A9-A612-29F30BA9C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429000"/>
            <a:ext cx="61341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2550">
                <a:solidFill>
                  <a:srgbClr val="CFE6D8"/>
                </a:solidFill>
              </a:defRPr>
            </a:pPr>
            <a:r>
              <a:rPr sz="2550">
                <a:solidFill>
                  <a:srgbClr val="CFE6D8"/>
                </a:solidFill>
              </a:rPr>
              <a:t>LLM 引导的鲁棒设定点规划与安全滚动控制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CB720D7-CC6B-41B2-8A06-1E2F46508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657850"/>
            <a:ext cx="52006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2000"/>
              </a:lnSpc>
              <a:buNone/>
              <a:defRPr sz="1275" b="1">
                <a:solidFill>
                  <a:srgbClr val="5E756F"/>
                </a:solidFill>
              </a:defRPr>
            </a:pPr>
            <a:r>
              <a:rPr sz="1275" b="1">
                <a:solidFill>
                  <a:srgbClr val="5E756F"/>
                </a:solidFill>
              </a:rPr>
              <a:t>当前主线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C06B0AE-1CBC-43D1-821F-A3DE2ACFD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943600"/>
            <a:ext cx="52006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000" b="1">
                <a:solidFill>
                  <a:srgbClr val="2E7D5B"/>
                </a:solidFill>
              </a:defRPr>
            </a:pPr>
            <a:r>
              <a:rPr sz="3000" b="1">
                <a:solidFill>
                  <a:srgbClr val="2E7D5B"/>
                </a:solidFill>
              </a:rPr>
              <a:t>LLM-RSPC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30C10D6-1E8B-479F-93E6-46ADE72EA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6457950"/>
            <a:ext cx="52006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200">
                <a:solidFill>
                  <a:srgbClr val="5E756F"/>
                </a:solidFill>
              </a:defRPr>
            </a:pPr>
            <a:r>
              <a:rPr sz="1200">
                <a:solidFill>
                  <a:srgbClr val="5E756F"/>
                </a:solidFill>
              </a:rPr>
              <a:t>高层计划 + 低层安全执行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4EA9C52-10E7-4952-852C-A3844C6EC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5657850"/>
            <a:ext cx="52006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2000"/>
              </a:lnSpc>
              <a:buNone/>
              <a:defRPr sz="1275" b="1">
                <a:solidFill>
                  <a:srgbClr val="5E756F"/>
                </a:solidFill>
              </a:defRPr>
            </a:pPr>
            <a:r>
              <a:rPr sz="1275" b="1">
                <a:solidFill>
                  <a:srgbClr val="5E756F"/>
                </a:solidFill>
              </a:rPr>
              <a:t>验证体系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33308B6-C51C-416A-8D16-F317DD610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5943600"/>
            <a:ext cx="52006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000" b="1">
                <a:solidFill>
                  <a:srgbClr val="2F6F9F"/>
                </a:solidFill>
              </a:defRPr>
            </a:pPr>
            <a:r>
              <a:rPr sz="3000" b="1">
                <a:solidFill>
                  <a:srgbClr val="2F6F9F"/>
                </a:solidFill>
              </a:rPr>
              <a:t>Cache Replay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0FCBB7A-5FB5-45D9-A257-D76A1F44C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6457950"/>
            <a:ext cx="52006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200">
                <a:solidFill>
                  <a:srgbClr val="5E756F"/>
                </a:solidFill>
              </a:defRPr>
            </a:pPr>
            <a:r>
              <a:rPr sz="1200">
                <a:solidFill>
                  <a:srgbClr val="5E756F"/>
                </a:solidFill>
              </a:rPr>
              <a:t>冻结 LLM 输出，比较控制器本体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1E53C2F-6A9B-4067-8955-679B1992E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34850" y="5657850"/>
            <a:ext cx="52006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2000"/>
              </a:lnSpc>
              <a:buNone/>
              <a:defRPr sz="1275" b="1">
                <a:solidFill>
                  <a:srgbClr val="5E756F"/>
                </a:solidFill>
              </a:defRPr>
            </a:pPr>
            <a:r>
              <a:rPr sz="1275" b="1">
                <a:solidFill>
                  <a:srgbClr val="5E756F"/>
                </a:solidFill>
              </a:rPr>
              <a:t>最新发现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527F8F2-6D5B-4423-8E23-B84C19146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34850" y="5943600"/>
            <a:ext cx="52006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000" b="1">
                <a:solidFill>
                  <a:srgbClr val="B7791F"/>
                </a:solidFill>
              </a:defRPr>
            </a:pPr>
            <a:r>
              <a:rPr sz="3000" b="1">
                <a:solidFill>
                  <a:srgbClr val="B7791F"/>
                </a:solidFill>
              </a:rPr>
              <a:t>Sentinel Gate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28A8796-4542-4C2B-B21E-877AAC533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34850" y="6457950"/>
            <a:ext cx="52006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200">
                <a:solidFill>
                  <a:srgbClr val="5E756F"/>
                </a:solidFill>
              </a:defRPr>
            </a:pPr>
            <a:r>
              <a:rPr sz="1200">
                <a:solidFill>
                  <a:srgbClr val="5E756F"/>
                </a:solidFill>
              </a:rPr>
              <a:t>跨季节检查拦截高温泛化风险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2299213-2E76-4BFC-833D-23B903D9D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7029450"/>
            <a:ext cx="163830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2000"/>
              </a:lnSpc>
              <a:buNone/>
              <a:defRPr sz="1575">
                <a:solidFill>
                  <a:srgbClr val="A9C7BA"/>
                </a:solidFill>
              </a:defRPr>
            </a:pPr>
            <a:r>
              <a:rPr sz="1575">
                <a:solidFill>
                  <a:srgbClr val="A9C7BA"/>
                </a:solidFill>
              </a:rPr>
              <a:t>面向老师/课题组的阶段汇报 · 2026-04-30</a:t>
            </a:r>
          </a:p>
        </p:txBody>
      </p:sp>
    </p:spTree>
    <p:extLst>
      <p:ext uri="{BB962C8B-B14F-4D97-AF65-F5344CB8AC3E}">
        <p14:creationId xmlns:p14="http://schemas.microsoft.com/office/powerpoint/2010/main" val="773252771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8ACAFE2-543F-4678-8244-2C292D9C7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AF4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3097A9-1E85-4DFC-A09E-A41493B6D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3815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7F0"/>
          </a:solidFill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B35F09-A2CF-4BFB-A854-1EF8A39AC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52450"/>
            <a:ext cx="5524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2000"/>
              </a:lnSpc>
              <a:buNone/>
              <a:defRPr sz="1425" b="1">
                <a:solidFill>
                  <a:srgbClr val="2E7D5B"/>
                </a:solidFill>
              </a:defRPr>
            </a:pPr>
            <a:r>
              <a:rPr sz="1425" b="1">
                <a:solidFill>
                  <a:srgbClr val="2E7D5B"/>
                </a:solidFill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CF7109-65C9-4110-A34B-CFB19E701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666750"/>
            <a:ext cx="857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5B"/>
          </a:solidFill>
          <a:ln xmlns:a="http://schemas.openxmlformats.org/drawingml/2006/main" w="0">
            <a:solidFill>
              <a:srgbClr val="2E7D5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E1F9A8-177B-4AED-AF31-CE80AAA8D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71500"/>
            <a:ext cx="152781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lnSpc>
                <a:spcPct val="122000"/>
              </a:lnSpc>
              <a:buNone/>
              <a:defRPr sz="1275">
                <a:solidFill>
                  <a:srgbClr val="5E756F"/>
                </a:solidFill>
              </a:defRPr>
            </a:pPr>
            <a:r>
              <a:rPr sz="1275">
                <a:solidFill>
                  <a:srgbClr val="5E756F"/>
                </a:solidFill>
              </a:rPr>
              <a:t>温室控制项目进度汇报</a:t>
            </a:r>
          </a:p>
        </p:txBody>
      </p:sp>
      <p:sp>
        <p:nvSpPr>
          <p:cNvPr id="6" name="slide-2-title">
            <a:extLst xmlns:a="http://schemas.openxmlformats.org/drawingml/2006/main">
              <a:ext uri="{FF2B5EF4-FFF2-40B4-BE49-F238E27FC236}">
                <a16:creationId xmlns:a16="http://schemas.microsoft.com/office/drawing/2014/main" id="{86F2C581-B305-432B-85AB-698AD0209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914400"/>
            <a:ext cx="166878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3525" b="1">
                <a:solidFill>
                  <a:srgbClr val="17352E"/>
                </a:solidFill>
              </a:defRPr>
            </a:pPr>
            <a:r>
              <a:rPr sz="3525" b="1">
                <a:solidFill>
                  <a:srgbClr val="17352E"/>
                </a:solidFill>
              </a:rPr>
              <a:t>研究目标：不是让 LLM 直接控温室，而是让它参与可验证决策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EEDB69-323D-4C58-9BEC-2B7047DE0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581150"/>
            <a:ext cx="76581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4000"/>
              </a:lnSpc>
              <a:buNone/>
              <a:defRPr sz="1800">
                <a:solidFill>
                  <a:srgbClr val="5E756F"/>
                </a:solidFill>
              </a:defRPr>
            </a:pPr>
            <a:r>
              <a:rPr sz="1800">
                <a:solidFill>
                  <a:srgbClr val="5E756F"/>
                </a:solidFill>
              </a:rPr>
              <a:t>当前方法定位为 LLM-guided Robust Setpoint Planning and Safe Rollout Control。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623F74-A165-4E8E-AF2B-5BBF8C352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535098"/>
            <a:ext cx="8210550" cy="16764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C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84AAA3C-21B4-4786-8D6D-9961793BB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743200"/>
            <a:ext cx="952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7D5B"/>
          </a:solidFill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A4414C5-1868-42A7-A37E-F595431F6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705100"/>
            <a:ext cx="75438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2000"/>
              </a:lnSpc>
              <a:buNone/>
              <a:defRPr sz="1725" b="1">
                <a:solidFill>
                  <a:srgbClr val="17352E"/>
                </a:solidFill>
              </a:defRPr>
            </a:pPr>
            <a:r>
              <a:rPr sz="1725" b="1">
                <a:solidFill>
                  <a:srgbClr val="17352E"/>
                </a:solidFill>
              </a:rPr>
              <a:t>安全约束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56F425C-E434-4CC6-A591-14DCCBA93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124200"/>
            <a:ext cx="77533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350">
                <a:solidFill>
                  <a:srgbClr val="5E756F"/>
                </a:solidFill>
              </a:defRPr>
            </a:pPr>
            <a:r>
              <a:rPr sz="1350">
                <a:solidFill>
                  <a:srgbClr val="5E756F"/>
                </a:solidFill>
              </a:rPr>
              <a:t>温度、RH、VPD、露点裕度和执行器冲突必须显式可诊断，而不是只靠 reward。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3715225-1F93-4088-BCD3-6B3BF99CC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535098"/>
            <a:ext cx="8210550" cy="16764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EEF6FB"/>
          </a:solidFill>
          <a:ln xmlns:a="http://schemas.openxmlformats.org/drawingml/2006/main" w="9525">
            <a:solidFill>
              <a:srgbClr val="C9D8C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A76B845-EAEB-40DE-A6C9-87B53D150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743200"/>
            <a:ext cx="952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6F9F"/>
          </a:solidFill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D665411-627B-4DB7-B22C-C96FB26A4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705100"/>
            <a:ext cx="75438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2000"/>
              </a:lnSpc>
              <a:buNone/>
              <a:defRPr sz="1725" b="1">
                <a:solidFill>
                  <a:srgbClr val="17352E"/>
                </a:solidFill>
              </a:defRPr>
            </a:pPr>
            <a:r>
              <a:rPr sz="1725" b="1">
                <a:solidFill>
                  <a:srgbClr val="17352E"/>
                </a:solidFill>
              </a:rPr>
              <a:t>经济目标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10156AA-8813-4357-B4E3-F67AF94C4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3124200"/>
            <a:ext cx="77533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350">
                <a:solidFill>
                  <a:srgbClr val="5E756F"/>
                </a:solidFill>
              </a:defRPr>
            </a:pPr>
            <a:r>
              <a:rPr sz="1350">
                <a:solidFill>
                  <a:srgbClr val="5E756F"/>
                </a:solidFill>
              </a:rPr>
              <a:t>降低加热、CO2、补光和无效 heat+vent 冲突，同时保持作物状态安全。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7F06AC6-69E5-4242-92DD-07EB1D343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025134"/>
            <a:ext cx="8210550" cy="16764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BF4E8"/>
          </a:solidFill>
          <a:ln xmlns:a="http://schemas.openxmlformats.org/drawingml/2006/main" w="9525">
            <a:solidFill>
              <a:srgbClr val="C9D8C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9F3EE25-CCE9-4A4A-83A4-5B2EB7154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248400"/>
            <a:ext cx="952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7791F"/>
          </a:solidFill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BE509B2-0B0A-4726-8848-0F71A3D53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6210300"/>
            <a:ext cx="75438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2000"/>
              </a:lnSpc>
              <a:buNone/>
              <a:defRPr sz="1725" b="1">
                <a:solidFill>
                  <a:srgbClr val="17352E"/>
                </a:solidFill>
              </a:defRPr>
            </a:pPr>
            <a:r>
              <a:rPr sz="1725" b="1">
                <a:solidFill>
                  <a:srgbClr val="17352E"/>
                </a:solidFill>
              </a:rPr>
              <a:t>可解释过程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926B923-2B0A-4D65-A961-0627F5125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610350"/>
            <a:ext cx="77533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350">
                <a:solidFill>
                  <a:srgbClr val="5E756F"/>
                </a:solidFill>
              </a:defRPr>
            </a:pPr>
            <a:r>
              <a:rPr sz="1350">
                <a:solidFill>
                  <a:srgbClr val="5E756F"/>
                </a:solidFill>
              </a:rPr>
              <a:t>保留状态分析、重规划原因、LLM 原始计划、合同修正、fallback 和 guardrail 记录。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16E072E-BB7B-47FA-BDD4-1325794D9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6025134"/>
            <a:ext cx="8210550" cy="16764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C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B3F9659-9E2B-4B11-A6B4-724E1C3F0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248400"/>
            <a:ext cx="952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7D5B"/>
          </a:solidFill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04816CF-BCB2-4260-8879-33D28775D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6210300"/>
            <a:ext cx="75438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2000"/>
              </a:lnSpc>
              <a:buNone/>
              <a:defRPr sz="1725" b="1">
                <a:solidFill>
                  <a:srgbClr val="17352E"/>
                </a:solidFill>
              </a:defRPr>
            </a:pPr>
            <a:r>
              <a:rPr sz="1725" b="1">
                <a:solidFill>
                  <a:srgbClr val="17352E"/>
                </a:solidFill>
              </a:rPr>
              <a:t>可复现实验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0B77495-CF27-4808-A198-680339EAD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6610350"/>
            <a:ext cx="77533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350">
                <a:solidFill>
                  <a:srgbClr val="5E756F"/>
                </a:solidFill>
              </a:defRPr>
            </a:pPr>
            <a:r>
              <a:rPr sz="1350">
                <a:solidFill>
                  <a:srgbClr val="5E756F"/>
                </a:solidFill>
              </a:rPr>
              <a:t>用 plan cache 冻结高层 LLM 计划，让 RSPC/HEM/MC-SERO 消融在同一计划下比较。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3661985-6650-42E4-BFFC-DD4BBC756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9544050"/>
            <a:ext cx="159829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2000"/>
              </a:lnSpc>
              <a:buNone/>
              <a:defRPr sz="975">
                <a:solidFill>
                  <a:srgbClr val="789089"/>
                </a:solidFill>
              </a:defRPr>
            </a:pPr>
            <a:r>
              <a:rPr sz="975">
                <a:solidFill>
                  <a:srgbClr val="789089"/>
                </a:solidFill>
              </a:rPr>
              <a:t>数据来源：项目文档与 frozen benchmark / sentinel gate 诊断输出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9570445-983D-440E-B7B9-5966DD4DC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83050" y="9544050"/>
            <a:ext cx="7048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lnSpc>
                <a:spcPct val="122000"/>
              </a:lnSpc>
              <a:buNone/>
              <a:defRPr sz="975">
                <a:solidFill>
                  <a:srgbClr val="789089"/>
                </a:solidFill>
              </a:defRPr>
            </a:pPr>
            <a:r>
              <a:rPr sz="975">
                <a:solidFill>
                  <a:srgbClr val="789089"/>
                </a:solidFill>
              </a:rPr>
              <a:t>2/12</a:t>
            </a:r>
          </a:p>
        </p:txBody>
      </p:sp>
    </p:spTree>
    <p:extLst>
      <p:ext uri="{BB962C8B-B14F-4D97-AF65-F5344CB8AC3E}">
        <p14:creationId xmlns:p14="http://schemas.microsoft.com/office/powerpoint/2010/main" val="222019420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1952519-F355-432B-92F2-80CBC8717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AF4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72B609-F244-4F41-9449-79E64994C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3815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8F2"/>
          </a:solidFill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645A9C-1AE1-42B7-B7E1-28DE93785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52450"/>
            <a:ext cx="5524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2000"/>
              </a:lnSpc>
              <a:buNone/>
              <a:defRPr sz="1425" b="1">
                <a:solidFill>
                  <a:srgbClr val="2E7D5B"/>
                </a:solidFill>
              </a:defRPr>
            </a:pPr>
            <a:r>
              <a:rPr sz="1425" b="1">
                <a:solidFill>
                  <a:srgbClr val="2E7D5B"/>
                </a:solidFill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6BCB85-4AAA-4BD8-9D0E-A9997F39C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666750"/>
            <a:ext cx="857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5B"/>
          </a:solidFill>
          <a:ln xmlns:a="http://schemas.openxmlformats.org/drawingml/2006/main" w="0">
            <a:solidFill>
              <a:srgbClr val="2E7D5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8A75CA-1D78-49AA-A548-24666C626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71500"/>
            <a:ext cx="152781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lnSpc>
                <a:spcPct val="122000"/>
              </a:lnSpc>
              <a:buNone/>
              <a:defRPr sz="1275">
                <a:solidFill>
                  <a:srgbClr val="5E756F"/>
                </a:solidFill>
              </a:defRPr>
            </a:pPr>
            <a:r>
              <a:rPr sz="1275">
                <a:solidFill>
                  <a:srgbClr val="5E756F"/>
                </a:solidFill>
              </a:rPr>
              <a:t>温室控制项目进度汇报</a:t>
            </a:r>
          </a:p>
        </p:txBody>
      </p:sp>
      <p:sp>
        <p:nvSpPr>
          <p:cNvPr id="6" name="slide-3-title">
            <a:extLst xmlns:a="http://schemas.openxmlformats.org/drawingml/2006/main">
              <a:ext uri="{FF2B5EF4-FFF2-40B4-BE49-F238E27FC236}">
                <a16:creationId xmlns:a16="http://schemas.microsoft.com/office/drawing/2014/main" id="{9B4B4A76-EAD1-4854-932E-E7BF968F9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914400"/>
            <a:ext cx="166878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3525" b="1">
                <a:solidFill>
                  <a:srgbClr val="17352E"/>
                </a:solidFill>
              </a:defRPr>
            </a:pPr>
            <a:r>
              <a:rPr sz="3525" b="1">
                <a:solidFill>
                  <a:srgbClr val="17352E"/>
                </a:solidFill>
              </a:rPr>
              <a:t>系统总流程：高层计划低频生成，底层控制每步安全滚动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DE5D82-0FD7-47CC-9A01-F7043440D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581150"/>
            <a:ext cx="821055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4000"/>
              </a:lnSpc>
              <a:buNone/>
              <a:defRPr sz="1800">
                <a:solidFill>
                  <a:srgbClr val="5E756F"/>
                </a:solidFill>
              </a:defRPr>
            </a:pPr>
            <a:r>
              <a:rPr sz="1800">
                <a:solidFill>
                  <a:srgbClr val="5E756F"/>
                </a:solidFill>
              </a:rPr>
              <a:t>整体闭环分为状态分析、LLM 规划、计划合同、候选动作、护栏过滤和环境执行。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D5DDD5F-06BB-4835-9739-39789E0EA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533650"/>
            <a:ext cx="5118100" cy="1352550"/>
          </a:xfrm>
          <a:prstGeom xmlns:a="http://schemas.openxmlformats.org/drawingml/2006/main" prst="roundRect">
            <a:avLst>
              <a:gd name="adj" fmla="val 12676"/>
            </a:avLst>
          </a:prstGeom>
          <a:solidFill xmlns:a="http://schemas.openxmlformats.org/drawingml/2006/main">
            <a:srgbClr val="DDEFE5"/>
          </a:solidFill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D43CAAD-A787-48CC-B2E8-60838B42C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705100"/>
            <a:ext cx="4000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A6CBF68-0239-4B2B-99D6-D22AA285E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705100"/>
            <a:ext cx="400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lnSpc>
                <a:spcPct val="122000"/>
              </a:lnSpc>
              <a:buNone/>
              <a:defRPr sz="1350" b="1">
                <a:solidFill>
                  <a:srgbClr val="2E7D5B"/>
                </a:solidFill>
              </a:defRPr>
            </a:pPr>
            <a:r>
              <a:rPr sz="1350" b="1">
                <a:solidFill>
                  <a:srgbClr val="2E7D5B"/>
                </a:solidFill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34F6F44-B3FE-48B6-BC53-5FB7B061A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705100"/>
            <a:ext cx="41719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2000"/>
              </a:lnSpc>
              <a:buNone/>
              <a:defRPr sz="1650" b="1">
                <a:solidFill>
                  <a:srgbClr val="17352E"/>
                </a:solidFill>
              </a:defRPr>
            </a:pPr>
            <a:r>
              <a:rPr sz="1650" b="1">
                <a:solidFill>
                  <a:srgbClr val="17352E"/>
                </a:solidFill>
              </a:rPr>
              <a:t>状态抓取与风险分析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A2B7ED8-D36F-49C8-B04E-F6324240A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086100"/>
            <a:ext cx="41719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6000"/>
              </a:lnSpc>
              <a:buNone/>
              <a:defRPr sz="1275">
                <a:solidFill>
                  <a:srgbClr val="5E756F"/>
                </a:solidFill>
              </a:defRPr>
            </a:pPr>
            <a:r>
              <a:rPr sz="1275">
                <a:solidFill>
                  <a:srgbClr val="5E756F"/>
                </a:solidFill>
              </a:rPr>
              <a:t>读取 T/RH/VPD/CO2/天气/作物状态，判断是否触发重规划。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D796707-A84D-41BD-82D8-82D1CBB91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971800"/>
            <a:ext cx="4000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lnSpc>
                <a:spcPct val="122000"/>
              </a:lnSpc>
              <a:buNone/>
              <a:defRPr sz="2625" b="1">
                <a:solidFill>
                  <a:srgbClr val="2E7D5B"/>
                </a:solidFill>
              </a:defRPr>
            </a:pPr>
            <a:r>
              <a:rPr sz="2625" b="1">
                <a:solidFill>
                  <a:srgbClr val="2E7D5B"/>
                </a:solidFill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830BAA3-FED3-4C5A-8A0F-43200A5E2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4950" y="2533650"/>
            <a:ext cx="5118100" cy="1352550"/>
          </a:xfrm>
          <a:prstGeom xmlns:a="http://schemas.openxmlformats.org/drawingml/2006/main" prst="roundRect">
            <a:avLst>
              <a:gd name="adj" fmla="val 12676"/>
            </a:avLst>
          </a:prstGeom>
          <a:solidFill xmlns:a="http://schemas.openxmlformats.org/drawingml/2006/main">
            <a:srgbClr val="D9EAF5"/>
          </a:solidFill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5C168B0-B34F-4394-9063-B247A4300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4500" y="2705100"/>
            <a:ext cx="4000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4CE869A-A2EA-46C3-B352-29647B6E4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705100"/>
            <a:ext cx="400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lnSpc>
                <a:spcPct val="122000"/>
              </a:lnSpc>
              <a:buNone/>
              <a:defRPr sz="1350" b="1">
                <a:solidFill>
                  <a:srgbClr val="2F6F9F"/>
                </a:solidFill>
              </a:defRPr>
            </a:pPr>
            <a:r>
              <a:rPr sz="1350" b="1">
                <a:solidFill>
                  <a:srgbClr val="2F6F9F"/>
                </a:solidFill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74EDFBF-E616-4B5E-AB95-23A511D2A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705100"/>
            <a:ext cx="41719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2000"/>
              </a:lnSpc>
              <a:buNone/>
              <a:defRPr sz="1650" b="1">
                <a:solidFill>
                  <a:srgbClr val="17352E"/>
                </a:solidFill>
              </a:defRPr>
            </a:pPr>
            <a:r>
              <a:rPr sz="1650" b="1">
                <a:solidFill>
                  <a:srgbClr val="17352E"/>
                </a:solidFill>
              </a:rPr>
              <a:t>LLM 高层规划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1BE7F6D-45E9-40DF-B4C5-2E0B2265E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086100"/>
            <a:ext cx="41719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6000"/>
              </a:lnSpc>
              <a:buNone/>
              <a:defRPr sz="1275">
                <a:solidFill>
                  <a:srgbClr val="5E756F"/>
                </a:solidFill>
              </a:defRPr>
            </a:pPr>
            <a:r>
              <a:rPr sz="1275">
                <a:solidFill>
                  <a:srgbClr val="5E756F"/>
                </a:solidFill>
              </a:rPr>
              <a:t>生成锚点动作、未来目标状态和短期策略意图。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DA41270-5625-4C11-B2AA-A16D421DA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30050" y="2971800"/>
            <a:ext cx="4000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lnSpc>
                <a:spcPct val="122000"/>
              </a:lnSpc>
              <a:buNone/>
              <a:defRPr sz="2625" b="1">
                <a:solidFill>
                  <a:srgbClr val="2E7D5B"/>
                </a:solidFill>
              </a:defRPr>
            </a:pPr>
            <a:r>
              <a:rPr sz="2625" b="1">
                <a:solidFill>
                  <a:srgbClr val="2E7D5B"/>
                </a:solidFill>
              </a:rPr>
              <a:t>→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E53F2E8-81E1-481C-B0E6-0EDE836FD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69800" y="2533650"/>
            <a:ext cx="5118100" cy="1352550"/>
          </a:xfrm>
          <a:prstGeom xmlns:a="http://schemas.openxmlformats.org/drawingml/2006/main" prst="roundRect">
            <a:avLst>
              <a:gd name="adj" fmla="val 12676"/>
            </a:avLst>
          </a:prstGeom>
          <a:solidFill xmlns:a="http://schemas.openxmlformats.org/drawingml/2006/main">
            <a:srgbClr val="F4E2BD"/>
          </a:solidFill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E6F9F12-65BC-4C01-97D6-3575A8F94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9350" y="2705100"/>
            <a:ext cx="4000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9D8B6F3-8BEB-46A6-8917-E351E6144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0" y="2705100"/>
            <a:ext cx="400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lnSpc>
                <a:spcPct val="122000"/>
              </a:lnSpc>
              <a:buNone/>
              <a:defRPr sz="1350" b="1">
                <a:solidFill>
                  <a:srgbClr val="B7791F"/>
                </a:solidFill>
              </a:defRPr>
            </a:pPr>
            <a:r>
              <a:rPr sz="1350" b="1">
                <a:solidFill>
                  <a:srgbClr val="B7791F"/>
                </a:solidFill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6CB2EC4-E91D-4F2F-A986-E5A82355A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06400" y="2705100"/>
            <a:ext cx="41719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2000"/>
              </a:lnSpc>
              <a:buNone/>
              <a:defRPr sz="1650" b="1">
                <a:solidFill>
                  <a:srgbClr val="17352E"/>
                </a:solidFill>
              </a:defRPr>
            </a:pPr>
            <a:r>
              <a:rPr sz="1650" b="1">
                <a:solidFill>
                  <a:srgbClr val="17352E"/>
                </a:solidFill>
              </a:rPr>
              <a:t>Setpoint Contract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DCAA2B4-1F6D-4C9D-8067-0E1290487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06400" y="3086100"/>
            <a:ext cx="41719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6000"/>
              </a:lnSpc>
              <a:buNone/>
              <a:defRPr sz="1275">
                <a:solidFill>
                  <a:srgbClr val="5E756F"/>
                </a:solidFill>
              </a:defRPr>
            </a:pPr>
            <a:r>
              <a:rPr sz="1275">
                <a:solidFill>
                  <a:srgbClr val="5E756F"/>
                </a:solidFill>
              </a:rPr>
              <a:t>补齐/裁剪目标温室状态，保证目标轨迹可执行。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F569FEF-DA33-4281-B202-1E39FDB51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133850"/>
            <a:ext cx="5118100" cy="1352550"/>
          </a:xfrm>
          <a:prstGeom xmlns:a="http://schemas.openxmlformats.org/drawingml/2006/main" prst="roundRect">
            <a:avLst>
              <a:gd name="adj" fmla="val 12676"/>
            </a:avLst>
          </a:prstGeom>
          <a:solidFill xmlns:a="http://schemas.openxmlformats.org/drawingml/2006/main">
            <a:srgbClr val="D9EAF5"/>
          </a:solidFill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9BE7E62-8A56-48CA-BFB4-1FDA097F7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305300"/>
            <a:ext cx="4000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8FE1801-442B-49AC-9F4C-845BF5083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305300"/>
            <a:ext cx="400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lnSpc>
                <a:spcPct val="122000"/>
              </a:lnSpc>
              <a:buNone/>
              <a:defRPr sz="1350" b="1">
                <a:solidFill>
                  <a:srgbClr val="2F6F9F"/>
                </a:solidFill>
              </a:defRPr>
            </a:pPr>
            <a:r>
              <a:rPr sz="1350" b="1">
                <a:solidFill>
                  <a:srgbClr val="2F6F9F"/>
                </a:solidFill>
              </a:rPr>
              <a:t>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C88A7D6-A65F-430F-8410-369EBAA03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305300"/>
            <a:ext cx="41719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2000"/>
              </a:lnSpc>
              <a:buNone/>
              <a:defRPr sz="1650" b="1">
                <a:solidFill>
                  <a:srgbClr val="17352E"/>
                </a:solidFill>
              </a:defRPr>
            </a:pPr>
            <a:r>
              <a:rPr sz="1650" b="1">
                <a:solidFill>
                  <a:srgbClr val="17352E"/>
                </a:solidFill>
              </a:rPr>
              <a:t>RSPC Rollout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75F1418-B7AA-455C-83A1-7A0D184D7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686300"/>
            <a:ext cx="41719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6000"/>
              </a:lnSpc>
              <a:buNone/>
              <a:defRPr sz="1275">
                <a:solidFill>
                  <a:srgbClr val="5E756F"/>
                </a:solidFill>
              </a:defRPr>
            </a:pPr>
            <a:r>
              <a:rPr sz="1275">
                <a:solidFill>
                  <a:srgbClr val="5E756F"/>
                </a:solidFill>
              </a:rPr>
              <a:t>读取计划，与锚点动作加权，误差修正后生成候选控制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C54B07E-D3FB-43BA-8ACC-D9FDA8BF5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4572000"/>
            <a:ext cx="4000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lnSpc>
                <a:spcPct val="122000"/>
              </a:lnSpc>
              <a:buNone/>
              <a:defRPr sz="2625" b="1">
                <a:solidFill>
                  <a:srgbClr val="2E7D5B"/>
                </a:solidFill>
              </a:defRPr>
            </a:pPr>
            <a:r>
              <a:rPr sz="2625" b="1">
                <a:solidFill>
                  <a:srgbClr val="2E7D5B"/>
                </a:solidFill>
              </a:rPr>
              <a:t>→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E47A2A5-63FB-411B-8B7C-2CD65D81B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4950" y="4133850"/>
            <a:ext cx="5118100" cy="1352550"/>
          </a:xfrm>
          <a:prstGeom xmlns:a="http://schemas.openxmlformats.org/drawingml/2006/main" prst="roundRect">
            <a:avLst>
              <a:gd name="adj" fmla="val 12676"/>
            </a:avLst>
          </a:prstGeom>
          <a:solidFill xmlns:a="http://schemas.openxmlformats.org/drawingml/2006/main">
            <a:srgbClr val="F2D8D5"/>
          </a:solidFill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551A63F-6BFB-4CF8-A148-0B8429DD0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4500" y="4305300"/>
            <a:ext cx="4000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1B818F7-C6A7-4641-8611-B7369F760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305300"/>
            <a:ext cx="400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lnSpc>
                <a:spcPct val="122000"/>
              </a:lnSpc>
              <a:buNone/>
              <a:defRPr sz="1350" b="1">
                <a:solidFill>
                  <a:srgbClr val="B4443F"/>
                </a:solidFill>
              </a:defRPr>
            </a:pPr>
            <a:r>
              <a:rPr sz="1350" b="1">
                <a:solidFill>
                  <a:srgbClr val="B4443F"/>
                </a:solidFill>
              </a:rPr>
              <a:t>5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286B5F9-68D8-4BC3-AAEA-78D94C7DC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305300"/>
            <a:ext cx="41719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2000"/>
              </a:lnSpc>
              <a:buNone/>
              <a:defRPr sz="1650" b="1">
                <a:solidFill>
                  <a:srgbClr val="17352E"/>
                </a:solidFill>
              </a:defRPr>
            </a:pPr>
            <a:r>
              <a:rPr sz="1650" b="1">
                <a:solidFill>
                  <a:srgbClr val="17352E"/>
                </a:solidFill>
              </a:rPr>
              <a:t>Fallback + Guardrail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59A7BB8-5C8B-4518-8E49-FAD22CE58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686300"/>
            <a:ext cx="41719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6000"/>
              </a:lnSpc>
              <a:buNone/>
              <a:defRPr sz="1275">
                <a:solidFill>
                  <a:srgbClr val="5E756F"/>
                </a:solidFill>
              </a:defRPr>
            </a:pPr>
            <a:r>
              <a:rPr sz="1275">
                <a:solidFill>
                  <a:srgbClr val="5E756F"/>
                </a:solidFill>
              </a:rPr>
              <a:t>动作失败或风险升高时回退；最终经过规则护栏过滤。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7B1DAF3-C41E-4255-8779-83A1F18CE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30050" y="4572000"/>
            <a:ext cx="4000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lnSpc>
                <a:spcPct val="122000"/>
              </a:lnSpc>
              <a:buNone/>
              <a:defRPr sz="2625" b="1">
                <a:solidFill>
                  <a:srgbClr val="2E7D5B"/>
                </a:solidFill>
              </a:defRPr>
            </a:pPr>
            <a:r>
              <a:rPr sz="2625" b="1">
                <a:solidFill>
                  <a:srgbClr val="2E7D5B"/>
                </a:solidFill>
              </a:rPr>
              <a:t>→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4FEB982-BB99-439D-B9E8-30B8DC85D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69800" y="4133850"/>
            <a:ext cx="5118100" cy="1352550"/>
          </a:xfrm>
          <a:prstGeom xmlns:a="http://schemas.openxmlformats.org/drawingml/2006/main" prst="roundRect">
            <a:avLst>
              <a:gd name="adj" fmla="val 12676"/>
            </a:avLst>
          </a:prstGeom>
          <a:solidFill xmlns:a="http://schemas.openxmlformats.org/drawingml/2006/main">
            <a:srgbClr val="DDEFE5"/>
          </a:solidFill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5AACE88-FBF0-4E2F-A89C-215EB1B9C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9350" y="4305300"/>
            <a:ext cx="4000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8DB84B7-D980-491F-8420-81DA7FAAE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0" y="4305300"/>
            <a:ext cx="400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lnSpc>
                <a:spcPct val="122000"/>
              </a:lnSpc>
              <a:buNone/>
              <a:defRPr sz="1350" b="1">
                <a:solidFill>
                  <a:srgbClr val="2E7D5B"/>
                </a:solidFill>
              </a:defRPr>
            </a:pPr>
            <a:r>
              <a:rPr sz="1350" b="1">
                <a:solidFill>
                  <a:srgbClr val="2E7D5B"/>
                </a:solidFill>
              </a:rPr>
              <a:t>6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6A6C83E-26F4-42DA-AFEF-00B4C563D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06400" y="4305300"/>
            <a:ext cx="41719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2000"/>
              </a:lnSpc>
              <a:buNone/>
              <a:defRPr sz="1650" b="1">
                <a:solidFill>
                  <a:srgbClr val="17352E"/>
                </a:solidFill>
              </a:defRPr>
            </a:pPr>
            <a:r>
              <a:rPr sz="1650" b="1">
                <a:solidFill>
                  <a:srgbClr val="17352E"/>
                </a:solidFill>
              </a:rPr>
              <a:t>执行与记录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6172CEF-D8E0-45E3-AEA7-788405BB4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06400" y="4686300"/>
            <a:ext cx="41719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6000"/>
              </a:lnSpc>
              <a:buNone/>
              <a:defRPr sz="1275">
                <a:solidFill>
                  <a:srgbClr val="5E756F"/>
                </a:solidFill>
              </a:defRPr>
            </a:pPr>
            <a:r>
              <a:rPr sz="1275">
                <a:solidFill>
                  <a:srgbClr val="5E756F"/>
                </a:solidFill>
              </a:rPr>
              <a:t>输出本步动作，记录 source、reward、violation 和诊断字段。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26F1F2A-9C3A-456D-8868-29670E6D7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735498"/>
            <a:ext cx="16687800" cy="653415"/>
          </a:xfrm>
          <a:prstGeom xmlns:a="http://schemas.openxmlformats.org/drawingml/2006/main" prst="roundRect">
            <a:avLst>
              <a:gd name="adj" fmla="val 233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CF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7AC7BAA-4EF0-4DCC-8BA9-F7E95EB4C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886450"/>
            <a:ext cx="162306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lnSpc>
                <a:spcPct val="122000"/>
              </a:lnSpc>
              <a:buNone/>
              <a:defRPr sz="1875" b="1">
                <a:solidFill>
                  <a:srgbClr val="17352E"/>
                </a:solidFill>
              </a:defRPr>
            </a:pPr>
            <a:r>
              <a:rPr sz="1875" b="1">
                <a:solidFill>
                  <a:srgbClr val="17352E"/>
                </a:solidFill>
              </a:rPr>
              <a:t>关键理解：LLM 负责“方向和目标”，RSPC/guardrail 负责“每一步能不能安全执行”。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9B5C16C-1627-43AC-B1B0-6E9BE6AE7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9544050"/>
            <a:ext cx="159829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2000"/>
              </a:lnSpc>
              <a:buNone/>
              <a:defRPr sz="975">
                <a:solidFill>
                  <a:srgbClr val="789089"/>
                </a:solidFill>
              </a:defRPr>
            </a:pPr>
            <a:r>
              <a:rPr sz="975">
                <a:solidFill>
                  <a:srgbClr val="789089"/>
                </a:solidFill>
              </a:rPr>
              <a:t>数据来源：项目文档与 frozen benchmark / sentinel gate 诊断输出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BF6003A-FFA4-4BC1-9C7D-C71C399D3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83050" y="9544050"/>
            <a:ext cx="7048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lnSpc>
                <a:spcPct val="122000"/>
              </a:lnSpc>
              <a:buNone/>
              <a:defRPr sz="975">
                <a:solidFill>
                  <a:srgbClr val="789089"/>
                </a:solidFill>
              </a:defRPr>
            </a:pPr>
            <a:r>
              <a:rPr sz="975">
                <a:solidFill>
                  <a:srgbClr val="789089"/>
                </a:solidFill>
              </a:rPr>
              <a:t>3/12</a:t>
            </a:r>
          </a:p>
        </p:txBody>
      </p:sp>
    </p:spTree>
    <p:extLst>
      <p:ext uri="{BB962C8B-B14F-4D97-AF65-F5344CB8AC3E}">
        <p14:creationId xmlns:p14="http://schemas.microsoft.com/office/powerpoint/2010/main" val="354604907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BD6B2B9-1C6C-4C28-B213-A1E996BC2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AF4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845AB7-B3D9-47A8-A9F2-E39AAC0C0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3815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7F0"/>
          </a:solidFill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740E3C-AB26-44C0-AEBC-5F0AB95F8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52450"/>
            <a:ext cx="5524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2000"/>
              </a:lnSpc>
              <a:buNone/>
              <a:defRPr sz="1425" b="1">
                <a:solidFill>
                  <a:srgbClr val="2E7D5B"/>
                </a:solidFill>
              </a:defRPr>
            </a:pPr>
            <a:r>
              <a:rPr sz="1425" b="1">
                <a:solidFill>
                  <a:srgbClr val="2E7D5B"/>
                </a:solidFill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64D4F7-6718-45A4-BE28-7CD6FCB4F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666750"/>
            <a:ext cx="857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5B"/>
          </a:solidFill>
          <a:ln xmlns:a="http://schemas.openxmlformats.org/drawingml/2006/main" w="0">
            <a:solidFill>
              <a:srgbClr val="2E7D5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070F41-D063-49F2-8BE6-66E368134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71500"/>
            <a:ext cx="152781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lnSpc>
                <a:spcPct val="122000"/>
              </a:lnSpc>
              <a:buNone/>
              <a:defRPr sz="1275">
                <a:solidFill>
                  <a:srgbClr val="5E756F"/>
                </a:solidFill>
              </a:defRPr>
            </a:pPr>
            <a:r>
              <a:rPr sz="1275">
                <a:solidFill>
                  <a:srgbClr val="5E756F"/>
                </a:solidFill>
              </a:rPr>
              <a:t>温室控制项目进度汇报</a:t>
            </a:r>
          </a:p>
        </p:txBody>
      </p:sp>
      <p:sp>
        <p:nvSpPr>
          <p:cNvPr id="6" name="slide-4-title">
            <a:extLst xmlns:a="http://schemas.openxmlformats.org/drawingml/2006/main">
              <a:ext uri="{FF2B5EF4-FFF2-40B4-BE49-F238E27FC236}">
                <a16:creationId xmlns:a16="http://schemas.microsoft.com/office/drawing/2014/main" id="{1F88BCBB-B0F2-4537-8E28-ED45A208B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914400"/>
            <a:ext cx="166878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3525" b="1">
                <a:solidFill>
                  <a:srgbClr val="17352E"/>
                </a:solidFill>
              </a:defRPr>
            </a:pPr>
            <a:r>
              <a:rPr sz="3525" b="1">
                <a:solidFill>
                  <a:srgbClr val="17352E"/>
                </a:solidFill>
              </a:rPr>
              <a:t>当前控制架构：主控制器稳定，增强层默认关闭或诊断运行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27BF1B-92AD-4EA7-9A2E-4F7CEB7F4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581150"/>
            <a:ext cx="76771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4000"/>
              </a:lnSpc>
              <a:buNone/>
              <a:defRPr sz="1800">
                <a:solidFill>
                  <a:srgbClr val="5E756F"/>
                </a:solidFill>
              </a:defRPr>
            </a:pPr>
            <a:r>
              <a:rPr sz="1800">
                <a:solidFill>
                  <a:srgbClr val="5E756F"/>
                </a:solidFill>
              </a:rPr>
              <a:t>避免把尚未验证稳定的增强模块直接写入 baseline，所有模块都有明确边界。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CEB3D4-C5A4-4923-94FC-8D104EB89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94941"/>
            <a:ext cx="5313164" cy="16764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EEF6FB"/>
          </a:solidFill>
          <a:ln xmlns:a="http://schemas.openxmlformats.org/drawingml/2006/main" w="9525">
            <a:solidFill>
              <a:srgbClr val="C9D8C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A634FBC-A97E-403A-9CE8-5DE1F71EB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400300"/>
            <a:ext cx="952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6F9F"/>
          </a:solidFill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8E22DC3-1F16-4003-9698-CE4BCEA63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381250"/>
            <a:ext cx="46482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2000"/>
              </a:lnSpc>
              <a:buNone/>
              <a:defRPr sz="1725" b="1">
                <a:solidFill>
                  <a:srgbClr val="17352E"/>
                </a:solidFill>
              </a:defRPr>
            </a:pPr>
            <a:r>
              <a:rPr sz="1725" b="1">
                <a:solidFill>
                  <a:srgbClr val="17352E"/>
                </a:solidFill>
              </a:rPr>
              <a:t>PPO 诊断镜子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64C9DCE-B0AC-499B-B15A-558156281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781300"/>
            <a:ext cx="48577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350">
                <a:solidFill>
                  <a:srgbClr val="5E756F"/>
                </a:solidFill>
              </a:defRPr>
            </a:pPr>
            <a:r>
              <a:rPr sz="1350">
                <a:solidFill>
                  <a:srgbClr val="5E756F"/>
                </a:solidFill>
              </a:rPr>
              <a:t>用于观察 RL 在相同场景下的动作倾向；当前 PPO 不是最终强教师。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DDC7DB2-334E-4380-AF1D-96A161E30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0914" y="2194941"/>
            <a:ext cx="5566172" cy="16764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C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C6E93C4-651A-48DB-B57A-5020B6C20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400300"/>
            <a:ext cx="952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7D5B"/>
          </a:solidFill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8D1297C-08D8-4851-A051-2A79D6696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381250"/>
            <a:ext cx="48958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2000"/>
              </a:lnSpc>
              <a:buNone/>
              <a:defRPr sz="1725" b="1">
                <a:solidFill>
                  <a:srgbClr val="17352E"/>
                </a:solidFill>
              </a:defRPr>
            </a:pPr>
            <a:r>
              <a:rPr sz="1725" b="1">
                <a:solidFill>
                  <a:srgbClr val="17352E"/>
                </a:solidFill>
              </a:rPr>
              <a:t>LLM-RSPC 主控制器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5EB18E3-0E4C-4197-8638-8E004F921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781300"/>
            <a:ext cx="51054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350">
                <a:solidFill>
                  <a:srgbClr val="5E756F"/>
                </a:solidFill>
              </a:defRPr>
            </a:pPr>
            <a:r>
              <a:rPr sz="1350">
                <a:solidFill>
                  <a:srgbClr val="5E756F"/>
                </a:solidFill>
              </a:rPr>
              <a:t>LLM 生成 reference plan；RSPC 进行加权 rollout、误差修正和 fallback。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E6615E3-2E05-40AB-9107-340B4BD3C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4736" y="2194941"/>
            <a:ext cx="5313164" cy="16764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BF4E8"/>
          </a:solidFill>
          <a:ln xmlns:a="http://schemas.openxmlformats.org/drawingml/2006/main" w="9525">
            <a:solidFill>
              <a:srgbClr val="C9D8C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83B06FA-E96A-4FFC-90B2-10478C4C8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20600" y="2400300"/>
            <a:ext cx="952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7791F"/>
          </a:solidFill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B5BEA65-4A80-4EFC-8E4A-D0179C792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11100" y="2381250"/>
            <a:ext cx="46482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2000"/>
              </a:lnSpc>
              <a:buNone/>
              <a:defRPr sz="1725" b="1">
                <a:solidFill>
                  <a:srgbClr val="17352E"/>
                </a:solidFill>
              </a:defRPr>
            </a:pPr>
            <a:r>
              <a:rPr sz="1725" b="1">
                <a:solidFill>
                  <a:srgbClr val="17352E"/>
                </a:solidFill>
              </a:rPr>
              <a:t>HEM 经验库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212C1F8-1D94-439D-8EC1-1EF4F008F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01550" y="2781300"/>
            <a:ext cx="48577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350">
                <a:solidFill>
                  <a:srgbClr val="5E756F"/>
                </a:solidFill>
              </a:defRPr>
            </a:pPr>
            <a:r>
              <a:rPr sz="1350">
                <a:solidFill>
                  <a:srgbClr val="5E756F"/>
                </a:solidFill>
              </a:rPr>
              <a:t>从 paired rollout 中挖掘湿度经济经验；当前收益叙事暂停。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E33803B-60D6-47D5-8057-83CAB3E40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845531"/>
            <a:ext cx="5313164" cy="16764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EEF6FB"/>
          </a:solidFill>
          <a:ln xmlns:a="http://schemas.openxmlformats.org/drawingml/2006/main" w="9525">
            <a:solidFill>
              <a:srgbClr val="C9D8C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6D36E59-1F01-4E6B-A131-C47890618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057900"/>
            <a:ext cx="952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6F9F"/>
          </a:solidFill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C755946-FED0-4752-991B-E2037E088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6019800"/>
            <a:ext cx="46482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2000"/>
              </a:lnSpc>
              <a:buNone/>
              <a:defRPr sz="1725" b="1">
                <a:solidFill>
                  <a:srgbClr val="17352E"/>
                </a:solidFill>
              </a:defRPr>
            </a:pPr>
            <a:r>
              <a:rPr sz="1725" b="1">
                <a:solidFill>
                  <a:srgbClr val="17352E"/>
                </a:solidFill>
              </a:rPr>
              <a:t>Plan Cache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F131AC4-D527-453E-8F9D-B1446ED81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438900"/>
            <a:ext cx="48577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350">
                <a:solidFill>
                  <a:srgbClr val="5E756F"/>
                </a:solidFill>
              </a:defRPr>
            </a:pPr>
            <a:r>
              <a:rPr sz="1350">
                <a:solidFill>
                  <a:srgbClr val="5E756F"/>
                </a:solidFill>
              </a:rPr>
              <a:t>record/replay/refresh 三种模式冻结 LLM 计划，减少 API 随机性污染实验。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732CAA4-8C8B-4DDE-8B75-D86B4C8D2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0914" y="5845531"/>
            <a:ext cx="5566172" cy="16764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C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854A667-96BB-44DF-AF42-ECDC5C978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6057900"/>
            <a:ext cx="952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7D5B"/>
          </a:solidFill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82C1886-660C-4624-A5F3-86CB784F9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6019800"/>
            <a:ext cx="48958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2000"/>
              </a:lnSpc>
              <a:buNone/>
              <a:defRPr sz="1725" b="1">
                <a:solidFill>
                  <a:srgbClr val="17352E"/>
                </a:solidFill>
              </a:defRPr>
            </a:pPr>
            <a:r>
              <a:rPr sz="1725" b="1">
                <a:solidFill>
                  <a:srgbClr val="17352E"/>
                </a:solidFill>
              </a:rPr>
              <a:t>MC-SERO Shadow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70BBA32-7892-4DB4-934B-5A3F5275D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6438900"/>
            <a:ext cx="51054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350">
                <a:solidFill>
                  <a:srgbClr val="5E756F"/>
                </a:solidFill>
              </a:defRPr>
            </a:pPr>
            <a:r>
              <a:rPr sz="1350">
                <a:solidFill>
                  <a:srgbClr val="5E756F"/>
                </a:solidFill>
              </a:rPr>
              <a:t>后台生成机制候选和风险经济评分，只记录 would-select，不接管动作。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935449E-F29D-4E84-9314-5C35DDC17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4736" y="5845531"/>
            <a:ext cx="5313164" cy="16764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BEEEE"/>
          </a:solidFill>
          <a:ln xmlns:a="http://schemas.openxmlformats.org/drawingml/2006/main" w="9525">
            <a:solidFill>
              <a:srgbClr val="C9D8C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1265263-A337-4882-9E08-BADF2375B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20600" y="6057900"/>
            <a:ext cx="952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4443F"/>
          </a:solidFill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97ADE54-0402-4171-9674-1B06F3804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11100" y="6019800"/>
            <a:ext cx="46482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2000"/>
              </a:lnSpc>
              <a:buNone/>
              <a:defRPr sz="1725" b="1">
                <a:solidFill>
                  <a:srgbClr val="17352E"/>
                </a:solidFill>
              </a:defRPr>
            </a:pPr>
            <a:r>
              <a:rPr sz="1725" b="1">
                <a:solidFill>
                  <a:srgbClr val="17352E"/>
                </a:solidFill>
              </a:rPr>
              <a:t>Tomato Safety v2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EA7BD05-FC4E-4430-ABEB-DBA05F32C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01550" y="6438900"/>
            <a:ext cx="48577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350">
                <a:solidFill>
                  <a:srgbClr val="5E756F"/>
                </a:solidFill>
              </a:defRPr>
            </a:pPr>
            <a:r>
              <a:rPr sz="1350">
                <a:solidFill>
                  <a:srgbClr val="5E756F"/>
                </a:solidFill>
              </a:rPr>
              <a:t>默认关闭的番茄机理护栏，针对低 RH、高 VPD、冷恢复做 opt-in 验证。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F0F840C-86DA-4483-B36D-FFF03607F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9544050"/>
            <a:ext cx="159829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2000"/>
              </a:lnSpc>
              <a:buNone/>
              <a:defRPr sz="975">
                <a:solidFill>
                  <a:srgbClr val="789089"/>
                </a:solidFill>
              </a:defRPr>
            </a:pPr>
            <a:r>
              <a:rPr sz="975">
                <a:solidFill>
                  <a:srgbClr val="789089"/>
                </a:solidFill>
              </a:rPr>
              <a:t>数据来源：项目文档与 frozen benchmark / sentinel gate 诊断输出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40CB634-6603-4D3A-AFB6-87A972953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83050" y="9544050"/>
            <a:ext cx="7048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lnSpc>
                <a:spcPct val="122000"/>
              </a:lnSpc>
              <a:buNone/>
              <a:defRPr sz="975">
                <a:solidFill>
                  <a:srgbClr val="789089"/>
                </a:solidFill>
              </a:defRPr>
            </a:pPr>
            <a:r>
              <a:rPr sz="975">
                <a:solidFill>
                  <a:srgbClr val="789089"/>
                </a:solidFill>
              </a:rPr>
              <a:t>4/12</a:t>
            </a:r>
          </a:p>
        </p:txBody>
      </p:sp>
    </p:spTree>
    <p:extLst>
      <p:ext uri="{BB962C8B-B14F-4D97-AF65-F5344CB8AC3E}">
        <p14:creationId xmlns:p14="http://schemas.microsoft.com/office/powerpoint/2010/main" val="1742002686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46C992F-C78B-4EA3-9711-D0A1A3D84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AF4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19D831-BFD9-4FDF-8963-350321F99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3815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8F2"/>
          </a:solidFill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0A5FDF-EF0A-41FE-A93F-5132D7900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52450"/>
            <a:ext cx="5524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2000"/>
              </a:lnSpc>
              <a:buNone/>
              <a:defRPr sz="1425" b="1">
                <a:solidFill>
                  <a:srgbClr val="2E7D5B"/>
                </a:solidFill>
              </a:defRPr>
            </a:pPr>
            <a:r>
              <a:rPr sz="1425" b="1">
                <a:solidFill>
                  <a:srgbClr val="2E7D5B"/>
                </a:solidFill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FCA74B-24C6-4642-B0B6-557F28C73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666750"/>
            <a:ext cx="857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5B"/>
          </a:solidFill>
          <a:ln xmlns:a="http://schemas.openxmlformats.org/drawingml/2006/main" w="0">
            <a:solidFill>
              <a:srgbClr val="2E7D5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15EBF5-BE3C-4C57-9DB6-60A4FBF01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71500"/>
            <a:ext cx="152781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lnSpc>
                <a:spcPct val="122000"/>
              </a:lnSpc>
              <a:buNone/>
              <a:defRPr sz="1275">
                <a:solidFill>
                  <a:srgbClr val="5E756F"/>
                </a:solidFill>
              </a:defRPr>
            </a:pPr>
            <a:r>
              <a:rPr sz="1275">
                <a:solidFill>
                  <a:srgbClr val="5E756F"/>
                </a:solidFill>
              </a:rPr>
              <a:t>温室控制项目进度汇报</a:t>
            </a:r>
          </a:p>
        </p:txBody>
      </p:sp>
      <p:sp>
        <p:nvSpPr>
          <p:cNvPr id="6" name="slide-5-title">
            <a:extLst xmlns:a="http://schemas.openxmlformats.org/drawingml/2006/main">
              <a:ext uri="{FF2B5EF4-FFF2-40B4-BE49-F238E27FC236}">
                <a16:creationId xmlns:a16="http://schemas.microsoft.com/office/drawing/2014/main" id="{2AF6C2C6-CCEC-4EAF-BA24-1A4CD4874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914400"/>
            <a:ext cx="166878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3525" b="1">
                <a:solidFill>
                  <a:srgbClr val="17352E"/>
                </a:solidFill>
              </a:defRPr>
            </a:pPr>
            <a:r>
              <a:rPr sz="3525" b="1">
                <a:solidFill>
                  <a:srgbClr val="17352E"/>
                </a:solidFill>
              </a:rPr>
              <a:t>LLM-RSPC 细节：计划、候选、护栏三层把 LLM 输出变成可执行动作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41E22AB-C44C-495A-B635-575C0093B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581150"/>
            <a:ext cx="752475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4000"/>
              </a:lnSpc>
              <a:buNone/>
              <a:defRPr sz="1800">
                <a:solidFill>
                  <a:srgbClr val="5E756F"/>
                </a:solidFill>
              </a:defRPr>
            </a:pPr>
            <a:r>
              <a:rPr sz="1800">
                <a:solidFill>
                  <a:srgbClr val="5E756F"/>
                </a:solidFill>
              </a:rPr>
              <a:t>一条动作不是直接来自 LLM，而是经过合同、候选池和安全过滤逐层收紧。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FA1945-0D26-48B4-BEC2-A382697E5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535098"/>
            <a:ext cx="5397500" cy="6751472"/>
          </a:xfrm>
          <a:prstGeom xmlns:a="http://schemas.openxmlformats.org/drawingml/2006/main" prst="roundRect">
            <a:avLst>
              <a:gd name="adj" fmla="val 317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C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E422FB6-83AA-41A9-91E6-A1E4F8709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82748"/>
            <a:ext cx="1143000" cy="389458"/>
          </a:xfrm>
          <a:prstGeom xmlns:a="http://schemas.openxmlformats.org/drawingml/2006/main" prst="roundRect">
            <a:avLst>
              <a:gd name="adj" fmla="val 44023"/>
            </a:avLst>
          </a:prstGeom>
          <a:solidFill xmlns:a="http://schemas.openxmlformats.org/drawingml/2006/main">
            <a:srgbClr val="D9EAF5"/>
          </a:solidFill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B0B1F5D-6D10-4D00-90C1-F95022E45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857500"/>
            <a:ext cx="8001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lnSpc>
                <a:spcPct val="122000"/>
              </a:lnSpc>
              <a:buNone/>
              <a:defRPr sz="1275" b="1">
                <a:solidFill>
                  <a:srgbClr val="2F6F9F"/>
                </a:solidFill>
              </a:defRPr>
            </a:pPr>
            <a:r>
              <a:rPr sz="1275" b="1">
                <a:solidFill>
                  <a:srgbClr val="2F6F9F"/>
                </a:solidFill>
              </a:rPr>
              <a:t>高层规划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7D987FC-ABA7-48C4-9C1D-DA3A77ACF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352800"/>
            <a:ext cx="489585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2000"/>
              </a:lnSpc>
              <a:buNone/>
              <a:defRPr sz="2325" b="1">
                <a:solidFill>
                  <a:srgbClr val="17352E"/>
                </a:solidFill>
              </a:defRPr>
            </a:pPr>
            <a:r>
              <a:rPr sz="2325" b="1">
                <a:solidFill>
                  <a:srgbClr val="17352E"/>
                </a:solidFill>
              </a:rPr>
              <a:t>LLM 输出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BB71214-4120-4FFC-AD7C-9E5F45FE5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943350"/>
            <a:ext cx="2095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2000"/>
              </a:lnSpc>
              <a:buNone/>
              <a:defRPr sz="1800" b="1">
                <a:solidFill>
                  <a:srgbClr val="2E7D5B"/>
                </a:solidFill>
              </a:defRPr>
            </a:pPr>
            <a:r>
              <a:rPr sz="1800" b="1">
                <a:solidFill>
                  <a:srgbClr val="2E7D5B"/>
                </a:solidFill>
              </a:rPr>
              <a:t>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DA306DB-DD34-4CA0-A410-67299FEB9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943350"/>
            <a:ext cx="45529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500">
                <a:solidFill>
                  <a:srgbClr val="17352E"/>
                </a:solidFill>
              </a:defRPr>
            </a:pPr>
            <a:r>
              <a:rPr sz="1500">
                <a:solidFill>
                  <a:srgbClr val="17352E"/>
                </a:solidFill>
              </a:rPr>
              <a:t>锚点动作 anchor action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840D38D-DB00-4C57-B559-D232B60F2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419600"/>
            <a:ext cx="2095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2000"/>
              </a:lnSpc>
              <a:buNone/>
              <a:defRPr sz="1800" b="1">
                <a:solidFill>
                  <a:srgbClr val="2E7D5B"/>
                </a:solidFill>
              </a:defRPr>
            </a:pPr>
            <a:r>
              <a:rPr sz="1800" b="1">
                <a:solidFill>
                  <a:srgbClr val="2E7D5B"/>
                </a:solidFill>
              </a:rPr>
              <a:t>•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AED25DD-9AFF-4761-8B59-BEF455D1D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419600"/>
            <a:ext cx="45529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500">
                <a:solidFill>
                  <a:srgbClr val="17352E"/>
                </a:solidFill>
              </a:defRPr>
            </a:pPr>
            <a:r>
              <a:rPr sz="1500">
                <a:solidFill>
                  <a:srgbClr val="17352E"/>
                </a:solidFill>
              </a:rPr>
              <a:t>未来 11 步目标状态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4F9AAB5-B26F-4AC9-81AA-9937187B3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876800"/>
            <a:ext cx="2095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2000"/>
              </a:lnSpc>
              <a:buNone/>
              <a:defRPr sz="1800" b="1">
                <a:solidFill>
                  <a:srgbClr val="2E7D5B"/>
                </a:solidFill>
              </a:defRPr>
            </a:pPr>
            <a:r>
              <a:rPr sz="1800" b="1">
                <a:solidFill>
                  <a:srgbClr val="2E7D5B"/>
                </a:solidFill>
              </a:rPr>
              <a:t>•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4A2DBFA-FBA2-4FD3-B8B5-283DADC16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876800"/>
            <a:ext cx="45529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500">
                <a:solidFill>
                  <a:srgbClr val="17352E"/>
                </a:solidFill>
              </a:defRPr>
            </a:pPr>
            <a:r>
              <a:rPr sz="1500">
                <a:solidFill>
                  <a:srgbClr val="17352E"/>
                </a:solidFill>
              </a:rPr>
              <a:t>策略意图与重规划原因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EA5FEB8-6766-4BA0-AC0A-4670F63F0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353050"/>
            <a:ext cx="2095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2000"/>
              </a:lnSpc>
              <a:buNone/>
              <a:defRPr sz="1800" b="1">
                <a:solidFill>
                  <a:srgbClr val="2E7D5B"/>
                </a:solidFill>
              </a:defRPr>
            </a:pPr>
            <a:r>
              <a:rPr sz="1800" b="1">
                <a:solidFill>
                  <a:srgbClr val="2E7D5B"/>
                </a:solidFill>
              </a:rPr>
              <a:t>•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30081B4-CA6A-489A-B4CC-6EB96741E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353050"/>
            <a:ext cx="45529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500">
                <a:solidFill>
                  <a:srgbClr val="17352E"/>
                </a:solidFill>
              </a:defRPr>
            </a:pPr>
            <a:r>
              <a:rPr sz="1500">
                <a:solidFill>
                  <a:srgbClr val="17352E"/>
                </a:solidFill>
              </a:rPr>
              <a:t>异常时 fallback 信息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38E012B-2F4B-4AAE-8C9F-953CF05F3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5250" y="2535098"/>
            <a:ext cx="5397500" cy="6751472"/>
          </a:xfrm>
          <a:prstGeom xmlns:a="http://schemas.openxmlformats.org/drawingml/2006/main" prst="roundRect">
            <a:avLst>
              <a:gd name="adj" fmla="val 317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C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53C8CFC-50D0-49F1-B88F-F6B36A51C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2900" y="2782748"/>
            <a:ext cx="1143000" cy="389458"/>
          </a:xfrm>
          <a:prstGeom xmlns:a="http://schemas.openxmlformats.org/drawingml/2006/main" prst="roundRect">
            <a:avLst>
              <a:gd name="adj" fmla="val 44023"/>
            </a:avLst>
          </a:prstGeom>
          <a:solidFill xmlns:a="http://schemas.openxmlformats.org/drawingml/2006/main">
            <a:srgbClr val="F4E2BD"/>
          </a:solidFill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CFB3662-73BE-48A9-B2FA-3DF1664FC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857500"/>
            <a:ext cx="8001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lnSpc>
                <a:spcPct val="122000"/>
              </a:lnSpc>
              <a:buNone/>
              <a:defRPr sz="1275" b="1">
                <a:solidFill>
                  <a:srgbClr val="B7791F"/>
                </a:solidFill>
              </a:defRPr>
            </a:pPr>
            <a:r>
              <a:rPr sz="1275" b="1">
                <a:solidFill>
                  <a:srgbClr val="B7791F"/>
                </a:solidFill>
              </a:rPr>
              <a:t>合同机制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C1AB216-2A0D-4B16-8F65-CF89DADF1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352800"/>
            <a:ext cx="489585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2000"/>
              </a:lnSpc>
              <a:buNone/>
              <a:defRPr sz="2325" b="1">
                <a:solidFill>
                  <a:srgbClr val="17352E"/>
                </a:solidFill>
              </a:defRPr>
            </a:pPr>
            <a:r>
              <a:rPr sz="2325" b="1">
                <a:solidFill>
                  <a:srgbClr val="17352E"/>
                </a:solidFill>
              </a:rPr>
              <a:t>Setpoint Contract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CADCF01-9566-4A75-8A81-87C240503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943350"/>
            <a:ext cx="2095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2000"/>
              </a:lnSpc>
              <a:buNone/>
              <a:defRPr sz="1800" b="1">
                <a:solidFill>
                  <a:srgbClr val="2E7D5B"/>
                </a:solidFill>
              </a:defRPr>
            </a:pPr>
            <a:r>
              <a:rPr sz="1800" b="1">
                <a:solidFill>
                  <a:srgbClr val="2E7D5B"/>
                </a:solidFill>
              </a:rPr>
              <a:t>•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5E63733-7D8D-43B6-B9CF-59C8124B1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943350"/>
            <a:ext cx="45529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500">
                <a:solidFill>
                  <a:srgbClr val="17352E"/>
                </a:solidFill>
              </a:defRPr>
            </a:pPr>
            <a:r>
              <a:rPr sz="1500">
                <a:solidFill>
                  <a:srgbClr val="17352E"/>
                </a:solidFill>
              </a:rPr>
              <a:t>裁剪过激目标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4DE0C3C-2E40-4BDD-8BD5-38A812E10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4419600"/>
            <a:ext cx="2095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2000"/>
              </a:lnSpc>
              <a:buNone/>
              <a:defRPr sz="1800" b="1">
                <a:solidFill>
                  <a:srgbClr val="2E7D5B"/>
                </a:solidFill>
              </a:defRPr>
            </a:pPr>
            <a:r>
              <a:rPr sz="1800" b="1">
                <a:solidFill>
                  <a:srgbClr val="2E7D5B"/>
                </a:solidFill>
              </a:rPr>
              <a:t>•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5495E72-B7A5-4ED4-8823-C4FBC8297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419600"/>
            <a:ext cx="45529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500">
                <a:solidFill>
                  <a:srgbClr val="17352E"/>
                </a:solidFill>
              </a:defRPr>
            </a:pPr>
            <a:r>
              <a:rPr sz="1500">
                <a:solidFill>
                  <a:srgbClr val="17352E"/>
                </a:solidFill>
              </a:rPr>
              <a:t>补齐缺失目标状态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D16EBC7-625F-4245-8BB0-E8C4A4E98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4876800"/>
            <a:ext cx="2095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2000"/>
              </a:lnSpc>
              <a:buNone/>
              <a:defRPr sz="1800" b="1">
                <a:solidFill>
                  <a:srgbClr val="2E7D5B"/>
                </a:solidFill>
              </a:defRPr>
            </a:pPr>
            <a:r>
              <a:rPr sz="1800" b="1">
                <a:solidFill>
                  <a:srgbClr val="2E7D5B"/>
                </a:solidFill>
              </a:rPr>
              <a:t>•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483B133-76B4-48B7-B145-0F9A38657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876800"/>
            <a:ext cx="45529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500">
                <a:solidFill>
                  <a:srgbClr val="17352E"/>
                </a:solidFill>
              </a:defRPr>
            </a:pPr>
            <a:r>
              <a:rPr sz="1500">
                <a:solidFill>
                  <a:srgbClr val="17352E"/>
                </a:solidFill>
              </a:rPr>
              <a:t>限制不可执行 CO2/RH/温度设定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A42A7F2-55D8-4939-8518-A9C801B75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5353050"/>
            <a:ext cx="2095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2000"/>
              </a:lnSpc>
              <a:buNone/>
              <a:defRPr sz="1800" b="1">
                <a:solidFill>
                  <a:srgbClr val="2E7D5B"/>
                </a:solidFill>
              </a:defRPr>
            </a:pPr>
            <a:r>
              <a:rPr sz="1800" b="1">
                <a:solidFill>
                  <a:srgbClr val="2E7D5B"/>
                </a:solidFill>
              </a:rPr>
              <a:t>•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81939B3-719A-4C3C-9598-6B6E15F41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5353050"/>
            <a:ext cx="45529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500">
                <a:solidFill>
                  <a:srgbClr val="17352E"/>
                </a:solidFill>
              </a:defRPr>
            </a:pPr>
            <a:r>
              <a:rPr sz="1500">
                <a:solidFill>
                  <a:srgbClr val="17352E"/>
                </a:solidFill>
              </a:rPr>
              <a:t>生成可回放 reference plan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83ED41A-6C64-42A7-9513-936CE017F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0400" y="2535098"/>
            <a:ext cx="5397500" cy="6751472"/>
          </a:xfrm>
          <a:prstGeom xmlns:a="http://schemas.openxmlformats.org/drawingml/2006/main" prst="roundRect">
            <a:avLst>
              <a:gd name="adj" fmla="val 317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CF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C0F7A95-C5E3-4653-83A9-E852E22E8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38050" y="2782748"/>
            <a:ext cx="1143000" cy="389458"/>
          </a:xfrm>
          <a:prstGeom xmlns:a="http://schemas.openxmlformats.org/drawingml/2006/main" prst="roundRect">
            <a:avLst>
              <a:gd name="adj" fmla="val 44023"/>
            </a:avLst>
          </a:prstGeom>
          <a:solidFill xmlns:a="http://schemas.openxmlformats.org/drawingml/2006/main">
            <a:srgbClr val="DDEFE5"/>
          </a:solidFill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0F307F5-4C55-4901-82D3-9A673C51A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15850" y="2857500"/>
            <a:ext cx="8001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lnSpc>
                <a:spcPct val="122000"/>
              </a:lnSpc>
              <a:buNone/>
              <a:defRPr sz="1275" b="1">
                <a:solidFill>
                  <a:srgbClr val="2E7D5B"/>
                </a:solidFill>
              </a:defRPr>
            </a:pPr>
            <a:r>
              <a:rPr sz="1275" b="1">
                <a:solidFill>
                  <a:srgbClr val="2E7D5B"/>
                </a:solidFill>
              </a:rPr>
              <a:t>闭环执行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E5BFA4A-F205-4E42-80D9-C0C935D6F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0" y="3352800"/>
            <a:ext cx="489585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2000"/>
              </a:lnSpc>
              <a:buNone/>
              <a:defRPr sz="2325" b="1">
                <a:solidFill>
                  <a:srgbClr val="17352E"/>
                </a:solidFill>
              </a:defRPr>
            </a:pPr>
            <a:r>
              <a:rPr sz="2325" b="1">
                <a:solidFill>
                  <a:srgbClr val="17352E"/>
                </a:solidFill>
              </a:rPr>
              <a:t>Safe Rollout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7BBB8BA-7E52-49F6-A2FD-B2A8A1E29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0" y="3943350"/>
            <a:ext cx="2095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2000"/>
              </a:lnSpc>
              <a:buNone/>
              <a:defRPr sz="1800" b="1">
                <a:solidFill>
                  <a:srgbClr val="2E7D5B"/>
                </a:solidFill>
              </a:defRPr>
            </a:pPr>
            <a:r>
              <a:rPr sz="1800" b="1">
                <a:solidFill>
                  <a:srgbClr val="2E7D5B"/>
                </a:solidFill>
              </a:rPr>
              <a:t>•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5262484-3CB1-491E-AA48-E9A764D06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87300" y="3943350"/>
            <a:ext cx="45529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500">
                <a:solidFill>
                  <a:srgbClr val="17352E"/>
                </a:solidFill>
              </a:defRPr>
            </a:pPr>
            <a:r>
              <a:rPr sz="1500">
                <a:solidFill>
                  <a:srgbClr val="17352E"/>
                </a:solidFill>
              </a:rPr>
              <a:t>anchor / rule / blend 竞争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5C07985-FF95-488A-93A8-893AAB643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0" y="4419600"/>
            <a:ext cx="2095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2000"/>
              </a:lnSpc>
              <a:buNone/>
              <a:defRPr sz="1800" b="1">
                <a:solidFill>
                  <a:srgbClr val="2E7D5B"/>
                </a:solidFill>
              </a:defRPr>
            </a:pPr>
            <a:r>
              <a:rPr sz="1800" b="1">
                <a:solidFill>
                  <a:srgbClr val="2E7D5B"/>
                </a:solidFill>
              </a:rPr>
              <a:t>•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FAAC1BC-7306-443F-9D6E-5303F2C91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87300" y="4419600"/>
            <a:ext cx="45529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500">
                <a:solidFill>
                  <a:srgbClr val="17352E"/>
                </a:solidFill>
              </a:defRPr>
            </a:pPr>
            <a:r>
              <a:rPr sz="1500">
                <a:solidFill>
                  <a:srgbClr val="17352E"/>
                </a:solidFill>
              </a:rPr>
              <a:t>误差修正跟踪目标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E35DD60-E5CF-47B3-8696-0A836D4FC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0" y="4876800"/>
            <a:ext cx="2095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2000"/>
              </a:lnSpc>
              <a:buNone/>
              <a:defRPr sz="1800" b="1">
                <a:solidFill>
                  <a:srgbClr val="2E7D5B"/>
                </a:solidFill>
              </a:defRPr>
            </a:pPr>
            <a:r>
              <a:rPr sz="1800" b="1">
                <a:solidFill>
                  <a:srgbClr val="2E7D5B"/>
                </a:solidFill>
              </a:rPr>
              <a:t>•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A63BE4F-2CC7-4776-9212-C97558372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87300" y="4876800"/>
            <a:ext cx="45529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500">
                <a:solidFill>
                  <a:srgbClr val="17352E"/>
                </a:solidFill>
              </a:defRPr>
            </a:pPr>
            <a:r>
              <a:rPr sz="1500">
                <a:solidFill>
                  <a:srgbClr val="17352E"/>
                </a:solidFill>
              </a:rPr>
              <a:t>fallback_plan 兜底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177F4D1-5330-40D1-BD04-C873E6684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0" y="5353050"/>
            <a:ext cx="2095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2000"/>
              </a:lnSpc>
              <a:buNone/>
              <a:defRPr sz="1800" b="1">
                <a:solidFill>
                  <a:srgbClr val="2E7D5B"/>
                </a:solidFill>
              </a:defRPr>
            </a:pPr>
            <a:r>
              <a:rPr sz="1800" b="1">
                <a:solidFill>
                  <a:srgbClr val="2E7D5B"/>
                </a:solidFill>
              </a:rPr>
              <a:t>•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95A5617-ACC9-4831-B2A9-4E65F4F2E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87300" y="5353050"/>
            <a:ext cx="45529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500">
                <a:solidFill>
                  <a:srgbClr val="17352E"/>
                </a:solidFill>
              </a:defRPr>
            </a:pPr>
            <a:r>
              <a:rPr sz="1500">
                <a:solidFill>
                  <a:srgbClr val="17352E"/>
                </a:solidFill>
              </a:rPr>
              <a:t>guardrail 输出最终动作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6BFF7D4-FC00-40C7-8A8F-FF2330796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9544050"/>
            <a:ext cx="159829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2000"/>
              </a:lnSpc>
              <a:buNone/>
              <a:defRPr sz="975">
                <a:solidFill>
                  <a:srgbClr val="789089"/>
                </a:solidFill>
              </a:defRPr>
            </a:pPr>
            <a:r>
              <a:rPr sz="975">
                <a:solidFill>
                  <a:srgbClr val="789089"/>
                </a:solidFill>
              </a:rPr>
              <a:t>数据来源：项目文档与 frozen benchmark / sentinel gate 诊断输出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1E62726-5D43-433C-A24A-5F7598A80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83050" y="9544050"/>
            <a:ext cx="7048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lnSpc>
                <a:spcPct val="122000"/>
              </a:lnSpc>
              <a:buNone/>
              <a:defRPr sz="975">
                <a:solidFill>
                  <a:srgbClr val="789089"/>
                </a:solidFill>
              </a:defRPr>
            </a:pPr>
            <a:r>
              <a:rPr sz="975">
                <a:solidFill>
                  <a:srgbClr val="789089"/>
                </a:solidFill>
              </a:rPr>
              <a:t>5/12</a:t>
            </a:r>
          </a:p>
        </p:txBody>
      </p:sp>
    </p:spTree>
    <p:extLst>
      <p:ext uri="{BB962C8B-B14F-4D97-AF65-F5344CB8AC3E}">
        <p14:creationId xmlns:p14="http://schemas.microsoft.com/office/powerpoint/2010/main" val="1492447827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1F80534-71C0-474A-8CD1-3285B624B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AF4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6FCF4F-F19C-448C-A572-C79BCB000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3815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7F0"/>
          </a:solidFill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E11129-B024-4724-B027-11C85104B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52450"/>
            <a:ext cx="5524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2000"/>
              </a:lnSpc>
              <a:buNone/>
              <a:defRPr sz="1425" b="1">
                <a:solidFill>
                  <a:srgbClr val="2E7D5B"/>
                </a:solidFill>
              </a:defRPr>
            </a:pPr>
            <a:r>
              <a:rPr sz="1425" b="1">
                <a:solidFill>
                  <a:srgbClr val="2E7D5B"/>
                </a:solidFill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CD8C92-CB47-4E2E-954B-7A7F65A45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666750"/>
            <a:ext cx="857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5B"/>
          </a:solidFill>
          <a:ln xmlns:a="http://schemas.openxmlformats.org/drawingml/2006/main" w="0">
            <a:solidFill>
              <a:srgbClr val="2E7D5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14665C-E3CF-48AA-80F7-AB42A7E59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71500"/>
            <a:ext cx="152781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lnSpc>
                <a:spcPct val="122000"/>
              </a:lnSpc>
              <a:buNone/>
              <a:defRPr sz="1275">
                <a:solidFill>
                  <a:srgbClr val="5E756F"/>
                </a:solidFill>
              </a:defRPr>
            </a:pPr>
            <a:r>
              <a:rPr sz="1275">
                <a:solidFill>
                  <a:srgbClr val="5E756F"/>
                </a:solidFill>
              </a:rPr>
              <a:t>温室控制项目进度汇报</a:t>
            </a:r>
          </a:p>
        </p:txBody>
      </p:sp>
      <p:sp>
        <p:nvSpPr>
          <p:cNvPr id="6" name="slide-6-title">
            <a:extLst xmlns:a="http://schemas.openxmlformats.org/drawingml/2006/main">
              <a:ext uri="{FF2B5EF4-FFF2-40B4-BE49-F238E27FC236}">
                <a16:creationId xmlns:a16="http://schemas.microsoft.com/office/drawing/2014/main" id="{49962C06-DA06-43C2-8D53-84A0FEA18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914400"/>
            <a:ext cx="166878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3525" b="1">
                <a:solidFill>
                  <a:srgbClr val="17352E"/>
                </a:solidFill>
              </a:defRPr>
            </a:pPr>
            <a:r>
              <a:rPr sz="3525" b="1">
                <a:solidFill>
                  <a:srgbClr val="17352E"/>
                </a:solidFill>
              </a:rPr>
              <a:t>可复现评估体系：先冻结高层计划，再比较底层控制改动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BF3440-4CD8-4D24-8585-789C10DA4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581150"/>
            <a:ext cx="75819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4000"/>
              </a:lnSpc>
              <a:buNone/>
              <a:defRPr sz="1800">
                <a:solidFill>
                  <a:srgbClr val="5E756F"/>
                </a:solidFill>
              </a:defRPr>
            </a:pPr>
            <a:r>
              <a:rPr sz="1800">
                <a:solidFill>
                  <a:srgbClr val="5E756F"/>
                </a:solidFill>
              </a:rPr>
              <a:t>这是当前项目最关键的实验基础，避免 LLM 每次输出不同导致对比不公平。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1A0DC5D-6BBB-47CC-8D52-884DC88AE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535098"/>
            <a:ext cx="5410200" cy="180975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C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74FC8C1-98EA-41A0-A647-AC169BB93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743200"/>
            <a:ext cx="952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7D5B"/>
          </a:solidFill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DABCF22-4EBB-4227-BC7C-D0414F1AC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705100"/>
            <a:ext cx="47434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2000"/>
              </a:lnSpc>
              <a:buNone/>
              <a:defRPr sz="1725" b="1">
                <a:solidFill>
                  <a:srgbClr val="17352E"/>
                </a:solidFill>
              </a:defRPr>
            </a:pPr>
            <a:r>
              <a:rPr sz="1725" b="1">
                <a:solidFill>
                  <a:srgbClr val="17352E"/>
                </a:solidFill>
              </a:rPr>
              <a:t>record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D7A616D-820B-42AC-BC76-7337C0726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124200"/>
            <a:ext cx="49530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350">
                <a:solidFill>
                  <a:srgbClr val="5E756F"/>
                </a:solidFill>
              </a:defRPr>
            </a:pPr>
            <a:r>
              <a:rPr sz="1350">
                <a:solidFill>
                  <a:srgbClr val="5E756F"/>
                </a:solidFill>
              </a:rPr>
              <a:t>调用 LLM 并写入 plan cache，保存 raw response、parsed plan、contract 后计划和 fallback 信息。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B947AC2-044D-4808-B312-348E4E6B0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535098"/>
            <a:ext cx="5410200" cy="180975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EEF6FB"/>
          </a:solidFill>
          <a:ln xmlns:a="http://schemas.openxmlformats.org/drawingml/2006/main" w="9525">
            <a:solidFill>
              <a:srgbClr val="C9D8C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720E2C9-0C7E-4D21-A323-E052686B5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743200"/>
            <a:ext cx="952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6F9F"/>
          </a:solidFill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39EDBE3-7A84-45B2-9C25-8F15B3A54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705100"/>
            <a:ext cx="47434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2000"/>
              </a:lnSpc>
              <a:buNone/>
              <a:defRPr sz="1725" b="1">
                <a:solidFill>
                  <a:srgbClr val="17352E"/>
                </a:solidFill>
              </a:defRPr>
            </a:pPr>
            <a:r>
              <a:rPr sz="1725" b="1">
                <a:solidFill>
                  <a:srgbClr val="17352E"/>
                </a:solidFill>
              </a:rPr>
              <a:t>replay --strict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435FCBC-B573-41EE-8652-6E187C7C7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124200"/>
            <a:ext cx="49530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350">
                <a:solidFill>
                  <a:srgbClr val="5E756F"/>
                </a:solidFill>
              </a:defRPr>
            </a:pPr>
            <a:r>
              <a:rPr sz="1350">
                <a:solidFill>
                  <a:srgbClr val="5E756F"/>
                </a:solidFill>
              </a:rPr>
              <a:t>不再调用新 LLM；cache miss 直接失败，确保同一高层计划下比较控制器。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DFEE503-B8B3-4B1A-B272-61AD9D601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7700" y="2535098"/>
            <a:ext cx="5410200" cy="180975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FBF4E8"/>
          </a:solidFill>
          <a:ln xmlns:a="http://schemas.openxmlformats.org/drawingml/2006/main" w="9525">
            <a:solidFill>
              <a:srgbClr val="C9D8C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99B07F0-4B30-4571-B4E5-5255D3327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06300" y="2743200"/>
            <a:ext cx="952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7791F"/>
          </a:solidFill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55A8557-9D61-4207-83A7-DA0B29C7D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15850" y="2705100"/>
            <a:ext cx="47434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2000"/>
              </a:lnSpc>
              <a:buNone/>
              <a:defRPr sz="1725" b="1">
                <a:solidFill>
                  <a:srgbClr val="17352E"/>
                </a:solidFill>
              </a:defRPr>
            </a:pPr>
            <a:r>
              <a:rPr sz="1725" b="1">
                <a:solidFill>
                  <a:srgbClr val="17352E"/>
                </a:solidFill>
              </a:rPr>
              <a:t>refresh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D1871BB-64C1-43D0-AEEC-33490F94B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06300" y="3124200"/>
            <a:ext cx="49530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350">
                <a:solidFill>
                  <a:srgbClr val="5E756F"/>
                </a:solidFill>
              </a:defRPr>
            </a:pPr>
            <a:r>
              <a:rPr sz="1350">
                <a:solidFill>
                  <a:srgbClr val="5E756F"/>
                </a:solidFill>
              </a:rPr>
              <a:t>明确需要更新计划时才覆盖旧缓存，用于新模型或新 prompt 的重新评估。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F3A1974-42DB-4D82-9228-535B944C7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859198"/>
            <a:ext cx="5334000" cy="25717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C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B22BB4B-5FC6-458F-A915-4139523CD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124450"/>
            <a:ext cx="48006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2000"/>
              </a:lnSpc>
              <a:buNone/>
              <a:defRPr sz="2100" b="1">
                <a:solidFill>
                  <a:srgbClr val="17352E"/>
                </a:solidFill>
              </a:defRPr>
            </a:pPr>
            <a:r>
              <a:rPr sz="2100" b="1">
                <a:solidFill>
                  <a:srgbClr val="17352E"/>
                </a:solidFill>
              </a:rPr>
              <a:t>Frozen Benchmark 检查项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E3298D8-86DD-40F8-871E-DD4B09AD7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695950"/>
            <a:ext cx="2095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2000"/>
              </a:lnSpc>
              <a:buNone/>
              <a:defRPr sz="1800" b="1">
                <a:solidFill>
                  <a:srgbClr val="2E7D5B"/>
                </a:solidFill>
              </a:defRPr>
            </a:pPr>
            <a:r>
              <a:rPr sz="1800" b="1">
                <a:solidFill>
                  <a:srgbClr val="2E7D5B"/>
                </a:solidFill>
              </a:rPr>
              <a:t>•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1312AC3-22E3-40EB-8827-3300464D2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5695950"/>
            <a:ext cx="44577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500">
                <a:solidFill>
                  <a:srgbClr val="17352E"/>
                </a:solidFill>
              </a:defRPr>
            </a:pPr>
            <a:r>
              <a:rPr sz="1500">
                <a:solidFill>
                  <a:srgbClr val="17352E"/>
                </a:solidFill>
              </a:rPr>
              <a:t>cache hit = steps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B5D983A-003B-4B77-9872-47DD23D7F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6153150"/>
            <a:ext cx="2095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2000"/>
              </a:lnSpc>
              <a:buNone/>
              <a:defRPr sz="1800" b="1">
                <a:solidFill>
                  <a:srgbClr val="2E7D5B"/>
                </a:solidFill>
              </a:defRPr>
            </a:pPr>
            <a:r>
              <a:rPr sz="1800" b="1">
                <a:solidFill>
                  <a:srgbClr val="2E7D5B"/>
                </a:solidFill>
              </a:rPr>
              <a:t>•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F53EE65-1C49-41B6-B4E1-528828356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6153150"/>
            <a:ext cx="44577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500">
                <a:solidFill>
                  <a:srgbClr val="17352E"/>
                </a:solidFill>
              </a:defRPr>
            </a:pPr>
            <a:r>
              <a:rPr sz="1500">
                <a:solidFill>
                  <a:srgbClr val="17352E"/>
                </a:solidFill>
              </a:rPr>
              <a:t>record/replay 指标一致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9563FEC-E702-432E-82D4-9E9E261FE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6629400"/>
            <a:ext cx="2095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2000"/>
              </a:lnSpc>
              <a:buNone/>
              <a:defRPr sz="1800" b="1">
                <a:solidFill>
                  <a:srgbClr val="2E7D5B"/>
                </a:solidFill>
              </a:defRPr>
            </a:pPr>
            <a:r>
              <a:rPr sz="1800" b="1">
                <a:solidFill>
                  <a:srgbClr val="2E7D5B"/>
                </a:solidFill>
              </a:rPr>
              <a:t>•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139FE8B-81A9-44AC-BAD1-EBF4CD1D2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6629400"/>
            <a:ext cx="44577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500">
                <a:solidFill>
                  <a:srgbClr val="17352E"/>
                </a:solidFill>
              </a:defRPr>
            </a:pPr>
            <a:r>
              <a:rPr sz="1500">
                <a:solidFill>
                  <a:srgbClr val="17352E"/>
                </a:solidFill>
              </a:rPr>
              <a:t>llm_sero_shadow 与 llm 行为完全一致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3B54BEC-5C92-4FD9-80C4-5DF6C3936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7086600"/>
            <a:ext cx="2095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2000"/>
              </a:lnSpc>
              <a:buNone/>
              <a:defRPr sz="1800" b="1">
                <a:solidFill>
                  <a:srgbClr val="2E7D5B"/>
                </a:solidFill>
              </a:defRPr>
            </a:pPr>
            <a:r>
              <a:rPr sz="1800" b="1">
                <a:solidFill>
                  <a:srgbClr val="2E7D5B"/>
                </a:solidFill>
              </a:rPr>
              <a:t>•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E5B7070-1725-4499-87B6-E92DB3652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7086600"/>
            <a:ext cx="44577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500">
                <a:solidFill>
                  <a:srgbClr val="17352E"/>
                </a:solidFill>
              </a:defRPr>
            </a:pPr>
            <a:r>
              <a:rPr sz="1500">
                <a:solidFill>
                  <a:srgbClr val="17352E"/>
                </a:solidFill>
              </a:rPr>
              <a:t>unknown source 立即报错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366E9FC-5A89-4211-A957-020E368C8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859198"/>
            <a:ext cx="11087100" cy="25717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EDF7F0"/>
          </a:solidFill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464D744-91E0-4D81-8B09-9C07201F6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124450"/>
            <a:ext cx="105537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2000"/>
              </a:lnSpc>
              <a:buNone/>
              <a:defRPr sz="2250" b="1">
                <a:solidFill>
                  <a:srgbClr val="17352E"/>
                </a:solidFill>
              </a:defRPr>
            </a:pPr>
            <a:r>
              <a:rPr sz="2250" b="1">
                <a:solidFill>
                  <a:srgbClr val="17352E"/>
                </a:solidFill>
              </a:rPr>
              <a:t>为什么这一步重要？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F22E69A-1BAB-490B-BB9B-93FB23B97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715000"/>
            <a:ext cx="10553700" cy="7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2000"/>
              </a:lnSpc>
              <a:buNone/>
              <a:defRPr sz="2025">
                <a:solidFill>
                  <a:srgbClr val="17352E"/>
                </a:solidFill>
              </a:defRPr>
            </a:pPr>
            <a:r>
              <a:rPr sz="2025">
                <a:solidFill>
                  <a:srgbClr val="17352E"/>
                </a:solidFill>
              </a:rPr>
              <a:t>后续 RSPC、HEM、MC-SERO、Tomato Safety v2 的差异，必须来自控制逻辑本身，而不是来自 LLM API 输出波动。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A11BF27-08B0-4277-A15B-88196DC9F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9544050"/>
            <a:ext cx="159829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2000"/>
              </a:lnSpc>
              <a:buNone/>
              <a:defRPr sz="975">
                <a:solidFill>
                  <a:srgbClr val="789089"/>
                </a:solidFill>
              </a:defRPr>
            </a:pPr>
            <a:r>
              <a:rPr sz="975">
                <a:solidFill>
                  <a:srgbClr val="789089"/>
                </a:solidFill>
              </a:rPr>
              <a:t>数据来源：项目文档与 frozen benchmark / sentinel gate 诊断输出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E56C824-EA85-49A8-B57B-2511572AF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83050" y="9544050"/>
            <a:ext cx="7048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lnSpc>
                <a:spcPct val="122000"/>
              </a:lnSpc>
              <a:buNone/>
              <a:defRPr sz="975">
                <a:solidFill>
                  <a:srgbClr val="789089"/>
                </a:solidFill>
              </a:defRPr>
            </a:pPr>
            <a:r>
              <a:rPr sz="975">
                <a:solidFill>
                  <a:srgbClr val="789089"/>
                </a:solidFill>
              </a:rPr>
              <a:t>6/12</a:t>
            </a:r>
          </a:p>
        </p:txBody>
      </p:sp>
    </p:spTree>
    <p:extLst>
      <p:ext uri="{BB962C8B-B14F-4D97-AF65-F5344CB8AC3E}">
        <p14:creationId xmlns:p14="http://schemas.microsoft.com/office/powerpoint/2010/main" val="171571562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1324C51-A76F-46CA-BCF5-0ED2992C8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AF4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FA187A-2B30-48B6-99C7-B93760B40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3815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8F2"/>
          </a:solidFill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673B68-5211-4E20-9C95-17481FED2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52450"/>
            <a:ext cx="5524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2000"/>
              </a:lnSpc>
              <a:buNone/>
              <a:defRPr sz="1425" b="1">
                <a:solidFill>
                  <a:srgbClr val="2E7D5B"/>
                </a:solidFill>
              </a:defRPr>
            </a:pPr>
            <a:r>
              <a:rPr sz="1425" b="1">
                <a:solidFill>
                  <a:srgbClr val="2E7D5B"/>
                </a:solidFill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93376A-7BC7-46E7-8DB5-11AC4C6F3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666750"/>
            <a:ext cx="857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5B"/>
          </a:solidFill>
          <a:ln xmlns:a="http://schemas.openxmlformats.org/drawingml/2006/main" w="0">
            <a:solidFill>
              <a:srgbClr val="2E7D5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F33A5A-F10C-48F5-842D-078649C13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71500"/>
            <a:ext cx="152781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lnSpc>
                <a:spcPct val="122000"/>
              </a:lnSpc>
              <a:buNone/>
              <a:defRPr sz="1275">
                <a:solidFill>
                  <a:srgbClr val="5E756F"/>
                </a:solidFill>
              </a:defRPr>
            </a:pPr>
            <a:r>
              <a:rPr sz="1275">
                <a:solidFill>
                  <a:srgbClr val="5E756F"/>
                </a:solidFill>
              </a:rPr>
              <a:t>温室控制项目进度汇报</a:t>
            </a:r>
          </a:p>
        </p:txBody>
      </p:sp>
      <p:sp>
        <p:nvSpPr>
          <p:cNvPr id="6" name="slide-7-title">
            <a:extLst xmlns:a="http://schemas.openxmlformats.org/drawingml/2006/main">
              <a:ext uri="{FF2B5EF4-FFF2-40B4-BE49-F238E27FC236}">
                <a16:creationId xmlns:a16="http://schemas.microsoft.com/office/drawing/2014/main" id="{3FEA9129-589B-468D-921E-A90711F46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914400"/>
            <a:ext cx="166878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3525" b="1">
                <a:solidFill>
                  <a:srgbClr val="17352E"/>
                </a:solidFill>
              </a:defRPr>
            </a:pPr>
            <a:r>
              <a:rPr sz="3525" b="1">
                <a:solidFill>
                  <a:srgbClr val="17352E"/>
                </a:solidFill>
              </a:rPr>
              <a:t>HEM 阶段结论：经验库框架完成，但当前不作为收益主线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7FC3CF-B4BC-4AD8-8DC1-476FF8011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581150"/>
            <a:ext cx="75057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4000"/>
              </a:lnSpc>
              <a:buNone/>
              <a:defRPr sz="1800">
                <a:solidFill>
                  <a:srgbClr val="5E756F"/>
                </a:solidFill>
              </a:defRPr>
            </a:pPr>
            <a:r>
              <a:rPr sz="1800">
                <a:solidFill>
                  <a:srgbClr val="5E756F"/>
                </a:solidFill>
              </a:rPr>
              <a:t>湿度经济经验库解决“如何记住好经验”的问题，但当前闭环收益证据不足。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BB31CB-0C6F-412C-8B8E-D9B0AF1BC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535098"/>
            <a:ext cx="4563303" cy="1352550"/>
          </a:xfrm>
          <a:prstGeom xmlns:a="http://schemas.openxmlformats.org/drawingml/2006/main" prst="roundRect">
            <a:avLst>
              <a:gd name="adj" fmla="val 12676"/>
            </a:avLst>
          </a:prstGeom>
          <a:solidFill xmlns:a="http://schemas.openxmlformats.org/drawingml/2006/main">
            <a:srgbClr val="D9EAF5"/>
          </a:solidFill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729345-07D8-486D-BF45-43BA2251C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706548"/>
            <a:ext cx="4000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6636B94-9BF6-4415-8DC1-D39A9BD76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705100"/>
            <a:ext cx="400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lnSpc>
                <a:spcPct val="122000"/>
              </a:lnSpc>
              <a:buNone/>
              <a:defRPr sz="1350" b="1">
                <a:solidFill>
                  <a:srgbClr val="2F6F9F"/>
                </a:solidFill>
              </a:defRPr>
            </a:pPr>
            <a:r>
              <a:rPr sz="1350" b="1">
                <a:solidFill>
                  <a:srgbClr val="2F6F9F"/>
                </a:solidFill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E3C86EC-E7AE-4492-ABD0-E04CB2EA9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705100"/>
            <a:ext cx="3619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2000"/>
              </a:lnSpc>
              <a:buNone/>
              <a:defRPr sz="1650" b="1">
                <a:solidFill>
                  <a:srgbClr val="17352E"/>
                </a:solidFill>
              </a:defRPr>
            </a:pPr>
            <a:r>
              <a:rPr sz="1650" b="1">
                <a:solidFill>
                  <a:srgbClr val="17352E"/>
                </a:solidFill>
              </a:rPr>
              <a:t>mine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83E8B3A-33A1-4CBC-8D73-A8D0C35BA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086100"/>
            <a:ext cx="3619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6000"/>
              </a:lnSpc>
              <a:buNone/>
              <a:defRPr sz="1275">
                <a:solidFill>
                  <a:srgbClr val="5E756F"/>
                </a:solidFill>
              </a:defRPr>
            </a:pPr>
            <a:r>
              <a:rPr sz="1275">
                <a:solidFill>
                  <a:srgbClr val="5E756F"/>
                </a:solidFill>
              </a:rPr>
              <a:t>PPO/LLM 配对轨迹中筛选局部反事实经验。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A9E620C-3EA5-4E66-B337-11050C446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6753" y="2535098"/>
            <a:ext cx="4563303" cy="1352550"/>
          </a:xfrm>
          <a:prstGeom xmlns:a="http://schemas.openxmlformats.org/drawingml/2006/main" prst="roundRect">
            <a:avLst>
              <a:gd name="adj" fmla="val 12676"/>
            </a:avLst>
          </a:prstGeom>
          <a:solidFill xmlns:a="http://schemas.openxmlformats.org/drawingml/2006/main">
            <a:srgbClr val="DDEFE5"/>
          </a:solidFill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63237CB-09BE-4E2D-9300-A8BF03B7D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6303" y="2706548"/>
            <a:ext cx="4000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C02DB5A-F2B5-412D-A03F-56EAADEF0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705100"/>
            <a:ext cx="400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lnSpc>
                <a:spcPct val="122000"/>
              </a:lnSpc>
              <a:buNone/>
              <a:defRPr sz="1350" b="1">
                <a:solidFill>
                  <a:srgbClr val="2E7D5B"/>
                </a:solidFill>
              </a:defRPr>
            </a:pPr>
            <a:r>
              <a:rPr sz="1350" b="1">
                <a:solidFill>
                  <a:srgbClr val="2E7D5B"/>
                </a:solidFill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1B124B8-81AD-429C-BB0C-59E0478E5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705100"/>
            <a:ext cx="3619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2000"/>
              </a:lnSpc>
              <a:buNone/>
              <a:defRPr sz="1650" b="1">
                <a:solidFill>
                  <a:srgbClr val="17352E"/>
                </a:solidFill>
              </a:defRPr>
            </a:pPr>
            <a:r>
              <a:rPr sz="1650" b="1">
                <a:solidFill>
                  <a:srgbClr val="17352E"/>
                </a:solidFill>
              </a:rPr>
              <a:t>shadow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0FA95B7-9EA0-4ED1-B92F-ED0F8EE14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086100"/>
            <a:ext cx="3619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6000"/>
              </a:lnSpc>
              <a:buNone/>
              <a:defRPr sz="1275">
                <a:solidFill>
                  <a:srgbClr val="5E756F"/>
                </a:solidFill>
              </a:defRPr>
            </a:pPr>
            <a:r>
              <a:rPr sz="1275">
                <a:solidFill>
                  <a:srgbClr val="5E756F"/>
                </a:solidFill>
              </a:rPr>
              <a:t>离线判断经验命中与代理收益。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F41F8B2-C15C-4365-A602-F17066871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30498"/>
            <a:ext cx="4563303" cy="1352550"/>
          </a:xfrm>
          <a:prstGeom xmlns:a="http://schemas.openxmlformats.org/drawingml/2006/main" prst="roundRect">
            <a:avLst>
              <a:gd name="adj" fmla="val 12676"/>
            </a:avLst>
          </a:prstGeom>
          <a:solidFill xmlns:a="http://schemas.openxmlformats.org/drawingml/2006/main">
            <a:srgbClr val="F4E2BD"/>
          </a:solidFill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966BA15-4BC1-4275-8FA1-94E2C95EE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001948"/>
            <a:ext cx="4000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21F383B-E0C8-4D9E-9A84-D7A98023E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000500"/>
            <a:ext cx="400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lnSpc>
                <a:spcPct val="122000"/>
              </a:lnSpc>
              <a:buNone/>
              <a:defRPr sz="1350" b="1">
                <a:solidFill>
                  <a:srgbClr val="B7791F"/>
                </a:solidFill>
              </a:defRPr>
            </a:pPr>
            <a:r>
              <a:rPr sz="1350" b="1">
                <a:solidFill>
                  <a:srgbClr val="B7791F"/>
                </a:solidFill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065979B-1BD4-4AEF-B945-663775A16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000500"/>
            <a:ext cx="3619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2000"/>
              </a:lnSpc>
              <a:buNone/>
              <a:defRPr sz="1650" b="1">
                <a:solidFill>
                  <a:srgbClr val="17352E"/>
                </a:solidFill>
              </a:defRPr>
            </a:pPr>
            <a:r>
              <a:rPr sz="1650" b="1">
                <a:solidFill>
                  <a:srgbClr val="17352E"/>
                </a:solidFill>
              </a:rPr>
              <a:t>horizon filter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6DBEE0D-6B31-42AD-B2A8-6EAC7C55B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381500"/>
            <a:ext cx="3619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6000"/>
              </a:lnSpc>
              <a:buNone/>
              <a:defRPr sz="1275">
                <a:solidFill>
                  <a:srgbClr val="5E756F"/>
                </a:solidFill>
              </a:defRPr>
            </a:pPr>
            <a:r>
              <a:rPr sz="1275">
                <a:solidFill>
                  <a:srgbClr val="5E756F"/>
                </a:solidFill>
              </a:rPr>
              <a:t>拒绝把 RH 风险或补热成本推迟到未来。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B473BF3-AF36-44AB-9E59-2C9830A69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6753" y="3830498"/>
            <a:ext cx="4563303" cy="1352550"/>
          </a:xfrm>
          <a:prstGeom xmlns:a="http://schemas.openxmlformats.org/drawingml/2006/main" prst="roundRect">
            <a:avLst>
              <a:gd name="adj" fmla="val 12676"/>
            </a:avLst>
          </a:prstGeom>
          <a:solidFill xmlns:a="http://schemas.openxmlformats.org/drawingml/2006/main">
            <a:srgbClr val="F2D8D5"/>
          </a:solidFill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6CDF7D5-6991-4A1E-A070-357342BEE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6303" y="4001948"/>
            <a:ext cx="4000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F68023C-5642-40A7-9FF8-FFAF80707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000500"/>
            <a:ext cx="400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lnSpc>
                <a:spcPct val="122000"/>
              </a:lnSpc>
              <a:buNone/>
              <a:defRPr sz="1350" b="1">
                <a:solidFill>
                  <a:srgbClr val="B4443F"/>
                </a:solidFill>
              </a:defRPr>
            </a:pPr>
            <a:r>
              <a:rPr sz="1350" b="1">
                <a:solidFill>
                  <a:srgbClr val="B4443F"/>
                </a:solidFill>
              </a:rPr>
              <a:t>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D8AFA0C-7853-4BC9-A45E-31BBEACE6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000500"/>
            <a:ext cx="3619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2000"/>
              </a:lnSpc>
              <a:buNone/>
              <a:defRPr sz="1650" b="1">
                <a:solidFill>
                  <a:srgbClr val="17352E"/>
                </a:solidFill>
              </a:defRPr>
            </a:pPr>
            <a:r>
              <a:rPr sz="1650" b="1">
                <a:solidFill>
                  <a:srgbClr val="17352E"/>
                </a:solidFill>
              </a:rPr>
              <a:t>candidate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644D6A6-7118-4CC7-9A16-693519835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381500"/>
            <a:ext cx="3619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6000"/>
              </a:lnSpc>
              <a:buNone/>
              <a:defRPr sz="1275">
                <a:solidFill>
                  <a:srgbClr val="5E756F"/>
                </a:solidFill>
              </a:defRPr>
            </a:pPr>
            <a:r>
              <a:rPr sz="1275">
                <a:solidFill>
                  <a:srgbClr val="5E756F"/>
                </a:solidFill>
              </a:rPr>
              <a:t>仅在版本 metadata 匹配时进入候选池。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9E20367-DB17-42D7-8475-CC054F610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125898"/>
            <a:ext cx="9259957" cy="1001268"/>
          </a:xfrm>
          <a:prstGeom xmlns:a="http://schemas.openxmlformats.org/drawingml/2006/main" prst="roundRect">
            <a:avLst>
              <a:gd name="adj" fmla="val 152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C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CA478D8-CC6A-4875-823C-6832DF896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295900"/>
            <a:ext cx="88011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800" b="1">
                <a:solidFill>
                  <a:srgbClr val="17352E"/>
                </a:solidFill>
              </a:defRPr>
            </a:pPr>
            <a:r>
              <a:rPr sz="1800" b="1">
                <a:solidFill>
                  <a:srgbClr val="17352E"/>
                </a:solidFill>
              </a:rPr>
              <a:t>当前判断：HEM 机制可以保留为后续 Counterfactual Experience Learning，但现阶段不宣称闭环性能收益。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66D202D-39E8-4C15-917C-63C991267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2533650"/>
            <a:ext cx="71247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2000"/>
              </a:lnSpc>
              <a:buNone/>
              <a:defRPr sz="1275" b="1">
                <a:solidFill>
                  <a:srgbClr val="5E756F"/>
                </a:solidFill>
              </a:defRPr>
            </a:pPr>
            <a:r>
              <a:rPr sz="1275" b="1">
                <a:solidFill>
                  <a:srgbClr val="5E756F"/>
                </a:solidFill>
              </a:rPr>
              <a:t>已具备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F65D941-AD0A-4457-BC41-18048B9A8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2838450"/>
            <a:ext cx="71247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000" b="1">
                <a:solidFill>
                  <a:srgbClr val="2E7D5B"/>
                </a:solidFill>
              </a:defRPr>
            </a:pPr>
            <a:r>
              <a:rPr sz="3000" b="1">
                <a:solidFill>
                  <a:srgbClr val="2E7D5B"/>
                </a:solidFill>
              </a:rPr>
              <a:t>版本门控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1DB53B9-098A-4F72-B28F-AC6EC48D8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3352800"/>
            <a:ext cx="71247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200">
                <a:solidFill>
                  <a:srgbClr val="5E756F"/>
                </a:solidFill>
              </a:defRPr>
            </a:pPr>
            <a:r>
              <a:rPr sz="1200">
                <a:solidFill>
                  <a:srgbClr val="5E756F"/>
                </a:solidFill>
              </a:rPr>
              <a:t>teacher_policy_id / baseline_controller_id / schema version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9B30137-5F12-4B21-AA63-62B5E3779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3771900"/>
            <a:ext cx="71247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2000"/>
              </a:lnSpc>
              <a:buNone/>
              <a:defRPr sz="1275" b="1">
                <a:solidFill>
                  <a:srgbClr val="5E756F"/>
                </a:solidFill>
              </a:defRPr>
            </a:pPr>
            <a:r>
              <a:rPr sz="1275" b="1">
                <a:solidFill>
                  <a:srgbClr val="5E756F"/>
                </a:solidFill>
              </a:rPr>
              <a:t>当前问题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259EF8C-E08C-4043-89F6-43A8C578B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4076700"/>
            <a:ext cx="71247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000" b="1">
                <a:solidFill>
                  <a:srgbClr val="B7791F"/>
                </a:solidFill>
              </a:defRPr>
            </a:pPr>
            <a:r>
              <a:rPr sz="3000" b="1">
                <a:solidFill>
                  <a:srgbClr val="B7791F"/>
                </a:solidFill>
              </a:rPr>
              <a:t>selected=0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D99A3EA-4D93-409B-A02F-036E9B044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4591050"/>
            <a:ext cx="71247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200">
                <a:solidFill>
                  <a:srgbClr val="5E756F"/>
                </a:solidFill>
              </a:defRPr>
            </a:pPr>
            <a:r>
              <a:rPr sz="1200">
                <a:solidFill>
                  <a:srgbClr val="5E756F"/>
                </a:solidFill>
              </a:rPr>
              <a:t>pilot dryfix 下 HEM available 但未被闭环选中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E351EE7-2951-41E1-948F-A6DBBB42C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5010150"/>
            <a:ext cx="71247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2000"/>
              </a:lnSpc>
              <a:buNone/>
              <a:defRPr sz="1275" b="1">
                <a:solidFill>
                  <a:srgbClr val="5E756F"/>
                </a:solidFill>
              </a:defRPr>
            </a:pPr>
            <a:r>
              <a:rPr sz="1275" b="1">
                <a:solidFill>
                  <a:srgbClr val="5E756F"/>
                </a:solidFill>
              </a:rPr>
              <a:t>下一定位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200ACBF-2FEF-4A69-9E9D-EAEAE1DF4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5314950"/>
            <a:ext cx="71247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000" b="1">
                <a:solidFill>
                  <a:srgbClr val="2F6F9F"/>
                </a:solidFill>
              </a:defRPr>
            </a:pPr>
            <a:r>
              <a:rPr sz="3000" b="1">
                <a:solidFill>
                  <a:srgbClr val="2F6F9F"/>
                </a:solidFill>
              </a:rPr>
              <a:t>反事实经验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01C263D-766D-4C6C-8C1A-D39F1ADDB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5829300"/>
            <a:ext cx="71247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200">
                <a:solidFill>
                  <a:srgbClr val="5E756F"/>
                </a:solidFill>
              </a:defRPr>
            </a:pPr>
            <a:r>
              <a:rPr sz="1200">
                <a:solidFill>
                  <a:srgbClr val="5E756F"/>
                </a:solidFill>
              </a:rPr>
              <a:t>等强 PPO/SAC 与 RSPC 稳定后再重挖经验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8BC597D-4506-4149-8A57-D872F1697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9544050"/>
            <a:ext cx="159829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2000"/>
              </a:lnSpc>
              <a:buNone/>
              <a:defRPr sz="975">
                <a:solidFill>
                  <a:srgbClr val="789089"/>
                </a:solidFill>
              </a:defRPr>
            </a:pPr>
            <a:r>
              <a:rPr sz="975">
                <a:solidFill>
                  <a:srgbClr val="789089"/>
                </a:solidFill>
              </a:rPr>
              <a:t>数据来源：项目文档与 frozen benchmark / sentinel gate 诊断输出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BEEA48F-37B1-42C0-9B3D-FF0D72230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83050" y="9544050"/>
            <a:ext cx="7048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lnSpc>
                <a:spcPct val="122000"/>
              </a:lnSpc>
              <a:buNone/>
              <a:defRPr sz="975">
                <a:solidFill>
                  <a:srgbClr val="789089"/>
                </a:solidFill>
              </a:defRPr>
            </a:pPr>
            <a:r>
              <a:rPr sz="975">
                <a:solidFill>
                  <a:srgbClr val="789089"/>
                </a:solidFill>
              </a:rPr>
              <a:t>7/12</a:t>
            </a:r>
          </a:p>
        </p:txBody>
      </p:sp>
    </p:spTree>
    <p:extLst>
      <p:ext uri="{BB962C8B-B14F-4D97-AF65-F5344CB8AC3E}">
        <p14:creationId xmlns:p14="http://schemas.microsoft.com/office/powerpoint/2010/main" val="1562395423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5284A82-B8C8-4B74-BCC8-5265DBA2C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AF4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6EA249-2F32-4686-8671-E33E081A3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3815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7F0"/>
          </a:solidFill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9D6CE9-386C-4E85-BDFA-BF3D3F759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52450"/>
            <a:ext cx="5524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2000"/>
              </a:lnSpc>
              <a:buNone/>
              <a:defRPr sz="1425" b="1">
                <a:solidFill>
                  <a:srgbClr val="2E7D5B"/>
                </a:solidFill>
              </a:defRPr>
            </a:pPr>
            <a:r>
              <a:rPr sz="1425" b="1">
                <a:solidFill>
                  <a:srgbClr val="2E7D5B"/>
                </a:solidFill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93569D-ECC0-42EC-8572-56C8735F6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666750"/>
            <a:ext cx="857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5B"/>
          </a:solidFill>
          <a:ln xmlns:a="http://schemas.openxmlformats.org/drawingml/2006/main" w="0">
            <a:solidFill>
              <a:srgbClr val="2E7D5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EC0C21-257D-48A6-AF93-59E2B106B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71500"/>
            <a:ext cx="152781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lnSpc>
                <a:spcPct val="122000"/>
              </a:lnSpc>
              <a:buNone/>
              <a:defRPr sz="1275">
                <a:solidFill>
                  <a:srgbClr val="5E756F"/>
                </a:solidFill>
              </a:defRPr>
            </a:pPr>
            <a:r>
              <a:rPr sz="1275">
                <a:solidFill>
                  <a:srgbClr val="5E756F"/>
                </a:solidFill>
              </a:rPr>
              <a:t>温室控制项目进度汇报</a:t>
            </a:r>
          </a:p>
        </p:txBody>
      </p:sp>
      <p:sp>
        <p:nvSpPr>
          <p:cNvPr id="6" name="slide-8-title">
            <a:extLst xmlns:a="http://schemas.openxmlformats.org/drawingml/2006/main">
              <a:ext uri="{FF2B5EF4-FFF2-40B4-BE49-F238E27FC236}">
                <a16:creationId xmlns:a16="http://schemas.microsoft.com/office/drawing/2014/main" id="{0F5C2236-85B3-49EF-BBF8-98DB9B15B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914400"/>
            <a:ext cx="166878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3525" b="1">
                <a:solidFill>
                  <a:srgbClr val="17352E"/>
                </a:solidFill>
              </a:defRPr>
            </a:pPr>
            <a:r>
              <a:rPr sz="3525" b="1">
                <a:solidFill>
                  <a:srgbClr val="17352E"/>
                </a:solidFill>
              </a:rPr>
              <a:t>MC-SERO Shadow：后台机制候选评价器，先诊断再接管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51672C-D4D7-4528-8F28-47A53C0EE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581150"/>
            <a:ext cx="70866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4000"/>
              </a:lnSpc>
              <a:buNone/>
              <a:defRPr sz="1800">
                <a:solidFill>
                  <a:srgbClr val="5E756F"/>
                </a:solidFill>
              </a:defRPr>
            </a:pPr>
            <a:r>
              <a:rPr sz="1800">
                <a:solidFill>
                  <a:srgbClr val="5E756F"/>
                </a:solidFill>
              </a:rPr>
              <a:t>它不改变动作，只回答：如果由机制评分器选择，它会倾向什么候选？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13F8469-0B4B-4BA6-8D9D-4883D3747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94941"/>
            <a:ext cx="7801429" cy="179070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C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D35214-83D8-44AE-AB1F-269AF4A64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400300"/>
            <a:ext cx="952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7D5B"/>
          </a:solidFill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2BD8543-5FE0-4242-89CF-40218BCCE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381250"/>
            <a:ext cx="71437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2000"/>
              </a:lnSpc>
              <a:buNone/>
              <a:defRPr sz="1725" b="1">
                <a:solidFill>
                  <a:srgbClr val="17352E"/>
                </a:solidFill>
              </a:defRPr>
            </a:pPr>
            <a:r>
              <a:rPr sz="1725" b="1">
                <a:solidFill>
                  <a:srgbClr val="17352E"/>
                </a:solidFill>
              </a:rPr>
              <a:t>候选集合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55B2007-719B-4A60-9915-9B015BEAE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781300"/>
            <a:ext cx="73533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350">
                <a:solidFill>
                  <a:srgbClr val="5E756F"/>
                </a:solidFill>
              </a:defRPr>
            </a:pPr>
            <a:r>
              <a:rPr sz="1350">
                <a:solidFill>
                  <a:srgbClr val="5E756F"/>
                </a:solidFill>
              </a:rPr>
              <a:t>economy_hold、economic_dehumidify、safe_dehumidify、emergency_dehumidify、dry_recovery、heat_buffer，加上 anchor/rule/blend。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3356BE2-9526-4815-90FC-BF1E8E193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195191"/>
            <a:ext cx="7801429" cy="179070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EEF6FB"/>
          </a:solidFill>
          <a:ln xmlns:a="http://schemas.openxmlformats.org/drawingml/2006/main" w="9525">
            <a:solidFill>
              <a:srgbClr val="C9D8C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328B5FE-CDA3-4227-B08B-361272517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419600"/>
            <a:ext cx="952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6F9F"/>
          </a:solidFill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92A0DA9-CFE3-4311-818A-DAFACAB16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381500"/>
            <a:ext cx="71437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2000"/>
              </a:lnSpc>
              <a:buNone/>
              <a:defRPr sz="1725" b="1">
                <a:solidFill>
                  <a:srgbClr val="17352E"/>
                </a:solidFill>
              </a:defRPr>
            </a:pPr>
            <a:r>
              <a:rPr sz="1725" b="1">
                <a:solidFill>
                  <a:srgbClr val="17352E"/>
                </a:solidFill>
              </a:rPr>
              <a:t>评分窗口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BA0921D-A94E-4A66-B85F-5AA5A929E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781550"/>
            <a:ext cx="73533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350">
                <a:solidFill>
                  <a:srgbClr val="5E756F"/>
                </a:solidFill>
              </a:defRPr>
            </a:pPr>
            <a:r>
              <a:rPr sz="1350">
                <a:solidFill>
                  <a:srgbClr val="5E756F"/>
                </a:solidFill>
              </a:rPr>
              <a:t>6-step deterministic proxy horizon，考虑温度、RH、VPD、结露、能耗和执行器冲突。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EE9F631-F19D-4B23-99B2-AB2177214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195441"/>
            <a:ext cx="7801429" cy="179070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FBF4E8"/>
          </a:solidFill>
          <a:ln xmlns:a="http://schemas.openxmlformats.org/drawingml/2006/main" w="9525">
            <a:solidFill>
              <a:srgbClr val="C9D8C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D094A60-CF9B-43C8-8E38-747D933B5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400800"/>
            <a:ext cx="952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7791F"/>
          </a:solidFill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75CE8EC-A6DF-4831-B490-5ACDC2287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6381750"/>
            <a:ext cx="71437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2000"/>
              </a:lnSpc>
              <a:buNone/>
              <a:defRPr sz="1725" b="1">
                <a:solidFill>
                  <a:srgbClr val="17352E"/>
                </a:solidFill>
              </a:defRPr>
            </a:pPr>
            <a:r>
              <a:rPr sz="1725" b="1">
                <a:solidFill>
                  <a:srgbClr val="17352E"/>
                </a:solidFill>
              </a:rPr>
              <a:t>当前状态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105835A-7E1A-4D7B-A512-37F05184D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781800"/>
            <a:ext cx="73533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350">
                <a:solidFill>
                  <a:srgbClr val="5E756F"/>
                </a:solidFill>
              </a:defRPr>
            </a:pPr>
            <a:r>
              <a:rPr sz="1350">
                <a:solidFill>
                  <a:srgbClr val="5E756F"/>
                </a:solidFill>
              </a:rPr>
              <a:t>shadow mode 不覆盖 selected_control；llm_sero_shadow 与 llm 指标必须完全一致。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3526A5A-3ABC-4B72-8D62-096F824A7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6329" y="2194941"/>
            <a:ext cx="8581571" cy="7091629"/>
          </a:xfrm>
          <a:prstGeom xmlns:a="http://schemas.openxmlformats.org/drawingml/2006/main" prst="roundRect">
            <a:avLst>
              <a:gd name="adj" fmla="val 241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C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948B838-966F-451E-8660-BE059334E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457450"/>
            <a:ext cx="80391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2000"/>
              </a:lnSpc>
              <a:buNone/>
              <a:defRPr sz="2250" b="1">
                <a:solidFill>
                  <a:srgbClr val="17352E"/>
                </a:solidFill>
              </a:defRPr>
            </a:pPr>
            <a:r>
              <a:rPr sz="2250" b="1">
                <a:solidFill>
                  <a:srgbClr val="17352E"/>
                </a:solidFill>
              </a:rPr>
              <a:t>Pilot 中 MC-SERO 产生非零诊断信号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350E878-58B5-4CCD-AE1B-3B816C6B0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3086100"/>
            <a:ext cx="39052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2000"/>
              </a:lnSpc>
              <a:buNone/>
              <a:defRPr sz="1275" b="1">
                <a:solidFill>
                  <a:srgbClr val="5E756F"/>
                </a:solidFill>
              </a:defRPr>
            </a:pPr>
            <a:r>
              <a:rPr sz="1275" b="1">
                <a:solidFill>
                  <a:srgbClr val="5E756F"/>
                </a:solidFill>
              </a:rPr>
              <a:t>2020/d240/s42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EFFBFCA-4AF6-4E4C-9FE7-641B771A2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3390900"/>
            <a:ext cx="39052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000" b="1">
                <a:solidFill>
                  <a:srgbClr val="2E7D5B"/>
                </a:solidFill>
              </a:defRPr>
            </a:pPr>
            <a:r>
              <a:rPr sz="3000" b="1">
                <a:solidFill>
                  <a:srgbClr val="2E7D5B"/>
                </a:solidFill>
              </a:rPr>
              <a:t>105/240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121AEBC-8F2A-45CA-AF4B-FE7766150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3905250"/>
            <a:ext cx="39052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200">
                <a:solidFill>
                  <a:srgbClr val="5E756F"/>
                </a:solidFill>
              </a:defRPr>
            </a:pPr>
            <a:r>
              <a:rPr sz="1200">
                <a:solidFill>
                  <a:srgbClr val="5E756F"/>
                </a:solidFill>
              </a:rPr>
              <a:t>would-select steps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CEBB803-6963-499E-88F8-46A2429E3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15950" y="3086100"/>
            <a:ext cx="39052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2000"/>
              </a:lnSpc>
              <a:buNone/>
              <a:defRPr sz="1275" b="1">
                <a:solidFill>
                  <a:srgbClr val="5E756F"/>
                </a:solidFill>
              </a:defRPr>
            </a:pPr>
            <a:r>
              <a:rPr sz="1275" b="1">
                <a:solidFill>
                  <a:srgbClr val="5E756F"/>
                </a:solidFill>
              </a:rPr>
              <a:t>2015/d120/s43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B9A444E-5221-4323-B9AD-0FB55EE46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15950" y="3390900"/>
            <a:ext cx="39052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000" b="1">
                <a:solidFill>
                  <a:srgbClr val="2F6F9F"/>
                </a:solidFill>
              </a:defRPr>
            </a:pPr>
            <a:r>
              <a:rPr sz="3000" b="1">
                <a:solidFill>
                  <a:srgbClr val="2F6F9F"/>
                </a:solidFill>
              </a:rPr>
              <a:t>102/240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A705589-0FAB-4C86-81FC-A3DCC83C0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15950" y="3905250"/>
            <a:ext cx="39052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200">
                <a:solidFill>
                  <a:srgbClr val="5E756F"/>
                </a:solidFill>
              </a:defRPr>
            </a:pPr>
            <a:r>
              <a:rPr sz="1200">
                <a:solidFill>
                  <a:srgbClr val="5E756F"/>
                </a:solidFill>
              </a:rPr>
              <a:t>would-select steps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2068D4C-56A5-47C1-838B-3D2631D82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4305300"/>
            <a:ext cx="80391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800">
                <a:solidFill>
                  <a:srgbClr val="17352E"/>
                </a:solidFill>
              </a:defRPr>
            </a:pPr>
            <a:r>
              <a:rPr sz="1800">
                <a:solidFill>
                  <a:srgbClr val="17352E"/>
                </a:solidFill>
              </a:rPr>
              <a:t>意义：它能定位 RSPC 可能需要改进的状态窗口，但还没有进入真实闭环选择。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6C7A012-F93E-4810-956B-547C362A4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9544050"/>
            <a:ext cx="159829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2000"/>
              </a:lnSpc>
              <a:buNone/>
              <a:defRPr sz="975">
                <a:solidFill>
                  <a:srgbClr val="789089"/>
                </a:solidFill>
              </a:defRPr>
            </a:pPr>
            <a:r>
              <a:rPr sz="975">
                <a:solidFill>
                  <a:srgbClr val="789089"/>
                </a:solidFill>
              </a:rPr>
              <a:t>数据来源：项目文档与 frozen benchmark / sentinel gate 诊断输出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817D7CC-8DCA-4EF0-AC36-62A70914B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83050" y="9544050"/>
            <a:ext cx="7048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lnSpc>
                <a:spcPct val="122000"/>
              </a:lnSpc>
              <a:buNone/>
              <a:defRPr sz="975">
                <a:solidFill>
                  <a:srgbClr val="789089"/>
                </a:solidFill>
              </a:defRPr>
            </a:pPr>
            <a:r>
              <a:rPr sz="975">
                <a:solidFill>
                  <a:srgbClr val="789089"/>
                </a:solidFill>
              </a:rPr>
              <a:t>8/12</a:t>
            </a:r>
          </a:p>
        </p:txBody>
      </p:sp>
    </p:spTree>
    <p:extLst>
      <p:ext uri="{BB962C8B-B14F-4D97-AF65-F5344CB8AC3E}">
        <p14:creationId xmlns:p14="http://schemas.microsoft.com/office/powerpoint/2010/main" val="1574694420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D19FB96-D8DA-495E-9477-A4F3C0965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AF4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14FCFF-DEC4-432E-BFC5-88D0082E4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3815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8F2"/>
          </a:solidFill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B94EF1-DBEB-4444-AA23-5E579AC5D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52450"/>
            <a:ext cx="5524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2000"/>
              </a:lnSpc>
              <a:buNone/>
              <a:defRPr sz="1425" b="1">
                <a:solidFill>
                  <a:srgbClr val="2E7D5B"/>
                </a:solidFill>
              </a:defRPr>
            </a:pPr>
            <a:r>
              <a:rPr sz="1425" b="1">
                <a:solidFill>
                  <a:srgbClr val="2E7D5B"/>
                </a:solidFill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BD2D2E-015E-40AE-B54A-C9DF999D6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666750"/>
            <a:ext cx="857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5B"/>
          </a:solidFill>
          <a:ln xmlns:a="http://schemas.openxmlformats.org/drawingml/2006/main" w="0">
            <a:solidFill>
              <a:srgbClr val="2E7D5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637EE4-776F-433C-AB18-869245313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71500"/>
            <a:ext cx="152781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lnSpc>
                <a:spcPct val="122000"/>
              </a:lnSpc>
              <a:buNone/>
              <a:defRPr sz="1275">
                <a:solidFill>
                  <a:srgbClr val="5E756F"/>
                </a:solidFill>
              </a:defRPr>
            </a:pPr>
            <a:r>
              <a:rPr sz="1275">
                <a:solidFill>
                  <a:srgbClr val="5E756F"/>
                </a:solidFill>
              </a:rPr>
              <a:t>温室控制项目进度汇报</a:t>
            </a:r>
          </a:p>
        </p:txBody>
      </p:sp>
      <p:sp>
        <p:nvSpPr>
          <p:cNvPr id="6" name="slide-9-title">
            <a:extLst xmlns:a="http://schemas.openxmlformats.org/drawingml/2006/main">
              <a:ext uri="{FF2B5EF4-FFF2-40B4-BE49-F238E27FC236}">
                <a16:creationId xmlns:a16="http://schemas.microsoft.com/office/drawing/2014/main" id="{EBFF74DB-CC98-4CE9-B488-1695CC6DF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914400"/>
            <a:ext cx="166878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3525" b="1">
                <a:solidFill>
                  <a:srgbClr val="17352E"/>
                </a:solidFill>
              </a:defRPr>
            </a:pPr>
            <a:r>
              <a:rPr sz="3525" b="1">
                <a:solidFill>
                  <a:srgbClr val="17352E"/>
                </a:solidFill>
              </a:rPr>
              <a:t>Tomato Safety v2：番茄机理护栏，专门处理低 RH / 高 VPD / 冷恢复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0FBC37-DB02-4AF7-A015-8A7F6DB65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581150"/>
            <a:ext cx="85153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4000"/>
              </a:lnSpc>
              <a:buNone/>
              <a:defRPr sz="1800">
                <a:solidFill>
                  <a:srgbClr val="5E756F"/>
                </a:solidFill>
              </a:defRPr>
            </a:pPr>
            <a:r>
              <a:rPr sz="1800">
                <a:solidFill>
                  <a:srgbClr val="5E756F"/>
                </a:solidFill>
              </a:rPr>
              <a:t>v2 默认关闭，只通过 llm_rspc_v2 标签 opt-in 验证，避免污染普通 LLM-RSPC baseline。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DC14F8-5477-4F92-A0F0-FF17013BD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94941"/>
            <a:ext cx="5410200" cy="7091629"/>
          </a:xfrm>
          <a:prstGeom xmlns:a="http://schemas.openxmlformats.org/drawingml/2006/main" prst="roundRect">
            <a:avLst>
              <a:gd name="adj" fmla="val 31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C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BE47BD-E1E4-4EF2-9ACC-CCCC80C93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442591"/>
            <a:ext cx="1219200" cy="389458"/>
          </a:xfrm>
          <a:prstGeom xmlns:a="http://schemas.openxmlformats.org/drawingml/2006/main" prst="roundRect">
            <a:avLst>
              <a:gd name="adj" fmla="val 44023"/>
            </a:avLst>
          </a:prstGeom>
          <a:solidFill xmlns:a="http://schemas.openxmlformats.org/drawingml/2006/main">
            <a:srgbClr val="F4E2BD"/>
          </a:solidFill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91F2BF2-DC7B-40C8-BCF9-709E8B92B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514600"/>
            <a:ext cx="8763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lnSpc>
                <a:spcPct val="122000"/>
              </a:lnSpc>
              <a:buNone/>
              <a:defRPr sz="1275" b="1">
                <a:solidFill>
                  <a:srgbClr val="B7791F"/>
                </a:solidFill>
              </a:defRPr>
            </a:pPr>
            <a:r>
              <a:rPr sz="1275" b="1">
                <a:solidFill>
                  <a:srgbClr val="B7791F"/>
                </a:solidFill>
              </a:rPr>
              <a:t>dry guard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B43F87D-FB6C-43B5-8043-26BD33A8F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009900"/>
            <a:ext cx="49149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2000"/>
              </a:lnSpc>
              <a:buNone/>
              <a:defRPr sz="2325" b="1">
                <a:solidFill>
                  <a:srgbClr val="17352E"/>
                </a:solidFill>
              </a:defRPr>
            </a:pPr>
            <a:r>
              <a:rPr sz="2325" b="1">
                <a:solidFill>
                  <a:srgbClr val="17352E"/>
                </a:solidFill>
              </a:rPr>
              <a:t>干侧保护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3EE9B2F-BF08-47A1-A5F0-24746B77C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600450"/>
            <a:ext cx="2095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2000"/>
              </a:lnSpc>
              <a:buNone/>
              <a:defRPr sz="1800" b="1">
                <a:solidFill>
                  <a:srgbClr val="2E7D5B"/>
                </a:solidFill>
              </a:defRPr>
            </a:pPr>
            <a:r>
              <a:rPr sz="1800" b="1">
                <a:solidFill>
                  <a:srgbClr val="2E7D5B"/>
                </a:solidFill>
              </a:rPr>
              <a:t>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40559EB-B470-4F5F-9844-9C14CDA1E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600450"/>
            <a:ext cx="4572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500">
                <a:solidFill>
                  <a:srgbClr val="17352E"/>
                </a:solidFill>
              </a:defRPr>
            </a:pPr>
            <a:r>
              <a:rPr sz="1500">
                <a:solidFill>
                  <a:srgbClr val="17352E"/>
                </a:solidFill>
              </a:rPr>
              <a:t>RH &lt; 55 或 VPD &gt; 1.2 触发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C66874C-FB2E-4400-9342-49252D9D1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076700"/>
            <a:ext cx="2095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2000"/>
              </a:lnSpc>
              <a:buNone/>
              <a:defRPr sz="1800" b="1">
                <a:solidFill>
                  <a:srgbClr val="2E7D5B"/>
                </a:solidFill>
              </a:defRPr>
            </a:pPr>
            <a:r>
              <a:rPr sz="1800" b="1">
                <a:solidFill>
                  <a:srgbClr val="2E7D5B"/>
                </a:solidFill>
              </a:rPr>
              <a:t>•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54A4954-5D13-4506-84B9-C1DAA5F04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076700"/>
            <a:ext cx="4572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500">
                <a:solidFill>
                  <a:srgbClr val="17352E"/>
                </a:solidFill>
              </a:defRPr>
            </a:pPr>
            <a:r>
              <a:rPr sz="1500">
                <a:solidFill>
                  <a:srgbClr val="17352E"/>
                </a:solidFill>
              </a:rPr>
              <a:t>限制通风、CO2、补光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918D06B-719D-4D81-9C29-9194AF47A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533900"/>
            <a:ext cx="2095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2000"/>
              </a:lnSpc>
              <a:buNone/>
              <a:defRPr sz="1800" b="1">
                <a:solidFill>
                  <a:srgbClr val="2E7D5B"/>
                </a:solidFill>
              </a:defRPr>
            </a:pPr>
            <a:r>
              <a:rPr sz="1800" b="1">
                <a:solidFill>
                  <a:srgbClr val="2E7D5B"/>
                </a:solidFill>
              </a:rPr>
              <a:t>•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E266EF5-DFD4-4D92-931C-BF9ECA35C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533900"/>
            <a:ext cx="4572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500">
                <a:solidFill>
                  <a:srgbClr val="17352E"/>
                </a:solidFill>
              </a:defRPr>
            </a:pPr>
            <a:r>
              <a:rPr sz="1500">
                <a:solidFill>
                  <a:srgbClr val="17352E"/>
                </a:solidFill>
              </a:rPr>
              <a:t>RH &lt; 50 或 VPD &gt; 1.6 强保护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269E232-B411-4C88-9770-CAE4280DA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194941"/>
            <a:ext cx="5410200" cy="7091629"/>
          </a:xfrm>
          <a:prstGeom xmlns:a="http://schemas.openxmlformats.org/drawingml/2006/main" prst="roundRect">
            <a:avLst>
              <a:gd name="adj" fmla="val 31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C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DB64E57-C14C-46D4-ADBC-F4E4F5E15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442591"/>
            <a:ext cx="1466850" cy="389458"/>
          </a:xfrm>
          <a:prstGeom xmlns:a="http://schemas.openxmlformats.org/drawingml/2006/main" prst="roundRect">
            <a:avLst>
              <a:gd name="adj" fmla="val 44023"/>
            </a:avLst>
          </a:prstGeom>
          <a:solidFill xmlns:a="http://schemas.openxmlformats.org/drawingml/2006/main">
            <a:srgbClr val="D9EAF5"/>
          </a:solidFill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BD107B0-BFF1-44AA-A5B8-B6B597206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514600"/>
            <a:ext cx="11239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lnSpc>
                <a:spcPct val="122000"/>
              </a:lnSpc>
              <a:buNone/>
              <a:defRPr sz="1275" b="1">
                <a:solidFill>
                  <a:srgbClr val="2F6F9F"/>
                </a:solidFill>
              </a:defRPr>
            </a:pPr>
            <a:r>
              <a:rPr sz="1275" b="1">
                <a:solidFill>
                  <a:srgbClr val="2F6F9F"/>
                </a:solidFill>
              </a:rPr>
              <a:t>cold recovery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8126445-8F82-43EB-8D0C-DD4D68E4C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009900"/>
            <a:ext cx="49149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2000"/>
              </a:lnSpc>
              <a:buNone/>
              <a:defRPr sz="2325" b="1">
                <a:solidFill>
                  <a:srgbClr val="17352E"/>
                </a:solidFill>
              </a:defRPr>
            </a:pPr>
            <a:r>
              <a:rPr sz="2325" b="1">
                <a:solidFill>
                  <a:srgbClr val="17352E"/>
                </a:solidFill>
              </a:rPr>
              <a:t>低温恢复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E7E1629-6BC1-4957-A776-5DAC4D3E5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600450"/>
            <a:ext cx="2095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2000"/>
              </a:lnSpc>
              <a:buNone/>
              <a:defRPr sz="1800" b="1">
                <a:solidFill>
                  <a:srgbClr val="2E7D5B"/>
                </a:solidFill>
              </a:defRPr>
            </a:pPr>
            <a:r>
              <a:rPr sz="1800" b="1">
                <a:solidFill>
                  <a:srgbClr val="2E7D5B"/>
                </a:solidFill>
              </a:rPr>
              <a:t>•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7BD83F1-3798-42EE-A153-7E9DFA1C9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600450"/>
            <a:ext cx="4572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500">
                <a:solidFill>
                  <a:srgbClr val="17352E"/>
                </a:solidFill>
              </a:defRPr>
            </a:pPr>
            <a:r>
              <a:rPr sz="1500">
                <a:solidFill>
                  <a:srgbClr val="17352E"/>
                </a:solidFill>
              </a:rPr>
              <a:t>temp_air &lt; 15.5 且非极端结露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0A917CC-E8F1-4AAA-9EFE-87B832498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4076700"/>
            <a:ext cx="2095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2000"/>
              </a:lnSpc>
              <a:buNone/>
              <a:defRPr sz="1800" b="1">
                <a:solidFill>
                  <a:srgbClr val="2E7D5B"/>
                </a:solidFill>
              </a:defRPr>
            </a:pPr>
            <a:r>
              <a:rPr sz="1800" b="1">
                <a:solidFill>
                  <a:srgbClr val="2E7D5B"/>
                </a:solidFill>
              </a:rPr>
              <a:t>•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E9ECDE3-9997-483D-A6C0-2215F82E8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076700"/>
            <a:ext cx="4572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500">
                <a:solidFill>
                  <a:srgbClr val="17352E"/>
                </a:solidFill>
              </a:defRPr>
            </a:pPr>
            <a:r>
              <a:rPr sz="1500">
                <a:solidFill>
                  <a:srgbClr val="17352E"/>
                </a:solidFill>
              </a:rPr>
              <a:t>禁止大通风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ED07157-D567-4BF2-B7DD-C920BF086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4533900"/>
            <a:ext cx="2095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2000"/>
              </a:lnSpc>
              <a:buNone/>
              <a:defRPr sz="1800" b="1">
                <a:solidFill>
                  <a:srgbClr val="2E7D5B"/>
                </a:solidFill>
              </a:defRPr>
            </a:pPr>
            <a:r>
              <a:rPr sz="1800" b="1">
                <a:solidFill>
                  <a:srgbClr val="2E7D5B"/>
                </a:solidFill>
              </a:rPr>
              <a:t>•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F75ADB8-D7DC-4ECF-B637-C1E322A7A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533900"/>
            <a:ext cx="4572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500">
                <a:solidFill>
                  <a:srgbClr val="17352E"/>
                </a:solidFill>
              </a:defRPr>
            </a:pPr>
            <a:r>
              <a:rPr sz="1500">
                <a:solidFill>
                  <a:srgbClr val="17352E"/>
                </a:solidFill>
              </a:rPr>
              <a:t>优先保温与轻补热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A44401D-A2CE-43D3-942C-1E4BC80CE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7700" y="2194941"/>
            <a:ext cx="5410200" cy="7091629"/>
          </a:xfrm>
          <a:prstGeom xmlns:a="http://schemas.openxmlformats.org/drawingml/2006/main" prst="roundRect">
            <a:avLst>
              <a:gd name="adj" fmla="val 31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C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74A7BC6-0794-4166-8155-2FEE6D83D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25350" y="2442591"/>
            <a:ext cx="1352550" cy="389458"/>
          </a:xfrm>
          <a:prstGeom xmlns:a="http://schemas.openxmlformats.org/drawingml/2006/main" prst="roundRect">
            <a:avLst>
              <a:gd name="adj" fmla="val 44023"/>
            </a:avLst>
          </a:prstGeom>
          <a:solidFill xmlns:a="http://schemas.openxmlformats.org/drawingml/2006/main">
            <a:srgbClr val="DDEFE5"/>
          </a:solidFill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92C920E-0241-4337-A817-7981A33A3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96800" y="2514600"/>
            <a:ext cx="10096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lnSpc>
                <a:spcPct val="122000"/>
              </a:lnSpc>
              <a:buNone/>
              <a:defRPr sz="1275" b="1">
                <a:solidFill>
                  <a:srgbClr val="2E7D5B"/>
                </a:solidFill>
              </a:defRPr>
            </a:pPr>
            <a:r>
              <a:rPr sz="1275" b="1">
                <a:solidFill>
                  <a:srgbClr val="2E7D5B"/>
                </a:solidFill>
              </a:rPr>
              <a:t>replay safe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7220120-73DF-46EB-95E7-1D08C0947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25350" y="3009900"/>
            <a:ext cx="49149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2000"/>
              </a:lnSpc>
              <a:buNone/>
              <a:defRPr sz="2325" b="1">
                <a:solidFill>
                  <a:srgbClr val="17352E"/>
                </a:solidFill>
              </a:defRPr>
            </a:pPr>
            <a:r>
              <a:rPr sz="2325" b="1">
                <a:solidFill>
                  <a:srgbClr val="17352E"/>
                </a:solidFill>
              </a:rPr>
              <a:t>评估约束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C50E672-47AB-40C8-8099-4FE15A2A3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25350" y="3600450"/>
            <a:ext cx="2095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2000"/>
              </a:lnSpc>
              <a:buNone/>
              <a:defRPr sz="1800" b="1">
                <a:solidFill>
                  <a:srgbClr val="2E7D5B"/>
                </a:solidFill>
              </a:defRPr>
            </a:pPr>
            <a:r>
              <a:rPr sz="1800" b="1">
                <a:solidFill>
                  <a:srgbClr val="2E7D5B"/>
                </a:solidFill>
              </a:rPr>
              <a:t>•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5F682D0-E8D4-4443-B627-09E698E22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0" y="3600450"/>
            <a:ext cx="4572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500">
                <a:solidFill>
                  <a:srgbClr val="17352E"/>
                </a:solidFill>
              </a:defRPr>
            </a:pPr>
            <a:r>
              <a:rPr sz="1500">
                <a:solidFill>
                  <a:srgbClr val="17352E"/>
                </a:solidFill>
              </a:rPr>
              <a:t>strict replay 下 cache hit 必须满步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F9329EC-EFF2-494D-9458-A2DD8C7B6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25350" y="4076700"/>
            <a:ext cx="2095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2000"/>
              </a:lnSpc>
              <a:buNone/>
              <a:defRPr sz="1800" b="1">
                <a:solidFill>
                  <a:srgbClr val="2E7D5B"/>
                </a:solidFill>
              </a:defRPr>
            </a:pPr>
            <a:r>
              <a:rPr sz="1800" b="1">
                <a:solidFill>
                  <a:srgbClr val="2E7D5B"/>
                </a:solidFill>
              </a:rPr>
              <a:t>•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CB0AB37-2D77-4274-8D68-EFA6C19DD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0" y="4076700"/>
            <a:ext cx="4572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500">
                <a:solidFill>
                  <a:srgbClr val="17352E"/>
                </a:solidFill>
              </a:defRPr>
            </a:pPr>
            <a:r>
              <a:rPr sz="1500">
                <a:solidFill>
                  <a:srgbClr val="17352E"/>
                </a:solidFill>
              </a:rPr>
              <a:t>记录 suppressed replan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2B40471-68D9-4A4D-83AD-AFA4C1331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25350" y="4533900"/>
            <a:ext cx="2095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2000"/>
              </a:lnSpc>
              <a:buNone/>
              <a:defRPr sz="1800" b="1">
                <a:solidFill>
                  <a:srgbClr val="2E7D5B"/>
                </a:solidFill>
              </a:defRPr>
            </a:pPr>
            <a:r>
              <a:rPr sz="1800" b="1">
                <a:solidFill>
                  <a:srgbClr val="2E7D5B"/>
                </a:solidFill>
              </a:rPr>
              <a:t>•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4F3A6F8-9445-4561-AD58-CE9A29F4A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0" y="4533900"/>
            <a:ext cx="4572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500">
                <a:solidFill>
                  <a:srgbClr val="17352E"/>
                </a:solidFill>
              </a:defRPr>
            </a:pPr>
            <a:r>
              <a:rPr sz="1500">
                <a:solidFill>
                  <a:srgbClr val="17352E"/>
                </a:solidFill>
              </a:rPr>
              <a:t>不改变 llm baseline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016E3FF-5337-44DC-8F30-653DAFC0D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9544050"/>
            <a:ext cx="159829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2000"/>
              </a:lnSpc>
              <a:buNone/>
              <a:defRPr sz="975">
                <a:solidFill>
                  <a:srgbClr val="789089"/>
                </a:solidFill>
              </a:defRPr>
            </a:pPr>
            <a:r>
              <a:rPr sz="975">
                <a:solidFill>
                  <a:srgbClr val="789089"/>
                </a:solidFill>
              </a:rPr>
              <a:t>数据来源：项目文档与 frozen benchmark / sentinel gate 诊断输出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7486970-76C4-4409-AC2F-A0AF61B85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83050" y="9544050"/>
            <a:ext cx="7048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lnSpc>
                <a:spcPct val="122000"/>
              </a:lnSpc>
              <a:buNone/>
              <a:defRPr sz="975">
                <a:solidFill>
                  <a:srgbClr val="789089"/>
                </a:solidFill>
              </a:defRPr>
            </a:pPr>
            <a:r>
              <a:rPr sz="975">
                <a:solidFill>
                  <a:srgbClr val="789089"/>
                </a:solidFill>
              </a:rPr>
              <a:t>9/12</a:t>
            </a:r>
          </a:p>
        </p:txBody>
      </p:sp>
    </p:spTree>
    <p:extLst>
      <p:ext uri="{BB962C8B-B14F-4D97-AF65-F5344CB8AC3E}">
        <p14:creationId xmlns:p14="http://schemas.microsoft.com/office/powerpoint/2010/main" val="287143459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7FB3573-67F5-48A9-B422-BE95C2A9F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AF4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06EDE1-95DF-465F-BAE1-60FF7DFCC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3815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7F0"/>
          </a:solidFill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F07999-61D6-4602-8A39-5FBE63A72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52450"/>
            <a:ext cx="5524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2000"/>
              </a:lnSpc>
              <a:buNone/>
              <a:defRPr sz="1425" b="1">
                <a:solidFill>
                  <a:srgbClr val="2E7D5B"/>
                </a:solidFill>
              </a:defRPr>
            </a:pPr>
            <a:r>
              <a:rPr sz="1425" b="1">
                <a:solidFill>
                  <a:srgbClr val="2E7D5B"/>
                </a:solidFill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F41BB8-F6C3-4FCD-879E-1C599A04B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666750"/>
            <a:ext cx="857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5B"/>
          </a:solidFill>
          <a:ln xmlns:a="http://schemas.openxmlformats.org/drawingml/2006/main" w="0">
            <a:solidFill>
              <a:srgbClr val="2E7D5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1C5892-02FB-4F3D-B013-E6BC497A8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71500"/>
            <a:ext cx="152781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lnSpc>
                <a:spcPct val="122000"/>
              </a:lnSpc>
              <a:buNone/>
              <a:defRPr sz="1275">
                <a:solidFill>
                  <a:srgbClr val="5E756F"/>
                </a:solidFill>
              </a:defRPr>
            </a:pPr>
            <a:r>
              <a:rPr sz="1275">
                <a:solidFill>
                  <a:srgbClr val="5E756F"/>
                </a:solidFill>
              </a:rPr>
              <a:t>温室控制项目进度汇报</a:t>
            </a:r>
          </a:p>
        </p:txBody>
      </p:sp>
      <p:sp>
        <p:nvSpPr>
          <p:cNvPr id="6" name="slide-10-title">
            <a:extLst xmlns:a="http://schemas.openxmlformats.org/drawingml/2006/main">
              <a:ext uri="{FF2B5EF4-FFF2-40B4-BE49-F238E27FC236}">
                <a16:creationId xmlns:a16="http://schemas.microsoft.com/office/drawing/2014/main" id="{B4084693-F646-49FC-AEE2-DE515EC41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914400"/>
            <a:ext cx="166878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3525" b="1">
                <a:solidFill>
                  <a:srgbClr val="17352E"/>
                </a:solidFill>
              </a:defRPr>
            </a:pPr>
            <a:r>
              <a:rPr sz="3525" b="1">
                <a:solidFill>
                  <a:srgbClr val="17352E"/>
                </a:solidFill>
              </a:rPr>
              <a:t>Pilot 结果：v2 在两个代表场景上显著改善低湿和 VPD 风险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040F01-7B0A-418F-BEC1-A5A46230A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581150"/>
            <a:ext cx="73914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4000"/>
              </a:lnSpc>
              <a:buNone/>
              <a:defRPr sz="1800">
                <a:solidFill>
                  <a:srgbClr val="5E756F"/>
                </a:solidFill>
              </a:defRPr>
            </a:pPr>
            <a:r>
              <a:rPr sz="1800">
                <a:solidFill>
                  <a:srgbClr val="5E756F"/>
                </a:solidFill>
              </a:rPr>
              <a:t>注意：这是 pilot 级别的积极信号，还不能直接扩展为最终论文性能结论。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D1FFD3-429A-4016-AB06-A47604AEE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535098"/>
            <a:ext cx="2190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5B"/>
          </a:solidFill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2EE0AF-0459-4B92-8695-E9A3FEF6E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47950"/>
            <a:ext cx="19240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场景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B235D31-5262-49A0-98A7-014D047E1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535098"/>
            <a:ext cx="2000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5B"/>
          </a:solidFill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E96C006-12C7-499C-B502-A25407B9C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2647950"/>
            <a:ext cx="17335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lnSpc>
                <a:spcPct val="122000"/>
              </a:lnSpc>
              <a:buNone/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指标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7109866-9F2A-49A7-8C58-D556664C7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535098"/>
            <a:ext cx="1619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5B"/>
          </a:solidFill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F71A38E-0B0B-46AE-B213-0F5C5EE99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647950"/>
            <a:ext cx="13525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lnSpc>
                <a:spcPct val="122000"/>
              </a:lnSpc>
              <a:buNone/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LLM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02DD3D0-0FC3-4170-8130-38318B757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535098"/>
            <a:ext cx="2095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5B"/>
          </a:solidFill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3E7BEC2-EB03-4094-BB24-27900B251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647950"/>
            <a:ext cx="18288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lnSpc>
                <a:spcPct val="122000"/>
              </a:lnSpc>
              <a:buNone/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LLM-RSPC v2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F4C6193-37CE-4E62-AF12-EC5A7CB40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535098"/>
            <a:ext cx="1428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5B"/>
          </a:solidFill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2496996-7FCD-4C51-9B0E-2F05A656F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647950"/>
            <a:ext cx="11620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lnSpc>
                <a:spcPct val="122000"/>
              </a:lnSpc>
              <a:buNone/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变化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4956899-EEB4-4BA9-8924-7D2463263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2535098"/>
            <a:ext cx="73533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5B"/>
          </a:solidFill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C2F0663-9CD5-4E48-BC71-473607003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2647950"/>
            <a:ext cx="70866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lnSpc>
                <a:spcPct val="122000"/>
              </a:lnSpc>
              <a:buNone/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解读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3F34F4C-E6EB-406F-A2BC-6FEE0524E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49448"/>
            <a:ext cx="2190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9E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823D57B-3DEE-4CEF-AC03-7B2F69867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162300"/>
            <a:ext cx="19240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200" b="0">
                <a:solidFill>
                  <a:srgbClr val="17352E"/>
                </a:solidFill>
              </a:defRPr>
            </a:pPr>
            <a:r>
              <a:rPr sz="1200" b="0">
                <a:solidFill>
                  <a:srgbClr val="17352E"/>
                </a:solidFill>
              </a:rPr>
              <a:t>2015/d120/s43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F43486E-D641-4491-88AC-4CFF9BF10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049448"/>
            <a:ext cx="2000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9E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6922595-C0C7-43D1-970F-09331A0CD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3162300"/>
            <a:ext cx="17335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lnSpc>
                <a:spcPct val="122000"/>
              </a:lnSpc>
              <a:buNone/>
              <a:defRPr sz="1275" b="0">
                <a:solidFill>
                  <a:srgbClr val="17352E"/>
                </a:solidFill>
              </a:defRPr>
            </a:pPr>
            <a:r>
              <a:rPr sz="1275" b="0">
                <a:solidFill>
                  <a:srgbClr val="17352E"/>
                </a:solidFill>
              </a:rPr>
              <a:t>RH-low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1869DF3-6753-44C7-B815-DFE1F93AD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3049448"/>
            <a:ext cx="1619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9E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A9141C5-9A40-4511-B94C-577F338A6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162300"/>
            <a:ext cx="13525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lnSpc>
                <a:spcPct val="122000"/>
              </a:lnSpc>
              <a:buNone/>
              <a:defRPr sz="1275" b="0">
                <a:solidFill>
                  <a:srgbClr val="17352E"/>
                </a:solidFill>
              </a:defRPr>
            </a:pPr>
            <a:r>
              <a:rPr sz="1275" b="0">
                <a:solidFill>
                  <a:srgbClr val="17352E"/>
                </a:solidFill>
              </a:rPr>
              <a:t>170.71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E018FE8-6453-47E2-88D5-41F38F246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049448"/>
            <a:ext cx="2095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9E3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1956B6C-B2A4-4A81-979E-8CB4BBAAC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162300"/>
            <a:ext cx="18288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lnSpc>
                <a:spcPct val="122000"/>
              </a:lnSpc>
              <a:buNone/>
              <a:defRPr sz="1275" b="0">
                <a:solidFill>
                  <a:srgbClr val="17352E"/>
                </a:solidFill>
              </a:defRPr>
            </a:pPr>
            <a:r>
              <a:rPr sz="1275" b="0">
                <a:solidFill>
                  <a:srgbClr val="17352E"/>
                </a:solidFill>
              </a:rPr>
              <a:t>4.59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7D740CE-6AF1-4B1C-82AD-E48B080CD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049448"/>
            <a:ext cx="1428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9E3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DAC13E5-51E4-4059-A7B9-27E91E36A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162300"/>
            <a:ext cx="11620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lnSpc>
                <a:spcPct val="122000"/>
              </a:lnSpc>
              <a:buNone/>
              <a:defRPr sz="1275" b="0">
                <a:solidFill>
                  <a:srgbClr val="17352E"/>
                </a:solidFill>
              </a:defRPr>
            </a:pPr>
            <a:r>
              <a:rPr sz="1275" b="0">
                <a:solidFill>
                  <a:srgbClr val="17352E"/>
                </a:solidFill>
              </a:rPr>
              <a:t>-97.3%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536C97F-8A21-4F0E-BE28-26E5E08BF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3049448"/>
            <a:ext cx="73533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9E3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34604F5-46E9-480E-8BCD-267A06FE0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3162300"/>
            <a:ext cx="70866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lnSpc>
                <a:spcPct val="122000"/>
              </a:lnSpc>
              <a:buNone/>
              <a:defRPr sz="1275" b="1">
                <a:solidFill>
                  <a:srgbClr val="2E7D5B"/>
                </a:solidFill>
              </a:defRPr>
            </a:pPr>
            <a:r>
              <a:rPr sz="1275" b="1">
                <a:solidFill>
                  <a:srgbClr val="2E7D5B"/>
                </a:solidFill>
              </a:rPr>
              <a:t>低湿风险显著下降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1BACDB5-16C6-448B-9AEF-28AC701EF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39998"/>
            <a:ext cx="2190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7F2"/>
          </a:solidFill>
          <a:ln xmlns:a="http://schemas.openxmlformats.org/drawingml/2006/main" w="9525">
            <a:solidFill>
              <a:srgbClr val="E0E9E3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D303F0B-85C9-47C8-AD0D-AA335888F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752850"/>
            <a:ext cx="19240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200" b="0">
                <a:solidFill>
                  <a:srgbClr val="17352E"/>
                </a:solidFill>
              </a:defRPr>
            </a:pPr>
            <a:r>
              <a:rPr sz="1200" b="0">
                <a:solidFill>
                  <a:srgbClr val="17352E"/>
                </a:solidFill>
              </a:rPr>
              <a:t>2015/d120/s43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3CC0716-0F6B-4C3E-B333-66C6B1052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639998"/>
            <a:ext cx="2000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7F2"/>
          </a:solidFill>
          <a:ln xmlns:a="http://schemas.openxmlformats.org/drawingml/2006/main" w="9525">
            <a:solidFill>
              <a:srgbClr val="E0E9E3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3A441DA-A1EC-459B-9D81-4FF92178C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3752850"/>
            <a:ext cx="17335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lnSpc>
                <a:spcPct val="122000"/>
              </a:lnSpc>
              <a:buNone/>
              <a:defRPr sz="1275" b="0">
                <a:solidFill>
                  <a:srgbClr val="17352E"/>
                </a:solidFill>
              </a:defRPr>
            </a:pPr>
            <a:r>
              <a:rPr sz="1275" b="0">
                <a:solidFill>
                  <a:srgbClr val="17352E"/>
                </a:solidFill>
              </a:rPr>
              <a:t>VPD-high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FD315C2-DC8F-4561-AA41-0F7BC4099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3639998"/>
            <a:ext cx="1619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7F2"/>
          </a:solidFill>
          <a:ln xmlns:a="http://schemas.openxmlformats.org/drawingml/2006/main" w="9525">
            <a:solidFill>
              <a:srgbClr val="E0E9E3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F360717-8040-4D02-BF62-83753C71B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752850"/>
            <a:ext cx="13525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lnSpc>
                <a:spcPct val="122000"/>
              </a:lnSpc>
              <a:buNone/>
              <a:defRPr sz="1275" b="0">
                <a:solidFill>
                  <a:srgbClr val="17352E"/>
                </a:solidFill>
              </a:defRPr>
            </a:pPr>
            <a:r>
              <a:rPr sz="1275" b="0">
                <a:solidFill>
                  <a:srgbClr val="17352E"/>
                </a:solidFill>
              </a:rPr>
              <a:t>21.35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2F5D8F9-609F-477C-B2B9-22829B5EF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639998"/>
            <a:ext cx="2095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7F2"/>
          </a:solidFill>
          <a:ln xmlns:a="http://schemas.openxmlformats.org/drawingml/2006/main" w="9525">
            <a:solidFill>
              <a:srgbClr val="E0E9E3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79449A3-443D-4A57-A67C-484287526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752850"/>
            <a:ext cx="18288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lnSpc>
                <a:spcPct val="122000"/>
              </a:lnSpc>
              <a:buNone/>
              <a:defRPr sz="1275" b="0">
                <a:solidFill>
                  <a:srgbClr val="17352E"/>
                </a:solidFill>
              </a:defRPr>
            </a:pPr>
            <a:r>
              <a:rPr sz="1275" b="0">
                <a:solidFill>
                  <a:srgbClr val="17352E"/>
                </a:solidFill>
              </a:rPr>
              <a:t>8.48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CB8E4B1-B12B-4296-B2E4-2BB82A8BF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639998"/>
            <a:ext cx="1428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7F2"/>
          </a:solidFill>
          <a:ln xmlns:a="http://schemas.openxmlformats.org/drawingml/2006/main" w="9525">
            <a:solidFill>
              <a:srgbClr val="E0E9E3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570628F-331E-44C5-A67F-8222BF2F4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752850"/>
            <a:ext cx="11620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lnSpc>
                <a:spcPct val="122000"/>
              </a:lnSpc>
              <a:buNone/>
              <a:defRPr sz="1275" b="0">
                <a:solidFill>
                  <a:srgbClr val="17352E"/>
                </a:solidFill>
              </a:defRPr>
            </a:pPr>
            <a:r>
              <a:rPr sz="1275" b="0">
                <a:solidFill>
                  <a:srgbClr val="17352E"/>
                </a:solidFill>
              </a:rPr>
              <a:t>-60.3%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AE5B7FB-BBA6-4738-9CA0-7D5EF9B67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3639998"/>
            <a:ext cx="73533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7F2"/>
          </a:solidFill>
          <a:ln xmlns:a="http://schemas.openxmlformats.org/drawingml/2006/main" w="9525">
            <a:solidFill>
              <a:srgbClr val="E0E9E3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44D5845-D84B-47DD-B90E-CC7FD1600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3752850"/>
            <a:ext cx="70866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lnSpc>
                <a:spcPct val="122000"/>
              </a:lnSpc>
              <a:buNone/>
              <a:defRPr sz="1275" b="1">
                <a:solidFill>
                  <a:srgbClr val="2E7D5B"/>
                </a:solidFill>
              </a:defRPr>
            </a:pPr>
            <a:r>
              <a:rPr sz="1275" b="1">
                <a:solidFill>
                  <a:srgbClr val="2E7D5B"/>
                </a:solidFill>
              </a:rPr>
              <a:t>高 VPD 明显缓解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21F630B-5208-46D3-B04E-0F98A52B1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30548"/>
            <a:ext cx="2190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9E3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61AE66F-7442-4A39-9E3E-507F98D71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343400"/>
            <a:ext cx="19240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200" b="0">
                <a:solidFill>
                  <a:srgbClr val="17352E"/>
                </a:solidFill>
              </a:defRPr>
            </a:pPr>
            <a:r>
              <a:rPr sz="1200" b="0">
                <a:solidFill>
                  <a:srgbClr val="17352E"/>
                </a:solidFill>
              </a:rPr>
              <a:t>2015/d120/s43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CE99F51E-FB9C-4F52-A050-7CDAE696B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4230548"/>
            <a:ext cx="2000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9E3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3F0374D9-7D65-4207-92D4-704F6DF76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4343400"/>
            <a:ext cx="17335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lnSpc>
                <a:spcPct val="122000"/>
              </a:lnSpc>
              <a:buNone/>
              <a:defRPr sz="1275" b="0">
                <a:solidFill>
                  <a:srgbClr val="17352E"/>
                </a:solidFill>
              </a:defRPr>
            </a:pPr>
            <a:r>
              <a:rPr sz="1275" b="0">
                <a:solidFill>
                  <a:srgbClr val="17352E"/>
                </a:solidFill>
              </a:rPr>
              <a:t>Temp violation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0660089-A311-49E5-A7D6-611B16C6F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4230548"/>
            <a:ext cx="1619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9E3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B2857DA0-A6F4-49AC-B647-49F9A70CE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4343400"/>
            <a:ext cx="13525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lnSpc>
                <a:spcPct val="122000"/>
              </a:lnSpc>
              <a:buNone/>
              <a:defRPr sz="1275" b="0">
                <a:solidFill>
                  <a:srgbClr val="17352E"/>
                </a:solidFill>
              </a:defRPr>
            </a:pPr>
            <a:r>
              <a:rPr sz="1275" b="0">
                <a:solidFill>
                  <a:srgbClr val="17352E"/>
                </a:solidFill>
              </a:rPr>
              <a:t>7.19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2293F1A3-BF62-42A6-9C90-2199184A2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230548"/>
            <a:ext cx="2095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9E3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F1BF680B-526D-4B27-BC08-081062C96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343400"/>
            <a:ext cx="18288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lnSpc>
                <a:spcPct val="122000"/>
              </a:lnSpc>
              <a:buNone/>
              <a:defRPr sz="1275" b="0">
                <a:solidFill>
                  <a:srgbClr val="17352E"/>
                </a:solidFill>
              </a:defRPr>
            </a:pPr>
            <a:r>
              <a:rPr sz="1275" b="0">
                <a:solidFill>
                  <a:srgbClr val="17352E"/>
                </a:solidFill>
              </a:rPr>
              <a:t>5.47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98C98975-3599-4443-8F2A-1C9EC548D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4230548"/>
            <a:ext cx="1428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9E3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F4ACC659-752B-4A2A-B1A5-218BAC7A9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4343400"/>
            <a:ext cx="11620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lnSpc>
                <a:spcPct val="122000"/>
              </a:lnSpc>
              <a:buNone/>
              <a:defRPr sz="1275" b="0">
                <a:solidFill>
                  <a:srgbClr val="17352E"/>
                </a:solidFill>
              </a:defRPr>
            </a:pPr>
            <a:r>
              <a:rPr sz="1275" b="0">
                <a:solidFill>
                  <a:srgbClr val="17352E"/>
                </a:solidFill>
              </a:rPr>
              <a:t>-23.9%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1ABC0A83-E6A3-4204-9138-35FCE34E4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4230548"/>
            <a:ext cx="73533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9E3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143A1188-FD82-4A07-8791-C0575A0D5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4343400"/>
            <a:ext cx="70866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lnSpc>
                <a:spcPct val="122000"/>
              </a:lnSpc>
              <a:buNone/>
              <a:defRPr sz="1275" b="1">
                <a:solidFill>
                  <a:srgbClr val="2E7D5B"/>
                </a:solidFill>
              </a:defRPr>
            </a:pPr>
            <a:r>
              <a:rPr sz="1275" b="1">
                <a:solidFill>
                  <a:srgbClr val="2E7D5B"/>
                </a:solidFill>
              </a:rPr>
              <a:t>温度安全未变差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0C44FCC0-7178-4C19-998D-5A34910BA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821098"/>
            <a:ext cx="2190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7F2"/>
          </a:solidFill>
          <a:ln xmlns:a="http://schemas.openxmlformats.org/drawingml/2006/main" w="9525">
            <a:solidFill>
              <a:srgbClr val="E0E9E3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5A93CC1F-0ED3-4DA6-BDF3-93B223478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933950"/>
            <a:ext cx="19240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200" b="0">
                <a:solidFill>
                  <a:srgbClr val="17352E"/>
                </a:solidFill>
              </a:defRPr>
            </a:pPr>
            <a:r>
              <a:rPr sz="1200" b="0">
                <a:solidFill>
                  <a:srgbClr val="17352E"/>
                </a:solidFill>
              </a:rPr>
              <a:t>2020/d240/s42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2CB8317A-5257-4344-B983-E67B2EAE9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4821098"/>
            <a:ext cx="2000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7F2"/>
          </a:solidFill>
          <a:ln xmlns:a="http://schemas.openxmlformats.org/drawingml/2006/main" w="9525">
            <a:solidFill>
              <a:srgbClr val="E0E9E3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2AC49238-3273-4070-91E8-80C6E7CC9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4933950"/>
            <a:ext cx="17335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lnSpc>
                <a:spcPct val="122000"/>
              </a:lnSpc>
              <a:buNone/>
              <a:defRPr sz="1275" b="0">
                <a:solidFill>
                  <a:srgbClr val="17352E"/>
                </a:solidFill>
              </a:defRPr>
            </a:pPr>
            <a:r>
              <a:rPr sz="1275" b="0">
                <a:solidFill>
                  <a:srgbClr val="17352E"/>
                </a:solidFill>
              </a:rPr>
              <a:t>VPD-high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638F7E15-2663-405B-8C4C-60A1B67C5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4821098"/>
            <a:ext cx="1619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7F2"/>
          </a:solidFill>
          <a:ln xmlns:a="http://schemas.openxmlformats.org/drawingml/2006/main" w="9525">
            <a:solidFill>
              <a:srgbClr val="E0E9E3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62E75B70-333B-4A59-B88A-8A3B32F34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4933950"/>
            <a:ext cx="13525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lnSpc>
                <a:spcPct val="122000"/>
              </a:lnSpc>
              <a:buNone/>
              <a:defRPr sz="1275" b="0">
                <a:solidFill>
                  <a:srgbClr val="17352E"/>
                </a:solidFill>
              </a:defRPr>
            </a:pPr>
            <a:r>
              <a:rPr sz="1275" b="0">
                <a:solidFill>
                  <a:srgbClr val="17352E"/>
                </a:solidFill>
              </a:rPr>
              <a:t>0.67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9727CA58-3FCF-4D37-ACFB-CF0C9066D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821098"/>
            <a:ext cx="2095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7F2"/>
          </a:solidFill>
          <a:ln xmlns:a="http://schemas.openxmlformats.org/drawingml/2006/main" w="9525">
            <a:solidFill>
              <a:srgbClr val="E0E9E3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6CCE044A-3B4F-42A4-8EEB-2D02AA253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933950"/>
            <a:ext cx="18288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lnSpc>
                <a:spcPct val="122000"/>
              </a:lnSpc>
              <a:buNone/>
              <a:defRPr sz="1275" b="0">
                <a:solidFill>
                  <a:srgbClr val="17352E"/>
                </a:solidFill>
              </a:defRPr>
            </a:pPr>
            <a:r>
              <a:rPr sz="1275" b="0">
                <a:solidFill>
                  <a:srgbClr val="17352E"/>
                </a:solidFill>
              </a:rPr>
              <a:t>0.42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B1618AE6-94F2-4497-8CDC-A2B5F572A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4821098"/>
            <a:ext cx="1428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7F2"/>
          </a:solidFill>
          <a:ln xmlns:a="http://schemas.openxmlformats.org/drawingml/2006/main" w="9525">
            <a:solidFill>
              <a:srgbClr val="E0E9E3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77283854-C137-439B-B8A9-2AF7C6F24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4933950"/>
            <a:ext cx="11620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lnSpc>
                <a:spcPct val="122000"/>
              </a:lnSpc>
              <a:buNone/>
              <a:defRPr sz="1275" b="0">
                <a:solidFill>
                  <a:srgbClr val="17352E"/>
                </a:solidFill>
              </a:defRPr>
            </a:pPr>
            <a:r>
              <a:rPr sz="1275" b="0">
                <a:solidFill>
                  <a:srgbClr val="17352E"/>
                </a:solidFill>
              </a:rPr>
              <a:t>-37.8%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58E03B44-0895-49CD-854B-1FD65C0D6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4821098"/>
            <a:ext cx="73533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7F2"/>
          </a:solidFill>
          <a:ln xmlns:a="http://schemas.openxmlformats.org/drawingml/2006/main" w="9525">
            <a:solidFill>
              <a:srgbClr val="E0E9E3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C2A0BBD1-A450-4DC1-A00A-E997A1F52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4933950"/>
            <a:ext cx="70866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lnSpc>
                <a:spcPct val="122000"/>
              </a:lnSpc>
              <a:buNone/>
              <a:defRPr sz="1275" b="1">
                <a:solidFill>
                  <a:srgbClr val="2E7D5B"/>
                </a:solidFill>
              </a:defRPr>
            </a:pPr>
            <a:r>
              <a:rPr sz="1275" b="1">
                <a:solidFill>
                  <a:srgbClr val="2E7D5B"/>
                </a:solidFill>
              </a:rPr>
              <a:t>安全场景没有被破坏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B96A0A88-A7D4-4FDD-94EE-577BFAD4C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619750"/>
            <a:ext cx="53911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2000"/>
              </a:lnSpc>
              <a:buNone/>
              <a:defRPr sz="1275" b="1">
                <a:solidFill>
                  <a:srgbClr val="5E756F"/>
                </a:solidFill>
              </a:defRPr>
            </a:pPr>
            <a:r>
              <a:rPr sz="1275" b="1">
                <a:solidFill>
                  <a:srgbClr val="5E756F"/>
                </a:solidFill>
              </a:rPr>
              <a:t>2015 冷春场景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8279AD3C-0BBA-4AFA-BA68-2709B2545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924550"/>
            <a:ext cx="53911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000" b="1">
                <a:solidFill>
                  <a:srgbClr val="2E7D5B"/>
                </a:solidFill>
              </a:defRPr>
            </a:pPr>
            <a:r>
              <a:rPr sz="3000" b="1">
                <a:solidFill>
                  <a:srgbClr val="2E7D5B"/>
                </a:solidFill>
              </a:rPr>
              <a:t>v2 steps 61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55A7DA4F-7603-47AC-A242-BF705FE20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438900"/>
            <a:ext cx="53911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200">
                <a:solidFill>
                  <a:srgbClr val="5E756F"/>
                </a:solidFill>
              </a:defRPr>
            </a:pPr>
            <a:r>
              <a:rPr sz="1200">
                <a:solidFill>
                  <a:srgbClr val="5E756F"/>
                </a:solidFill>
              </a:rPr>
              <a:t>低 RH / 高 VPD / 冷恢复护栏有效触发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31A28B83-C3A9-4A25-9539-36AD23643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619750"/>
            <a:ext cx="53911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2000"/>
              </a:lnSpc>
              <a:buNone/>
              <a:defRPr sz="1275" b="1">
                <a:solidFill>
                  <a:srgbClr val="5E756F"/>
                </a:solidFill>
              </a:defRPr>
            </a:pPr>
            <a:r>
              <a:rPr sz="1275" b="1">
                <a:solidFill>
                  <a:srgbClr val="5E756F"/>
                </a:solidFill>
              </a:rPr>
              <a:t>2020 安全场景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484E165A-6B26-4CD5-9002-8FC111767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924550"/>
            <a:ext cx="53911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000" b="1">
                <a:solidFill>
                  <a:srgbClr val="2F6F9F"/>
                </a:solidFill>
              </a:defRPr>
            </a:pPr>
            <a:r>
              <a:rPr sz="3000" b="1">
                <a:solidFill>
                  <a:srgbClr val="2F6F9F"/>
                </a:solidFill>
              </a:rPr>
              <a:t>v2 steps 44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CC9C5141-4F95-4686-8AC4-F129CF5BE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6438900"/>
            <a:ext cx="53911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200">
                <a:solidFill>
                  <a:srgbClr val="5E756F"/>
                </a:solidFill>
              </a:defRPr>
            </a:pPr>
            <a:r>
              <a:rPr sz="1200">
                <a:solidFill>
                  <a:srgbClr val="5E756F"/>
                </a:solidFill>
              </a:rPr>
              <a:t>reward/profit 未明显恶化，VPD 降低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E8F491BA-4DB5-40C8-8579-DD1C2B44B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0" y="5619750"/>
            <a:ext cx="53911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2000"/>
              </a:lnSpc>
              <a:buNone/>
              <a:defRPr sz="1275" b="1">
                <a:solidFill>
                  <a:srgbClr val="5E756F"/>
                </a:solidFill>
              </a:defRPr>
            </a:pPr>
            <a:r>
              <a:rPr sz="1275" b="1">
                <a:solidFill>
                  <a:srgbClr val="5E756F"/>
                </a:solidFill>
              </a:rPr>
              <a:t>PPO 角色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A9A90FC1-A2BE-4C77-AF83-B2DD0BCFD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0" y="5924550"/>
            <a:ext cx="53911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000" b="1">
                <a:solidFill>
                  <a:srgbClr val="B7791F"/>
                </a:solidFill>
              </a:defRPr>
            </a:pPr>
            <a:r>
              <a:rPr sz="3000" b="1">
                <a:solidFill>
                  <a:srgbClr val="B7791F"/>
                </a:solidFill>
              </a:rPr>
              <a:t>诊断镜子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315E7387-26CC-46BD-AB20-EC768B3D0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0" y="6438900"/>
            <a:ext cx="53911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200">
                <a:solidFill>
                  <a:srgbClr val="5E756F"/>
                </a:solidFill>
              </a:defRPr>
            </a:pPr>
            <a:r>
              <a:rPr sz="1200">
                <a:solidFill>
                  <a:srgbClr val="5E756F"/>
                </a:solidFill>
              </a:rPr>
              <a:t>当前 PPO 不是最终强教师，需要后续重训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58EB3800-BA77-4819-85AB-9A19A9988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9544050"/>
            <a:ext cx="159829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2000"/>
              </a:lnSpc>
              <a:buNone/>
              <a:defRPr sz="975">
                <a:solidFill>
                  <a:srgbClr val="789089"/>
                </a:solidFill>
              </a:defRPr>
            </a:pPr>
            <a:r>
              <a:rPr sz="975">
                <a:solidFill>
                  <a:srgbClr val="789089"/>
                </a:solidFill>
              </a:rPr>
              <a:t>数据来源：项目文档与 frozen benchmark / sentinel gate 诊断输出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E6329182-B099-4B9C-B208-D429C2E0C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83050" y="9544050"/>
            <a:ext cx="7048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lnSpc>
                <a:spcPct val="122000"/>
              </a:lnSpc>
              <a:buNone/>
              <a:defRPr sz="975">
                <a:solidFill>
                  <a:srgbClr val="789089"/>
                </a:solidFill>
              </a:defRPr>
            </a:pPr>
            <a:r>
              <a:rPr sz="975">
                <a:solidFill>
                  <a:srgbClr val="789089"/>
                </a:solidFill>
              </a:rPr>
              <a:t>10/12</a:t>
            </a:r>
          </a:p>
        </p:txBody>
      </p:sp>
    </p:spTree>
    <p:extLst>
      <p:ext uri="{BB962C8B-B14F-4D97-AF65-F5344CB8AC3E}">
        <p14:creationId xmlns:p14="http://schemas.microsoft.com/office/powerpoint/2010/main" val="1880760440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D67F995-58C0-40FD-A14D-6EE8695CE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AF4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F12C76-8D52-4031-8E9B-7F6D0630F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3815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8F2"/>
          </a:solidFill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166B92-58F4-45C0-97B6-383A76E00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52450"/>
            <a:ext cx="5524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2000"/>
              </a:lnSpc>
              <a:buNone/>
              <a:defRPr sz="1425" b="1">
                <a:solidFill>
                  <a:srgbClr val="2E7D5B"/>
                </a:solidFill>
              </a:defRPr>
            </a:pPr>
            <a:r>
              <a:rPr sz="1425" b="1">
                <a:solidFill>
                  <a:srgbClr val="2E7D5B"/>
                </a:solidFill>
              </a:rPr>
              <a:t>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78711A-35D5-416B-8758-6A7787385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666750"/>
            <a:ext cx="857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5B"/>
          </a:solidFill>
          <a:ln xmlns:a="http://schemas.openxmlformats.org/drawingml/2006/main" w="0">
            <a:solidFill>
              <a:srgbClr val="2E7D5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934235-379E-4791-9F3B-C4F5D8A0A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71500"/>
            <a:ext cx="152781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lnSpc>
                <a:spcPct val="122000"/>
              </a:lnSpc>
              <a:buNone/>
              <a:defRPr sz="1275">
                <a:solidFill>
                  <a:srgbClr val="5E756F"/>
                </a:solidFill>
              </a:defRPr>
            </a:pPr>
            <a:r>
              <a:rPr sz="1275">
                <a:solidFill>
                  <a:srgbClr val="5E756F"/>
                </a:solidFill>
              </a:rPr>
              <a:t>温室控制项目进度汇报</a:t>
            </a:r>
          </a:p>
        </p:txBody>
      </p:sp>
      <p:sp>
        <p:nvSpPr>
          <p:cNvPr id="6" name="slide-11-title">
            <a:extLst xmlns:a="http://schemas.openxmlformats.org/drawingml/2006/main">
              <a:ext uri="{FF2B5EF4-FFF2-40B4-BE49-F238E27FC236}">
                <a16:creationId xmlns:a16="http://schemas.microsoft.com/office/drawing/2014/main" id="{56F947D9-A361-42D1-8A0E-97F462EDC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914400"/>
            <a:ext cx="166878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3525" b="1">
                <a:solidFill>
                  <a:srgbClr val="17352E"/>
                </a:solidFill>
              </a:defRPr>
            </a:pPr>
            <a:r>
              <a:rPr sz="3525" b="1">
                <a:solidFill>
                  <a:srgbClr val="17352E"/>
                </a:solidFill>
              </a:rPr>
              <a:t>Sentinel Gate 结果：跨季节检查发现 v2 的高温强辐射副作用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87FCBB-E6A8-4E08-9E78-365EB4D0F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581150"/>
            <a:ext cx="69342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4000"/>
              </a:lnSpc>
              <a:buNone/>
              <a:defRPr sz="1800">
                <a:solidFill>
                  <a:srgbClr val="5E756F"/>
                </a:solidFill>
              </a:defRPr>
            </a:pPr>
            <a:r>
              <a:rPr sz="1800">
                <a:solidFill>
                  <a:srgbClr val="5E756F"/>
                </a:solidFill>
              </a:rPr>
              <a:t>这不是无效失败，而是评估体系成功拦截 pilot 上看不出的泛化风险。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661C47-0823-471D-98A6-FB6ED2668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535098"/>
            <a:ext cx="8181975" cy="6751472"/>
          </a:xfrm>
          <a:prstGeom xmlns:a="http://schemas.openxmlformats.org/drawingml/2006/main" prst="roundRect">
            <a:avLst>
              <a:gd name="adj" fmla="val 2539"/>
            </a:avLst>
          </a:prstGeom>
          <a:solidFill xmlns:a="http://schemas.openxmlformats.org/drawingml/2006/main">
            <a:srgbClr val="FFF8EC"/>
          </a:solidFill>
          <a:ln xmlns:a="http://schemas.openxmlformats.org/drawingml/2006/main" w="9525">
            <a:solidFill>
              <a:srgbClr val="E8D4A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BF004A0-5700-4F35-BE9D-CE32459BF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820848"/>
            <a:ext cx="1428750" cy="389458"/>
          </a:xfrm>
          <a:prstGeom xmlns:a="http://schemas.openxmlformats.org/drawingml/2006/main" prst="roundRect">
            <a:avLst>
              <a:gd name="adj" fmla="val 44023"/>
            </a:avLst>
          </a:prstGeom>
          <a:solidFill xmlns:a="http://schemas.openxmlformats.org/drawingml/2006/main">
            <a:srgbClr val="F4E2BD"/>
          </a:solidFill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A865EB-708A-46E2-BD79-1D06C7D98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895600"/>
            <a:ext cx="10858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lnSpc>
                <a:spcPct val="122000"/>
              </a:lnSpc>
              <a:buNone/>
              <a:defRPr sz="1275" b="1">
                <a:solidFill>
                  <a:srgbClr val="B7791F"/>
                </a:solidFill>
              </a:defRPr>
            </a:pPr>
            <a:r>
              <a:rPr sz="1275" b="1">
                <a:solidFill>
                  <a:srgbClr val="B7791F"/>
                </a:solidFill>
              </a:rPr>
              <a:t>Gate stopped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94434CC-630D-488C-8900-77A44B046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448050"/>
            <a:ext cx="76200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2000"/>
              </a:lnSpc>
              <a:buNone/>
              <a:defRPr sz="2925" b="1">
                <a:solidFill>
                  <a:srgbClr val="17352E"/>
                </a:solidFill>
              </a:defRPr>
            </a:pPr>
            <a:r>
              <a:rPr sz="2925" b="1">
                <a:solidFill>
                  <a:srgbClr val="17352E"/>
                </a:solidFill>
              </a:rPr>
              <a:t>2010/day180/seed44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E42F6B5-7597-42CD-A683-80DE4DE7C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210050"/>
            <a:ext cx="76200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2000"/>
              </a:lnSpc>
              <a:buNone/>
              <a:defRPr sz="1275" b="1">
                <a:solidFill>
                  <a:srgbClr val="5E756F"/>
                </a:solidFill>
              </a:defRPr>
            </a:pPr>
            <a:r>
              <a:rPr sz="1275" b="1">
                <a:solidFill>
                  <a:srgbClr val="5E756F"/>
                </a:solidFill>
              </a:rPr>
              <a:t>提前终止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6B949F1-A754-426F-8876-59198464D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514850"/>
            <a:ext cx="76200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000" b="1">
                <a:solidFill>
                  <a:srgbClr val="B7791F"/>
                </a:solidFill>
              </a:defRPr>
            </a:pPr>
            <a:r>
              <a:rPr sz="3000" b="1">
                <a:solidFill>
                  <a:srgbClr val="B7791F"/>
                </a:solidFill>
              </a:rPr>
              <a:t>约 55 步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211AF56-D35A-432E-A283-1F6546D80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029200"/>
            <a:ext cx="7620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200">
                <a:solidFill>
                  <a:srgbClr val="5E756F"/>
                </a:solidFill>
              </a:defRPr>
            </a:pPr>
            <a:r>
              <a:rPr sz="1200">
                <a:solidFill>
                  <a:srgbClr val="5E756F"/>
                </a:solidFill>
              </a:rPr>
              <a:t>未继续运行 2015/2020 shard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DD45ABB-0810-4966-8BDC-59BC6034B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448300"/>
            <a:ext cx="76200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2000"/>
              </a:lnSpc>
              <a:buNone/>
              <a:defRPr sz="1275" b="1">
                <a:solidFill>
                  <a:srgbClr val="5E756F"/>
                </a:solidFill>
              </a:defRPr>
            </a:pPr>
            <a:r>
              <a:rPr sz="1275" b="1">
                <a:solidFill>
                  <a:srgbClr val="5E756F"/>
                </a:solidFill>
              </a:rPr>
              <a:t>最高温度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E33B81C-1CFC-48A9-A98F-65DE49767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753100"/>
            <a:ext cx="76200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000" b="1">
                <a:solidFill>
                  <a:srgbClr val="B4443F"/>
                </a:solidFill>
              </a:defRPr>
            </a:pPr>
            <a:r>
              <a:rPr sz="3000" b="1">
                <a:solidFill>
                  <a:srgbClr val="B4443F"/>
                </a:solidFill>
              </a:rPr>
              <a:t>约 35.6°C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9F8B86D-9871-4F67-90E8-933522B6B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6267450"/>
            <a:ext cx="7620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200">
                <a:solidFill>
                  <a:srgbClr val="5E756F"/>
                </a:solidFill>
              </a:defRPr>
            </a:pPr>
            <a:r>
              <a:rPr sz="1200">
                <a:solidFill>
                  <a:srgbClr val="5E756F"/>
                </a:solidFill>
              </a:rPr>
              <a:t>高温强辐射下温度安全失败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44D11C8-57CC-41D0-A212-7B63DB02B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2535098"/>
            <a:ext cx="8181975" cy="179070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FBEEEE"/>
          </a:solidFill>
          <a:ln xmlns:a="http://schemas.openxmlformats.org/drawingml/2006/main" w="9525">
            <a:solidFill>
              <a:srgbClr val="C9D8C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57B90EB-26B7-4E54-A00A-AFBC60928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743200"/>
            <a:ext cx="952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4443F"/>
          </a:solidFill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0399EC1-15CE-4AD1-902C-A7DC34254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2705100"/>
            <a:ext cx="75247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2000"/>
              </a:lnSpc>
              <a:buNone/>
              <a:defRPr sz="1725" b="1">
                <a:solidFill>
                  <a:srgbClr val="17352E"/>
                </a:solidFill>
              </a:defRPr>
            </a:pPr>
            <a:r>
              <a:rPr sz="1725" b="1">
                <a:solidFill>
                  <a:srgbClr val="17352E"/>
                </a:solidFill>
              </a:rPr>
              <a:t>暴露的问题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C4640DE-5EF7-49E7-9F5B-685ECF102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3124200"/>
            <a:ext cx="77343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350">
                <a:solidFill>
                  <a:srgbClr val="5E756F"/>
                </a:solidFill>
              </a:defRPr>
            </a:pPr>
            <a:r>
              <a:rPr sz="1350">
                <a:solidFill>
                  <a:srgbClr val="5E756F"/>
                </a:solidFill>
              </a:rPr>
              <a:t>v2 的 dry/VPD guard 在夏季强辐射下过度偏向保湿，screen=1.0、shade=0.0 可能导致积热。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6B36070-8AEF-4101-B5B0-58800C27A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4535348"/>
            <a:ext cx="8181975" cy="179070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FBF4E8"/>
          </a:solidFill>
          <a:ln xmlns:a="http://schemas.openxmlformats.org/drawingml/2006/main" w="9525">
            <a:solidFill>
              <a:srgbClr val="C9D8C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9772414-27A9-457B-B98B-3301812EC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724400"/>
            <a:ext cx="952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7791F"/>
          </a:solidFill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A9C888C-DAC2-4C5C-997E-D37F01E73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4705350"/>
            <a:ext cx="75247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2000"/>
              </a:lnSpc>
              <a:buNone/>
              <a:defRPr sz="1725" b="1">
                <a:solidFill>
                  <a:srgbClr val="17352E"/>
                </a:solidFill>
              </a:defRPr>
            </a:pPr>
            <a:r>
              <a:rPr sz="1725" b="1">
                <a:solidFill>
                  <a:srgbClr val="17352E"/>
                </a:solidFill>
              </a:rPr>
              <a:t>为什么停止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169160B-3007-43B5-B743-AD2558155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5124450"/>
            <a:ext cx="77343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350">
                <a:solidFill>
                  <a:srgbClr val="5E756F"/>
                </a:solidFill>
              </a:defRPr>
            </a:pPr>
            <a:r>
              <a:rPr sz="1350">
                <a:solidFill>
                  <a:srgbClr val="5E756F"/>
                </a:solidFill>
              </a:rPr>
              <a:t>sentinel gate 规则要求一旦出现 cache/source/安全失败就停止，避免把错误扩散到正式 36x240 证据。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4506809-3DAE-477A-A1F3-BEA1BB8D5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6535598"/>
            <a:ext cx="8181975" cy="179070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C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60BB0D8-D7BE-44AC-AB10-3A53A227D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743700"/>
            <a:ext cx="952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7D5B"/>
          </a:solidFill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81F7874-DF8F-4A44-8EE5-28732F78B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6705600"/>
            <a:ext cx="75247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2000"/>
              </a:lnSpc>
              <a:buNone/>
              <a:defRPr sz="1725" b="1">
                <a:solidFill>
                  <a:srgbClr val="17352E"/>
                </a:solidFill>
              </a:defRPr>
            </a:pPr>
            <a:r>
              <a:rPr sz="1725" b="1">
                <a:solidFill>
                  <a:srgbClr val="17352E"/>
                </a:solidFill>
              </a:rPr>
              <a:t>论文价值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3DE5E8F-096E-4097-A7F0-B952FB32A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7124700"/>
            <a:ext cx="77343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350">
                <a:solidFill>
                  <a:srgbClr val="5E756F"/>
                </a:solidFill>
              </a:defRPr>
            </a:pPr>
            <a:r>
              <a:rPr sz="1350">
                <a:solidFill>
                  <a:srgbClr val="5E756F"/>
                </a:solidFill>
              </a:rPr>
              <a:t>证明方法开发不是只在 pilot 上调参，而是通过跨季节 gate 检验机理护栏的泛化性。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A85B0BE-2FCD-49F7-A81E-95B035D02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9544050"/>
            <a:ext cx="159829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2000"/>
              </a:lnSpc>
              <a:buNone/>
              <a:defRPr sz="975">
                <a:solidFill>
                  <a:srgbClr val="789089"/>
                </a:solidFill>
              </a:defRPr>
            </a:pPr>
            <a:r>
              <a:rPr sz="975">
                <a:solidFill>
                  <a:srgbClr val="789089"/>
                </a:solidFill>
              </a:rPr>
              <a:t>数据来源：项目文档与 frozen benchmark / sentinel gate 诊断输出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25760AA-9D15-44EB-B276-68EB0A09C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83050" y="9544050"/>
            <a:ext cx="7048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lnSpc>
                <a:spcPct val="122000"/>
              </a:lnSpc>
              <a:buNone/>
              <a:defRPr sz="975">
                <a:solidFill>
                  <a:srgbClr val="789089"/>
                </a:solidFill>
              </a:defRPr>
            </a:pPr>
            <a:r>
              <a:rPr sz="975">
                <a:solidFill>
                  <a:srgbClr val="789089"/>
                </a:solidFill>
              </a:rPr>
              <a:t>11/12</a:t>
            </a:r>
          </a:p>
        </p:txBody>
      </p:sp>
    </p:spTree>
    <p:extLst>
      <p:ext uri="{BB962C8B-B14F-4D97-AF65-F5344CB8AC3E}">
        <p14:creationId xmlns:p14="http://schemas.microsoft.com/office/powerpoint/2010/main" val="163428049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8CD8DC1-505D-4E75-B859-9AAC7F8BD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AF4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57119A-5195-4D61-B738-75689EF12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3815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7F0"/>
          </a:solidFill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B214B8-F4DA-4324-BF79-7B22C24CB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52450"/>
            <a:ext cx="5524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2000"/>
              </a:lnSpc>
              <a:buNone/>
              <a:defRPr sz="1425" b="1">
                <a:solidFill>
                  <a:srgbClr val="2E7D5B"/>
                </a:solidFill>
              </a:defRPr>
            </a:pPr>
            <a:r>
              <a:rPr sz="1425" b="1">
                <a:solidFill>
                  <a:srgbClr val="2E7D5B"/>
                </a:solidFill>
              </a:rPr>
              <a:t>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6A813F-F16B-4194-9332-BF4B9C5D7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666750"/>
            <a:ext cx="857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5B"/>
          </a:solidFill>
          <a:ln xmlns:a="http://schemas.openxmlformats.org/drawingml/2006/main" w="0">
            <a:solidFill>
              <a:srgbClr val="2E7D5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DC2AD1-8753-4683-8054-DD63CE911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71500"/>
            <a:ext cx="152781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lnSpc>
                <a:spcPct val="122000"/>
              </a:lnSpc>
              <a:buNone/>
              <a:defRPr sz="1275">
                <a:solidFill>
                  <a:srgbClr val="5E756F"/>
                </a:solidFill>
              </a:defRPr>
            </a:pPr>
            <a:r>
              <a:rPr sz="1275">
                <a:solidFill>
                  <a:srgbClr val="5E756F"/>
                </a:solidFill>
              </a:rPr>
              <a:t>温室控制项目进度汇报</a:t>
            </a:r>
          </a:p>
        </p:txBody>
      </p:sp>
      <p:sp>
        <p:nvSpPr>
          <p:cNvPr id="6" name="slide-12-title">
            <a:extLst xmlns:a="http://schemas.openxmlformats.org/drawingml/2006/main">
              <a:ext uri="{FF2B5EF4-FFF2-40B4-BE49-F238E27FC236}">
                <a16:creationId xmlns:a16="http://schemas.microsoft.com/office/drawing/2014/main" id="{3782B8C6-1A57-4549-BCF7-7E71B745D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914400"/>
            <a:ext cx="166878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3525" b="1">
                <a:solidFill>
                  <a:srgbClr val="17352E"/>
                </a:solidFill>
              </a:defRPr>
            </a:pPr>
            <a:r>
              <a:rPr sz="3525" b="1">
                <a:solidFill>
                  <a:srgbClr val="17352E"/>
                </a:solidFill>
              </a:rPr>
              <a:t>下一阶段：先修 hot override，再恢复 sentinel gate 和强基线训练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8DEFC9-D91C-4745-98E2-82462D5A3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581150"/>
            <a:ext cx="70866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4000"/>
              </a:lnSpc>
              <a:buNone/>
              <a:defRPr sz="1800">
                <a:solidFill>
                  <a:srgbClr val="5E756F"/>
                </a:solidFill>
              </a:defRPr>
            </a:pPr>
            <a:r>
              <a:rPr sz="1800">
                <a:solidFill>
                  <a:srgbClr val="5E756F"/>
                </a:solidFill>
              </a:rPr>
              <a:t>下一步重点不是堆模块，而是把已发现的泛化风险修掉，再扩大实验。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77433A-7C24-4582-B76B-FB433372C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90750"/>
            <a:ext cx="5118100" cy="1352550"/>
          </a:xfrm>
          <a:prstGeom xmlns:a="http://schemas.openxmlformats.org/drawingml/2006/main" prst="roundRect">
            <a:avLst>
              <a:gd name="adj" fmla="val 12676"/>
            </a:avLst>
          </a:prstGeom>
          <a:solidFill xmlns:a="http://schemas.openxmlformats.org/drawingml/2006/main">
            <a:srgbClr val="F2D8D5"/>
          </a:solidFill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4CB37E-DB35-4CE2-991E-70B465752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362200"/>
            <a:ext cx="4000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0F7D448-2889-4DCE-8DEE-2926A4127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362200"/>
            <a:ext cx="400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lnSpc>
                <a:spcPct val="122000"/>
              </a:lnSpc>
              <a:buNone/>
              <a:defRPr sz="1350" b="1">
                <a:solidFill>
                  <a:srgbClr val="B4443F"/>
                </a:solidFill>
              </a:defRPr>
            </a:pPr>
            <a:r>
              <a:rPr sz="1350" b="1">
                <a:solidFill>
                  <a:srgbClr val="B4443F"/>
                </a:solidFill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84B68AE-2A07-4E28-95DE-399A7C4BD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362200"/>
            <a:ext cx="41719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2000"/>
              </a:lnSpc>
              <a:buNone/>
              <a:defRPr sz="1650" b="1">
                <a:solidFill>
                  <a:srgbClr val="17352E"/>
                </a:solidFill>
              </a:defRPr>
            </a:pPr>
            <a:r>
              <a:rPr sz="1650" b="1">
                <a:solidFill>
                  <a:srgbClr val="17352E"/>
                </a:solidFill>
              </a:rPr>
              <a:t>Hot Override 修复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7AFF688-9003-465B-9268-A86E23AE5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743200"/>
            <a:ext cx="41719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6000"/>
              </a:lnSpc>
              <a:buNone/>
              <a:defRPr sz="1275">
                <a:solidFill>
                  <a:srgbClr val="5E756F"/>
                </a:solidFill>
              </a:defRPr>
            </a:pPr>
            <a:r>
              <a:rPr sz="1275">
                <a:solidFill>
                  <a:srgbClr val="5E756F"/>
                </a:solidFill>
              </a:rPr>
              <a:t>temp_air ≥ 32°C 或高辐射升温时，温度安全优先于保湿。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AB29A4F-B85A-41C3-8763-52CB69132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628900"/>
            <a:ext cx="4000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lnSpc>
                <a:spcPct val="122000"/>
              </a:lnSpc>
              <a:buNone/>
              <a:defRPr sz="2625" b="1">
                <a:solidFill>
                  <a:srgbClr val="2E7D5B"/>
                </a:solidFill>
              </a:defRPr>
            </a:pPr>
            <a:r>
              <a:rPr sz="2625" b="1">
                <a:solidFill>
                  <a:srgbClr val="2E7D5B"/>
                </a:solidFill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73C2791-1E47-41D5-871D-6F1D7D569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4950" y="2190750"/>
            <a:ext cx="5118100" cy="1352550"/>
          </a:xfrm>
          <a:prstGeom xmlns:a="http://schemas.openxmlformats.org/drawingml/2006/main" prst="roundRect">
            <a:avLst>
              <a:gd name="adj" fmla="val 12676"/>
            </a:avLst>
          </a:prstGeom>
          <a:solidFill xmlns:a="http://schemas.openxmlformats.org/drawingml/2006/main">
            <a:srgbClr val="F4E2BD"/>
          </a:solidFill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E3ABEE3-9DCF-47D3-8852-8C6B13C01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4500" y="2362200"/>
            <a:ext cx="4000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B255D3C-6983-4F9E-AFC0-E60F0DA8E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362200"/>
            <a:ext cx="400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lnSpc>
                <a:spcPct val="122000"/>
              </a:lnSpc>
              <a:buNone/>
              <a:defRPr sz="1350" b="1">
                <a:solidFill>
                  <a:srgbClr val="B7791F"/>
                </a:solidFill>
              </a:defRPr>
            </a:pPr>
            <a:r>
              <a:rPr sz="1350" b="1">
                <a:solidFill>
                  <a:srgbClr val="B7791F"/>
                </a:solidFill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36CBAA8-4774-474D-AE3C-F798D062F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362200"/>
            <a:ext cx="41719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2000"/>
              </a:lnSpc>
              <a:buNone/>
              <a:defRPr sz="1650" b="1">
                <a:solidFill>
                  <a:srgbClr val="17352E"/>
                </a:solidFill>
              </a:defRPr>
            </a:pPr>
            <a:r>
              <a:rPr sz="1650" b="1">
                <a:solidFill>
                  <a:srgbClr val="17352E"/>
                </a:solidFill>
              </a:rPr>
              <a:t>2010/d180 Canary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DB943D2-F68C-45BA-8B64-936BAAB81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743200"/>
            <a:ext cx="41719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6000"/>
              </a:lnSpc>
              <a:buNone/>
              <a:defRPr sz="1275">
                <a:solidFill>
                  <a:srgbClr val="5E756F"/>
                </a:solidFill>
              </a:defRPr>
            </a:pPr>
            <a:r>
              <a:rPr sz="1275">
                <a:solidFill>
                  <a:srgbClr val="5E756F"/>
                </a:solidFill>
              </a:rPr>
              <a:t>验证 screen/shade/vent 不再造成积热提前终止。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8877518-A903-4CD6-BA80-BC8D8A64A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30050" y="2628900"/>
            <a:ext cx="4000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lnSpc>
                <a:spcPct val="122000"/>
              </a:lnSpc>
              <a:buNone/>
              <a:defRPr sz="2625" b="1">
                <a:solidFill>
                  <a:srgbClr val="2E7D5B"/>
                </a:solidFill>
              </a:defRPr>
            </a:pPr>
            <a:r>
              <a:rPr sz="2625" b="1">
                <a:solidFill>
                  <a:srgbClr val="2E7D5B"/>
                </a:solidFill>
              </a:rPr>
              <a:t>→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5B54BBC-7EEC-4656-998C-850F32262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69800" y="2190750"/>
            <a:ext cx="5118100" cy="1352550"/>
          </a:xfrm>
          <a:prstGeom xmlns:a="http://schemas.openxmlformats.org/drawingml/2006/main" prst="roundRect">
            <a:avLst>
              <a:gd name="adj" fmla="val 12676"/>
            </a:avLst>
          </a:prstGeom>
          <a:solidFill xmlns:a="http://schemas.openxmlformats.org/drawingml/2006/main">
            <a:srgbClr val="DDEFE5"/>
          </a:solidFill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8E32E3A-3F4B-4E38-8338-89959701C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9350" y="2362200"/>
            <a:ext cx="4000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2B8A5BA-4D8C-4EA4-9600-87F5AEAEA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0" y="2362200"/>
            <a:ext cx="400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lnSpc>
                <a:spcPct val="122000"/>
              </a:lnSpc>
              <a:buNone/>
              <a:defRPr sz="1350" b="1">
                <a:solidFill>
                  <a:srgbClr val="2E7D5B"/>
                </a:solidFill>
              </a:defRPr>
            </a:pPr>
            <a:r>
              <a:rPr sz="1350" b="1">
                <a:solidFill>
                  <a:srgbClr val="2E7D5B"/>
                </a:solidFill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FE533C3-3158-46A2-B5FF-5AC449AD0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06400" y="2362200"/>
            <a:ext cx="41719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2000"/>
              </a:lnSpc>
              <a:buNone/>
              <a:defRPr sz="1650" b="1">
                <a:solidFill>
                  <a:srgbClr val="17352E"/>
                </a:solidFill>
              </a:defRPr>
            </a:pPr>
            <a:r>
              <a:rPr sz="1650" b="1">
                <a:solidFill>
                  <a:srgbClr val="17352E"/>
                </a:solidFill>
              </a:rPr>
              <a:t>12x240 Sentinel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4C7439C-12FB-499C-B470-BADD15F53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06400" y="2743200"/>
            <a:ext cx="41719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6000"/>
              </a:lnSpc>
              <a:buNone/>
              <a:defRPr sz="1275">
                <a:solidFill>
                  <a:srgbClr val="5E756F"/>
                </a:solidFill>
              </a:defRPr>
            </a:pPr>
            <a:r>
              <a:rPr sz="1275">
                <a:solidFill>
                  <a:srgbClr val="5E756F"/>
                </a:solidFill>
              </a:rPr>
              <a:t>seed=44 跨年份跨季节 gate 重新运行。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2C6DD99-0181-4E11-BF26-3B8BFDDD3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90950"/>
            <a:ext cx="5118100" cy="1352550"/>
          </a:xfrm>
          <a:prstGeom xmlns:a="http://schemas.openxmlformats.org/drawingml/2006/main" prst="roundRect">
            <a:avLst>
              <a:gd name="adj" fmla="val 12676"/>
            </a:avLst>
          </a:prstGeom>
          <a:solidFill xmlns:a="http://schemas.openxmlformats.org/drawingml/2006/main">
            <a:srgbClr val="D9EAF5"/>
          </a:solidFill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EB4E9BB-52CC-4D49-81C4-863A09BB9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962400"/>
            <a:ext cx="4000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C19E486-3F65-43C1-884C-31995905C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962400"/>
            <a:ext cx="400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lnSpc>
                <a:spcPct val="122000"/>
              </a:lnSpc>
              <a:buNone/>
              <a:defRPr sz="1350" b="1">
                <a:solidFill>
                  <a:srgbClr val="2F6F9F"/>
                </a:solidFill>
              </a:defRPr>
            </a:pPr>
            <a:r>
              <a:rPr sz="1350" b="1">
                <a:solidFill>
                  <a:srgbClr val="2F6F9F"/>
                </a:solidFill>
              </a:rPr>
              <a:t>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1FCF57F-1F0C-4270-9F97-8F0EB48DD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962400"/>
            <a:ext cx="41719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2000"/>
              </a:lnSpc>
              <a:buNone/>
              <a:defRPr sz="1650" b="1">
                <a:solidFill>
                  <a:srgbClr val="17352E"/>
                </a:solidFill>
              </a:defRPr>
            </a:pPr>
            <a:r>
              <a:rPr sz="1650" b="1">
                <a:solidFill>
                  <a:srgbClr val="17352E"/>
                </a:solidFill>
              </a:rPr>
              <a:t>36x240 Frozen Benchmark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4DEB8AB-87F2-49FD-8080-BF9E24505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343400"/>
            <a:ext cx="41719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6000"/>
              </a:lnSpc>
              <a:buNone/>
              <a:defRPr sz="1275">
                <a:solidFill>
                  <a:srgbClr val="5E756F"/>
                </a:solidFill>
              </a:defRPr>
            </a:pPr>
            <a:r>
              <a:rPr sz="1275">
                <a:solidFill>
                  <a:srgbClr val="5E756F"/>
                </a:solidFill>
              </a:rPr>
              <a:t>通过 sentinel 后再进入正式多 seed benchmark。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D616FD4-7590-4E03-AAF1-BDE061090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4229100"/>
            <a:ext cx="4000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lnSpc>
                <a:spcPct val="122000"/>
              </a:lnSpc>
              <a:buNone/>
              <a:defRPr sz="2625" b="1">
                <a:solidFill>
                  <a:srgbClr val="2E7D5B"/>
                </a:solidFill>
              </a:defRPr>
            </a:pPr>
            <a:r>
              <a:rPr sz="2625" b="1">
                <a:solidFill>
                  <a:srgbClr val="2E7D5B"/>
                </a:solidFill>
              </a:rPr>
              <a:t>→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5D8BDE8-F1CC-4C3A-A2E7-123B734C0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4950" y="3790950"/>
            <a:ext cx="5118100" cy="1352550"/>
          </a:xfrm>
          <a:prstGeom xmlns:a="http://schemas.openxmlformats.org/drawingml/2006/main" prst="roundRect">
            <a:avLst>
              <a:gd name="adj" fmla="val 12676"/>
            </a:avLst>
          </a:prstGeom>
          <a:solidFill xmlns:a="http://schemas.openxmlformats.org/drawingml/2006/main">
            <a:srgbClr val="F4E2BD"/>
          </a:solidFill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DCBD6EC-58F2-4436-8436-D72C3F992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4500" y="3962400"/>
            <a:ext cx="4000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2F1FFA7-9AA7-4F12-8B4B-BF7536A15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962400"/>
            <a:ext cx="400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lnSpc>
                <a:spcPct val="122000"/>
              </a:lnSpc>
              <a:buNone/>
              <a:defRPr sz="1350" b="1">
                <a:solidFill>
                  <a:srgbClr val="B7791F"/>
                </a:solidFill>
              </a:defRPr>
            </a:pPr>
            <a:r>
              <a:rPr sz="1350" b="1">
                <a:solidFill>
                  <a:srgbClr val="B7791F"/>
                </a:solidFill>
              </a:rPr>
              <a:t>5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621387E-8A3F-4ADF-BAB0-065F70716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962400"/>
            <a:ext cx="41719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2000"/>
              </a:lnSpc>
              <a:buNone/>
              <a:defRPr sz="1650" b="1">
                <a:solidFill>
                  <a:srgbClr val="17352E"/>
                </a:solidFill>
              </a:defRPr>
            </a:pPr>
            <a:r>
              <a:rPr sz="1650" b="1">
                <a:solidFill>
                  <a:srgbClr val="17352E"/>
                </a:solidFill>
              </a:rPr>
              <a:t>强 PPO/SAC Baseline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B34A028-0FD4-405E-8357-BF0F00FD2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343400"/>
            <a:ext cx="41719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6000"/>
              </a:lnSpc>
              <a:buNone/>
              <a:defRPr sz="1275">
                <a:solidFill>
                  <a:srgbClr val="5E756F"/>
                </a:solidFill>
              </a:defRPr>
            </a:pPr>
            <a:r>
              <a:rPr sz="1275">
                <a:solidFill>
                  <a:srgbClr val="5E756F"/>
                </a:solidFill>
              </a:rPr>
              <a:t>固定 reward 版本，做超参搜索与 Pareto 选模。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5024316-BCE8-4298-B891-2CBD64D63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30050" y="4229100"/>
            <a:ext cx="4000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lnSpc>
                <a:spcPct val="122000"/>
              </a:lnSpc>
              <a:buNone/>
              <a:defRPr sz="2625" b="1">
                <a:solidFill>
                  <a:srgbClr val="2E7D5B"/>
                </a:solidFill>
              </a:defRPr>
            </a:pPr>
            <a:r>
              <a:rPr sz="2625" b="1">
                <a:solidFill>
                  <a:srgbClr val="2E7D5B"/>
                </a:solidFill>
              </a:rPr>
              <a:t>→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9A5F905-81D2-4497-B7F9-CD1D2A336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69800" y="3790950"/>
            <a:ext cx="5118100" cy="1352550"/>
          </a:xfrm>
          <a:prstGeom xmlns:a="http://schemas.openxmlformats.org/drawingml/2006/main" prst="roundRect">
            <a:avLst>
              <a:gd name="adj" fmla="val 12676"/>
            </a:avLst>
          </a:prstGeom>
          <a:solidFill xmlns:a="http://schemas.openxmlformats.org/drawingml/2006/main">
            <a:srgbClr val="DDEFE5"/>
          </a:solidFill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B3969BF-B623-401C-92C9-D01E84930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9350" y="3962400"/>
            <a:ext cx="4000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BC46870-F8FE-4B21-A6E5-A0CEAD9B2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0" y="3962400"/>
            <a:ext cx="400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lnSpc>
                <a:spcPct val="122000"/>
              </a:lnSpc>
              <a:buNone/>
              <a:defRPr sz="1350" b="1">
                <a:solidFill>
                  <a:srgbClr val="2E7D5B"/>
                </a:solidFill>
              </a:defRPr>
            </a:pPr>
            <a:r>
              <a:rPr sz="1350" b="1">
                <a:solidFill>
                  <a:srgbClr val="2E7D5B"/>
                </a:solidFill>
              </a:rPr>
              <a:t>6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43E35CF-6074-4991-BEDB-C4E6F335F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06400" y="3962400"/>
            <a:ext cx="41719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2000"/>
              </a:lnSpc>
              <a:buNone/>
              <a:defRPr sz="1650" b="1">
                <a:solidFill>
                  <a:srgbClr val="17352E"/>
                </a:solidFill>
              </a:defRPr>
            </a:pPr>
            <a:r>
              <a:rPr sz="1650" b="1">
                <a:solidFill>
                  <a:srgbClr val="17352E"/>
                </a:solidFill>
              </a:rPr>
              <a:t>论文实验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3D4AD91-86E5-4930-8EA2-5C467AE5F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06400" y="4343400"/>
            <a:ext cx="41719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6000"/>
              </a:lnSpc>
              <a:buNone/>
              <a:defRPr sz="1275">
                <a:solidFill>
                  <a:srgbClr val="5E756F"/>
                </a:solidFill>
              </a:defRPr>
            </a:pPr>
            <a:r>
              <a:rPr sz="1275">
                <a:solidFill>
                  <a:srgbClr val="5E756F"/>
                </a:solidFill>
              </a:rPr>
              <a:t>再跑 960 步、全周期与消融实验。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9C1D7EA-03D2-4416-93D8-994C4202C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395341"/>
            <a:ext cx="16687800" cy="745160"/>
          </a:xfrm>
          <a:prstGeom xmlns:a="http://schemas.openxmlformats.org/drawingml/2006/main" prst="roundRect">
            <a:avLst>
              <a:gd name="adj" fmla="val 2300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CF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A1403E7-9485-40D4-BEA4-CF0091AD1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581650"/>
            <a:ext cx="161544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025" b="1">
                <a:solidFill>
                  <a:srgbClr val="17352E"/>
                </a:solidFill>
              </a:defRPr>
            </a:pPr>
            <a:r>
              <a:rPr sz="2025" b="1">
                <a:solidFill>
                  <a:srgbClr val="17352E"/>
                </a:solidFill>
              </a:rPr>
              <a:t>阶段结论：项目已经从“能跑”进入“可复现、可诊断、可解释地改进”的阶段；下一步是提升 v2 泛化安全，再建立强 RL 对照。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FE3A677-BC9F-4FC2-BCB2-54F94AB44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9544050"/>
            <a:ext cx="159829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2000"/>
              </a:lnSpc>
              <a:buNone/>
              <a:defRPr sz="975">
                <a:solidFill>
                  <a:srgbClr val="789089"/>
                </a:solidFill>
              </a:defRPr>
            </a:pPr>
            <a:r>
              <a:rPr sz="975">
                <a:solidFill>
                  <a:srgbClr val="789089"/>
                </a:solidFill>
              </a:rPr>
              <a:t>数据来源：项目文档与 frozen benchmark / sentinel gate 诊断输出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0DA1C0E-1E2D-4353-AD41-0D6066F00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83050" y="9544050"/>
            <a:ext cx="7048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lnSpc>
                <a:spcPct val="122000"/>
              </a:lnSpc>
              <a:buNone/>
              <a:defRPr sz="975">
                <a:solidFill>
                  <a:srgbClr val="789089"/>
                </a:solidFill>
              </a:defRPr>
            </a:pPr>
            <a:r>
              <a:rPr sz="975">
                <a:solidFill>
                  <a:srgbClr val="789089"/>
                </a:solidFill>
              </a:rPr>
              <a:t>12/12</a:t>
            </a:r>
          </a:p>
        </p:txBody>
      </p:sp>
    </p:spTree>
    <p:extLst>
      <p:ext uri="{BB962C8B-B14F-4D97-AF65-F5344CB8AC3E}">
        <p14:creationId xmlns:p14="http://schemas.microsoft.com/office/powerpoint/2010/main" val="41918790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2026-04-30T15:48:56.3490000Z</dcterms:created>
  <dcterms:modified xsi:type="dcterms:W3CDTF">2026-04-30T15:48:56.3490000Z</dcterms:modified>
</coreProperties>
</file>