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304800"/>
            <a:ext cx="609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项目主线</a:t>
            </a:r>
            <a:endParaRPr sz="97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87100" y="3048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01</a:t>
            </a:r>
            <a:endParaRPr sz="105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324600"/>
            <a:ext cx="10668000" cy="11430"/>
          </a:xfrm>
          <a:prstGeom prst="rect">
            <a:avLst/>
          </a:prstGeom>
          <a:solidFill>
            <a:srgbClr val="E6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293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GreenLight-Gym2 | LLM-RSPC greenhouse control</a:t>
            </a:r>
            <a:endParaRPr sz="825" b="0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704850"/>
            <a:ext cx="7429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LLM-RSPC：温室安全滚动控制框架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50495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面向番茄温室：LLM 规划目标状态与设定点，RSPC、fallback 与护栏负责每一步可执行、安全、可复现。</a:t>
            </a:r>
            <a:endParaRPr sz="12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2238375"/>
            <a:ext cx="10839450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2571750"/>
            <a:ext cx="1314450" cy="285750"/>
          </a:xfrm>
          <a:prstGeom prst="rect">
            <a:avLst/>
          </a:prstGeom>
          <a:solidFill>
            <a:srgbClr val="E0ECF2"/>
          </a:solidFill>
          <a:ln w="9525">
            <a:solidFill>
              <a:srgbClr val="E0ECF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" y="262890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Observe</a:t>
            </a:r>
            <a:endParaRPr sz="900" b="1">
              <a:solidFill>
                <a:srgbClr val="3A6F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299085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温室状态</a:t>
            </a:r>
            <a:endParaRPr sz="1125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457450" y="2724150"/>
            <a:ext cx="43815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14" name="等腰三角形 13"/>
          <p:cNvSpPr>
            <a:spLocks noGrp="1"/>
          </p:cNvSpPr>
          <p:nvPr/>
        </p:nvSpPr>
        <p:spPr>
          <a:xfrm>
            <a:off x="2886075" y="2676525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143250" y="2571750"/>
            <a:ext cx="1314450" cy="285750"/>
          </a:xfrm>
          <a:prstGeom prst="rect">
            <a:avLst/>
          </a:prstGeom>
          <a:solidFill>
            <a:srgbClr val="DDEBE3"/>
          </a:solidFill>
          <a:ln w="9525">
            <a:solidFill>
              <a:srgbClr val="DDEBE3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238500" y="262890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Plan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067050" y="299085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设定点</a:t>
            </a:r>
            <a:endParaRPr sz="1125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52950" y="2724150"/>
            <a:ext cx="43815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19" name="等腰三角形 18"/>
          <p:cNvSpPr>
            <a:spLocks noGrp="1"/>
          </p:cNvSpPr>
          <p:nvPr/>
        </p:nvSpPr>
        <p:spPr>
          <a:xfrm>
            <a:off x="4981575" y="2676525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257800" y="2571750"/>
            <a:ext cx="1314450" cy="285750"/>
          </a:xfrm>
          <a:prstGeom prst="rect">
            <a:avLst/>
          </a:prstGeom>
          <a:solidFill>
            <a:srgbClr val="DDEBE3"/>
          </a:solidFill>
          <a:ln w="9525">
            <a:solidFill>
              <a:srgbClr val="DDEBE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353050" y="262890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Track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81600" y="299085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滚动候选</a:t>
            </a:r>
            <a:endParaRPr sz="1125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67500" y="2724150"/>
            <a:ext cx="43815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4" name="等腰三角形 23"/>
          <p:cNvSpPr>
            <a:spLocks noGrp="1"/>
          </p:cNvSpPr>
          <p:nvPr/>
        </p:nvSpPr>
        <p:spPr>
          <a:xfrm>
            <a:off x="7096125" y="2676525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372350" y="2571750"/>
            <a:ext cx="1314450" cy="285750"/>
          </a:xfrm>
          <a:prstGeom prst="rect">
            <a:avLst/>
          </a:prstGeom>
          <a:solidFill>
            <a:srgbClr val="F3E5C7"/>
          </a:solidFill>
          <a:ln w="9525">
            <a:solidFill>
              <a:srgbClr val="F3E5C7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467600" y="262890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Guard</a:t>
            </a:r>
            <a:endParaRPr sz="900" b="1">
              <a:solidFill>
                <a:srgbClr val="D89B3D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296150" y="299085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安全护栏</a:t>
            </a:r>
            <a:endParaRPr sz="1125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782050" y="2724150"/>
            <a:ext cx="43815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9" name="等腰三角形 28"/>
          <p:cNvSpPr>
            <a:spLocks noGrp="1"/>
          </p:cNvSpPr>
          <p:nvPr/>
        </p:nvSpPr>
        <p:spPr>
          <a:xfrm>
            <a:off x="9210675" y="2676525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486900" y="2571750"/>
            <a:ext cx="1314450" cy="285750"/>
          </a:xfrm>
          <a:prstGeom prst="rect">
            <a:avLst/>
          </a:prstGeom>
          <a:solidFill>
            <a:srgbClr val="DDEBE3"/>
          </a:solidFill>
          <a:ln w="9525">
            <a:solidFill>
              <a:srgbClr val="DDEBE3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582150" y="262890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7312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7312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Execute</a:t>
            </a:r>
            <a:endParaRPr sz="900" b="1">
              <a:solidFill>
                <a:srgbClr val="27312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410700" y="299085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环境动作</a:t>
            </a:r>
            <a:endParaRPr sz="1125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33450" y="447675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C75A4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solidFill>
                  <a:srgbClr val="C75A4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不是 LLM 直接控制器</a:t>
            </a:r>
            <a:endParaRPr sz="1575" b="1">
              <a:solidFill>
                <a:srgbClr val="C75A4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33450" y="4876800"/>
            <a:ext cx="39052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输出的是高层目标与策略锚点，真正落地动作由可解释的滚动控制与安全层逐步修正。</a:t>
            </a:r>
            <a:endParaRPr sz="127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191250" y="44767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当前研究目标</a:t>
            </a:r>
            <a:endParaRPr sz="157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191250" y="4876800"/>
            <a:ext cx="4191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先把安全与泛化跑通，再提升热干、低湿、高 VPD 场景的控制效果，最后进入强 baseline 与论文实验。</a:t>
            </a:r>
            <a:endParaRPr sz="127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304800"/>
            <a:ext cx="609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问题定义</a:t>
            </a:r>
            <a:endParaRPr sz="97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87100" y="3048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02</a:t>
            </a:r>
            <a:endParaRPr sz="105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324600"/>
            <a:ext cx="10668000" cy="11430"/>
          </a:xfrm>
          <a:prstGeom prst="rect">
            <a:avLst/>
          </a:prstGeom>
          <a:solidFill>
            <a:srgbClr val="E6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293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GreenLight-Gym2 | LLM-RSPC greenhouse control</a:t>
            </a:r>
            <a:endParaRPr sz="825" b="0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704850"/>
            <a:ext cx="7429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温室控制本质是多目标、强耦合、带安全约束的闭环决策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50495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同一个动作会同时改变温度、湿度、VPD、CO2、能耗和病害风险，不能只追单一 reward。</a:t>
            </a:r>
            <a:endParaRPr sz="12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095500"/>
            <a:ext cx="3314700" cy="3333750"/>
          </a:xfrm>
          <a:prstGeom prst="rect">
            <a:avLst/>
          </a:prstGeom>
          <a:solidFill>
            <a:srgbClr val="E0ECF2"/>
          </a:solidFill>
          <a:ln w="9525">
            <a:solidFill>
              <a:srgbClr val="BCD4E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71550" y="23812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状态观测</a:t>
            </a:r>
            <a:endParaRPr sz="1650" b="1">
              <a:solidFill>
                <a:srgbClr val="3A6F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09650" y="2933700"/>
            <a:ext cx="66675" cy="66675"/>
          </a:xfrm>
          <a:prstGeom prst="rect">
            <a:avLst/>
          </a:prstGeom>
          <a:solidFill>
            <a:srgbClr val="3A6F8F"/>
          </a:solidFill>
          <a:ln w="0">
            <a:solidFill>
              <a:srgbClr val="3A6F8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81100" y="2876550"/>
            <a:ext cx="2305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temp_air / rh_air / VPD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09650" y="3429000"/>
            <a:ext cx="66675" cy="66675"/>
          </a:xfrm>
          <a:prstGeom prst="rect">
            <a:avLst/>
          </a:prstGeom>
          <a:solidFill>
            <a:srgbClr val="3A6F8F"/>
          </a:solidFill>
          <a:ln w="0">
            <a:solidFill>
              <a:srgbClr val="3A6F8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81100" y="3371850"/>
            <a:ext cx="2305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CO2 / radiation / wind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09650" y="3924300"/>
            <a:ext cx="66675" cy="66675"/>
          </a:xfrm>
          <a:prstGeom prst="rect">
            <a:avLst/>
          </a:prstGeom>
          <a:solidFill>
            <a:srgbClr val="3A6F8F"/>
          </a:solidFill>
          <a:ln w="0">
            <a:solidFill>
              <a:srgbClr val="3A6F8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81100" y="3867150"/>
            <a:ext cx="2305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dew margin / canopy risk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09650" y="4419600"/>
            <a:ext cx="66675" cy="66675"/>
          </a:xfrm>
          <a:prstGeom prst="rect">
            <a:avLst/>
          </a:prstGeom>
          <a:solidFill>
            <a:srgbClr val="3A6F8F"/>
          </a:solidFill>
          <a:ln w="0">
            <a:solidFill>
              <a:srgbClr val="3A6F8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81100" y="4362450"/>
            <a:ext cx="2305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历史趋势与计划上下文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438650" y="2095500"/>
            <a:ext cx="3314700" cy="3333750"/>
          </a:xfrm>
          <a:prstGeom prst="rect">
            <a:avLst/>
          </a:prstGeom>
          <a:solidFill>
            <a:srgbClr val="DDEBE3"/>
          </a:solidFill>
          <a:ln w="9525">
            <a:solidFill>
              <a:srgbClr val="C7DCD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724400" y="23812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可控动作</a:t>
            </a:r>
            <a:endParaRPr sz="165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876800" y="2914650"/>
            <a:ext cx="1047750" cy="285750"/>
          </a:xfrm>
          <a:prstGeom prst="rect">
            <a:avLst/>
          </a:prstGeom>
          <a:solidFill>
            <a:srgbClr val="EEF6F1"/>
          </a:solidFill>
          <a:ln w="9525">
            <a:solidFill>
              <a:srgbClr val="EEF6F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972050" y="29718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heating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34100" y="2914650"/>
            <a:ext cx="1047750" cy="285750"/>
          </a:xfrm>
          <a:prstGeom prst="rect">
            <a:avLst/>
          </a:prstGeom>
          <a:solidFill>
            <a:srgbClr val="EEF6F1"/>
          </a:solidFill>
          <a:ln w="9525">
            <a:solidFill>
              <a:srgbClr val="EEF6F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229350" y="29718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screen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876800" y="3543300"/>
            <a:ext cx="1047750" cy="285750"/>
          </a:xfrm>
          <a:prstGeom prst="rect">
            <a:avLst/>
          </a:prstGeom>
          <a:solidFill>
            <a:srgbClr val="EEF6F1"/>
          </a:solidFill>
          <a:ln w="9525">
            <a:solidFill>
              <a:srgbClr val="EEF6F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972050" y="36004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ventilation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34100" y="3543300"/>
            <a:ext cx="1047750" cy="285750"/>
          </a:xfrm>
          <a:prstGeom prst="rect">
            <a:avLst/>
          </a:prstGeom>
          <a:solidFill>
            <a:srgbClr val="EEF6F1"/>
          </a:solidFill>
          <a:ln w="9525">
            <a:solidFill>
              <a:srgbClr val="EEF6F1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229350" y="36004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lighting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876800" y="4171950"/>
            <a:ext cx="1047750" cy="285750"/>
          </a:xfrm>
          <a:prstGeom prst="rect">
            <a:avLst/>
          </a:prstGeom>
          <a:solidFill>
            <a:srgbClr val="EEF6F1"/>
          </a:solidFill>
          <a:ln w="9525">
            <a:solidFill>
              <a:srgbClr val="EEF6F1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972050" y="42291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shading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134100" y="4171950"/>
            <a:ext cx="1047750" cy="285750"/>
          </a:xfrm>
          <a:prstGeom prst="rect">
            <a:avLst/>
          </a:prstGeom>
          <a:solidFill>
            <a:srgbClr val="EEF6F1"/>
          </a:solidFill>
          <a:ln w="9525">
            <a:solidFill>
              <a:srgbClr val="EEF6F1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229350" y="42291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CO2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191500" y="2095500"/>
            <a:ext cx="3314700" cy="3333750"/>
          </a:xfrm>
          <a:prstGeom prst="rect">
            <a:avLst/>
          </a:prstGeom>
          <a:solidFill>
            <a:srgbClr val="F3E5C7"/>
          </a:solidFill>
          <a:ln w="9525">
            <a:solidFill>
              <a:srgbClr val="E8D2A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477250" y="23812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评价目标</a:t>
            </a:r>
            <a:endParaRPr sz="1650" b="1">
              <a:solidFill>
                <a:srgbClr val="D89B3D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496300" y="291465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C75A4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C75A4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安全</a:t>
            </a:r>
            <a:endParaRPr sz="2025" b="1">
              <a:solidFill>
                <a:srgbClr val="C75A4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496300" y="3314700"/>
            <a:ext cx="114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温度 / RH / VPD 不越界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791700" y="291465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收益</a:t>
            </a:r>
            <a:endParaRPr sz="202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791700" y="3314700"/>
            <a:ext cx="114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产量与能耗的权衡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144000" y="419100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泛化</a:t>
            </a:r>
            <a:endParaRPr sz="2025" b="1">
              <a:solidFill>
                <a:srgbClr val="3A6F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144000" y="4591050"/>
            <a:ext cx="133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跨年份、季节、种子稳定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14400" y="5772150"/>
            <a:ext cx="933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设计原则：高层智能可以不完美，但底层执行必须可控、可诊断、可复现。</a:t>
            </a:r>
            <a:endParaRPr sz="1575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304800"/>
            <a:ext cx="609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总体架构</a:t>
            </a:r>
            <a:endParaRPr sz="97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87100" y="3048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03</a:t>
            </a:r>
            <a:endParaRPr sz="105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324600"/>
            <a:ext cx="10668000" cy="11430"/>
          </a:xfrm>
          <a:prstGeom prst="rect">
            <a:avLst/>
          </a:prstGeom>
          <a:solidFill>
            <a:srgbClr val="E6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293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GreenLight-Gym2 | LLM-RSPC greenhouse control</a:t>
            </a:r>
            <a:endParaRPr sz="825" b="0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704850"/>
            <a:ext cx="7429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系统被拆成“高层计划、滚动执行、安全修正、诊断评估”四层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50495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模块边界越清楚，后续论文实验越能说明改进来自哪里。</a:t>
            </a:r>
            <a:endParaRPr sz="12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266950"/>
            <a:ext cx="2000250" cy="990600"/>
          </a:xfrm>
          <a:prstGeom prst="rect">
            <a:avLst/>
          </a:prstGeom>
          <a:solidFill>
            <a:srgbClr val="F4FAF6"/>
          </a:solidFill>
          <a:ln w="11430">
            <a:solidFill>
              <a:srgbClr val="E6E2D8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9150" y="2419350"/>
            <a:ext cx="209550" cy="209550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1143000" y="2381250"/>
            <a:ext cx="1428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Planner</a:t>
            </a:r>
            <a:endParaRPr sz="12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2647950"/>
            <a:ext cx="1428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生成未来目标状态、设定点与 anchor control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19400" y="2762250"/>
            <a:ext cx="57150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14" name="等腰三角形 13"/>
          <p:cNvSpPr>
            <a:spLocks noGrp="1"/>
          </p:cNvSpPr>
          <p:nvPr/>
        </p:nvSpPr>
        <p:spPr>
          <a:xfrm>
            <a:off x="3381375" y="2714625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600450" y="2266950"/>
            <a:ext cx="2076450" cy="990600"/>
          </a:xfrm>
          <a:prstGeom prst="rect">
            <a:avLst/>
          </a:prstGeom>
          <a:solidFill>
            <a:srgbClr val="F3F8FB"/>
          </a:solidFill>
          <a:ln w="11430">
            <a:solidFill>
              <a:srgbClr val="E6E2D8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3800" y="2419350"/>
            <a:ext cx="209550" cy="20955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4057650" y="2381250"/>
            <a:ext cx="15049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Setpoint Contract</a:t>
            </a:r>
            <a:endParaRPr sz="1200" b="1">
              <a:solidFill>
                <a:srgbClr val="3A6F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057650" y="2647950"/>
            <a:ext cx="1504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补齐、裁剪、修正 target_temp / target_rh / target_co2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829300" y="2762250"/>
            <a:ext cx="57150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0" name="等腰三角形 19"/>
          <p:cNvSpPr>
            <a:spLocks noGrp="1"/>
          </p:cNvSpPr>
          <p:nvPr/>
        </p:nvSpPr>
        <p:spPr>
          <a:xfrm>
            <a:off x="6391275" y="2714625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610350" y="2266950"/>
            <a:ext cx="2076450" cy="990600"/>
          </a:xfrm>
          <a:prstGeom prst="rect">
            <a:avLst/>
          </a:prstGeom>
          <a:solidFill>
            <a:srgbClr val="F4FAF6"/>
          </a:solidFill>
          <a:ln w="11430">
            <a:solidFill>
              <a:srgbClr val="E6E2D8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3700" y="2419350"/>
            <a:ext cx="209550" cy="209550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7067550" y="2381250"/>
            <a:ext cx="15049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RSPC / Fallback</a:t>
            </a:r>
            <a:endParaRPr sz="12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67550" y="2647950"/>
            <a:ext cx="1504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候选动作、短时域评分、滚动执行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839200" y="2762250"/>
            <a:ext cx="57150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6" name="等腰三角形 25"/>
          <p:cNvSpPr>
            <a:spLocks noGrp="1"/>
          </p:cNvSpPr>
          <p:nvPr/>
        </p:nvSpPr>
        <p:spPr>
          <a:xfrm>
            <a:off x="9401175" y="2714625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620250" y="2266950"/>
            <a:ext cx="1905000" cy="990600"/>
          </a:xfrm>
          <a:prstGeom prst="rect">
            <a:avLst/>
          </a:prstGeom>
          <a:solidFill>
            <a:srgbClr val="FFF8EA"/>
          </a:solidFill>
          <a:ln w="11430">
            <a:solidFill>
              <a:srgbClr val="E6E2D8"/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3600" y="2419350"/>
            <a:ext cx="209550" cy="209550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10077450" y="2381250"/>
            <a:ext cx="1333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Safety Layers</a:t>
            </a:r>
            <a:endParaRPr sz="1200" b="1">
              <a:solidFill>
                <a:srgbClr val="D89B3D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077450" y="2647950"/>
            <a:ext cx="1333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通用 guardrail + Tomato Safety v2 opt-in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638300" y="3752850"/>
            <a:ext cx="8934450" cy="19050"/>
          </a:xfrm>
          <a:prstGeom prst="rect">
            <a:avLst/>
          </a:prstGeom>
          <a:solidFill>
            <a:srgbClr val="E6E2D8"/>
          </a:solidFill>
          <a:ln w="0">
            <a:solidFill>
              <a:srgbClr val="E6E2D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181100" y="4171950"/>
            <a:ext cx="1809750" cy="819150"/>
          </a:xfrm>
          <a:prstGeom prst="rect">
            <a:avLst/>
          </a:prstGeom>
          <a:solidFill>
            <a:srgbClr val="FFFFFF"/>
          </a:solidFill>
          <a:ln w="11430">
            <a:solidFill>
              <a:srgbClr val="E6E2D8"/>
            </a:solidFill>
            <a:prstDash val="solid"/>
          </a:ln>
        </p:spPr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14450" y="4324350"/>
            <a:ext cx="209550" cy="209550"/>
          </a:xfrm>
          <a:prstGeom prst="rect">
            <a:avLst/>
          </a:prstGeom>
        </p:spPr>
      </p:pic>
      <p:sp>
        <p:nvSpPr>
          <p:cNvPr id="34" name="矩形 33"/>
          <p:cNvSpPr>
            <a:spLocks noGrp="1"/>
          </p:cNvSpPr>
          <p:nvPr/>
        </p:nvSpPr>
        <p:spPr>
          <a:xfrm>
            <a:off x="1638300" y="4286250"/>
            <a:ext cx="1238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PPO</a:t>
            </a:r>
            <a:endParaRPr sz="120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638300" y="4552950"/>
            <a:ext cx="1238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诊断镜子，不是最终教师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562350" y="4171950"/>
            <a:ext cx="2286000" cy="819150"/>
          </a:xfrm>
          <a:prstGeom prst="rect">
            <a:avLst/>
          </a:prstGeom>
          <a:solidFill>
            <a:srgbClr val="FFFFFF"/>
          </a:solidFill>
          <a:ln w="11430">
            <a:solidFill>
              <a:srgbClr val="E6E2D8"/>
            </a:solidFill>
            <a:prstDash val="solid"/>
          </a:ln>
        </p:spPr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95700" y="4324350"/>
            <a:ext cx="209550" cy="209550"/>
          </a:xfrm>
          <a:prstGeom prst="rect">
            <a:avLst/>
          </a:prstGeom>
        </p:spPr>
      </p:pic>
      <p:sp>
        <p:nvSpPr>
          <p:cNvPr id="38" name="矩形 37"/>
          <p:cNvSpPr>
            <a:spLocks noGrp="1"/>
          </p:cNvSpPr>
          <p:nvPr/>
        </p:nvSpPr>
        <p:spPr>
          <a:xfrm>
            <a:off x="4019550" y="4286250"/>
            <a:ext cx="1714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MC-SERO Shadow</a:t>
            </a:r>
            <a:endParaRPr sz="1200" b="1">
              <a:solidFill>
                <a:srgbClr val="3A6F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019550" y="4552950"/>
            <a:ext cx="171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机制候选只评分，不接管动作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419850" y="4171950"/>
            <a:ext cx="2266950" cy="819150"/>
          </a:xfrm>
          <a:prstGeom prst="rect">
            <a:avLst/>
          </a:prstGeom>
          <a:solidFill>
            <a:srgbClr val="FFFFFF"/>
          </a:solidFill>
          <a:ln w="11430">
            <a:solidFill>
              <a:srgbClr val="E6E2D8"/>
            </a:solidFill>
            <a:prstDash val="solid"/>
          </a:ln>
        </p:spPr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53200" y="4324350"/>
            <a:ext cx="209550" cy="209550"/>
          </a:xfrm>
          <a:prstGeom prst="rect">
            <a:avLst/>
          </a:prstGeom>
        </p:spPr>
      </p:pic>
      <p:sp>
        <p:nvSpPr>
          <p:cNvPr id="42" name="矩形 41"/>
          <p:cNvSpPr>
            <a:spLocks noGrp="1"/>
          </p:cNvSpPr>
          <p:nvPr/>
        </p:nvSpPr>
        <p:spPr>
          <a:xfrm>
            <a:off x="6877050" y="4286250"/>
            <a:ext cx="16954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HEM</a:t>
            </a:r>
            <a:endParaRPr sz="120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877050" y="45529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经验库框架已实现，当前不作为收益主线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258300" y="4171950"/>
            <a:ext cx="2095500" cy="819150"/>
          </a:xfrm>
          <a:prstGeom prst="rect">
            <a:avLst/>
          </a:prstGeom>
          <a:solidFill>
            <a:srgbClr val="FFFFFF"/>
          </a:solidFill>
          <a:ln w="11430">
            <a:solidFill>
              <a:srgbClr val="E6E2D8"/>
            </a:solidFill>
            <a:prstDash val="solid"/>
          </a:ln>
        </p:spPr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91650" y="4324350"/>
            <a:ext cx="209550" cy="209550"/>
          </a:xfrm>
          <a:prstGeom prst="rect">
            <a:avLst/>
          </a:prstGeom>
        </p:spPr>
      </p:pic>
      <p:sp>
        <p:nvSpPr>
          <p:cNvPr id="46" name="矩形 45"/>
          <p:cNvSpPr>
            <a:spLocks noGrp="1"/>
          </p:cNvSpPr>
          <p:nvPr/>
        </p:nvSpPr>
        <p:spPr>
          <a:xfrm>
            <a:off x="9715500" y="4286250"/>
            <a:ext cx="1524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Plan Cache</a:t>
            </a:r>
            <a:endParaRPr sz="12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715500" y="4552950"/>
            <a:ext cx="152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冻结 LLM 高层计划，公平比较底层逻辑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123950" y="5524500"/>
            <a:ext cx="9620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390650" y="5648325"/>
            <a:ext cx="885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论文主线只放在 LLM-RSPC：LLM 规划 + robust setpoint tracking + safe rollout control。</a:t>
            </a:r>
            <a:endParaRPr sz="1275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304800"/>
            <a:ext cx="609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闭环流程</a:t>
            </a:r>
            <a:endParaRPr sz="97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87100" y="3048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04</a:t>
            </a:r>
            <a:endParaRPr sz="105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324600"/>
            <a:ext cx="10668000" cy="11430"/>
          </a:xfrm>
          <a:prstGeom prst="rect">
            <a:avLst/>
          </a:prstGeom>
          <a:solidFill>
            <a:srgbClr val="E6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293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GreenLight-Gym2 | LLM-RSPC greenhouse control</a:t>
            </a:r>
            <a:endParaRPr sz="825" b="0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704850"/>
            <a:ext cx="7429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每一步不是重新问 LLM，而是跟踪上一轮计划并做安全滚动修正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50495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只在计划过期或必要事件触发时重规划；大部分时间由本地控制逻辑稳定执行。</a:t>
            </a:r>
            <a:endParaRPr sz="12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2247900"/>
            <a:ext cx="17145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400300"/>
            <a:ext cx="361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33450" y="24574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24384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读取状态</a:t>
            </a:r>
            <a:endParaRPr sz="1350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2895600"/>
            <a:ext cx="1295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温度、湿度、VPD、辐射、露点裕度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438400" y="2990850"/>
            <a:ext cx="22860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15" name="等腰三角形 14"/>
          <p:cNvSpPr>
            <a:spLocks noGrp="1"/>
          </p:cNvSpPr>
          <p:nvPr/>
        </p:nvSpPr>
        <p:spPr>
          <a:xfrm>
            <a:off x="2657475" y="2943225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876550" y="2247900"/>
            <a:ext cx="17145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048000" y="2400300"/>
            <a:ext cx="361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143250" y="24574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505200" y="24384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跟踪设定点</a:t>
            </a:r>
            <a:endParaRPr sz="1350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086100" y="2895600"/>
            <a:ext cx="1295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把目标状态转成候选动作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648200" y="2990850"/>
            <a:ext cx="22860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2" name="等腰三角形 21"/>
          <p:cNvSpPr>
            <a:spLocks noGrp="1"/>
          </p:cNvSpPr>
          <p:nvPr/>
        </p:nvSpPr>
        <p:spPr>
          <a:xfrm>
            <a:off x="4867275" y="2943225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086350" y="2247900"/>
            <a:ext cx="17145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257800" y="2400300"/>
            <a:ext cx="361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353050" y="24574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715000" y="24384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候选评分</a:t>
            </a:r>
            <a:endParaRPr sz="1350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295900" y="2895600"/>
            <a:ext cx="1295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RSPC / fallback 评估短期风险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858000" y="2990850"/>
            <a:ext cx="22860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9" name="等腰三角形 28"/>
          <p:cNvSpPr>
            <a:spLocks noGrp="1"/>
          </p:cNvSpPr>
          <p:nvPr/>
        </p:nvSpPr>
        <p:spPr>
          <a:xfrm>
            <a:off x="7077075" y="2943225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296150" y="2247900"/>
            <a:ext cx="1714500" cy="1485900"/>
          </a:xfrm>
          <a:prstGeom prst="rect">
            <a:avLst/>
          </a:prstGeom>
          <a:solidFill>
            <a:srgbClr val="F3E5C7"/>
          </a:solidFill>
          <a:ln w="9525">
            <a:solidFill>
              <a:srgbClr val="E4BE7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467600" y="2400300"/>
            <a:ext cx="361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562850" y="24574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4</a:t>
            </a:r>
            <a:endParaRPr sz="900" b="1">
              <a:solidFill>
                <a:srgbClr val="D89B3D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924800" y="24384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安全修正</a:t>
            </a:r>
            <a:endParaRPr sz="1350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505700" y="2895600"/>
            <a:ext cx="1295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guardrail + Tomato v2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067800" y="2990850"/>
            <a:ext cx="22860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36" name="等腰三角形 35"/>
          <p:cNvSpPr>
            <a:spLocks noGrp="1"/>
          </p:cNvSpPr>
          <p:nvPr/>
        </p:nvSpPr>
        <p:spPr>
          <a:xfrm>
            <a:off x="9286875" y="2943225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505950" y="2247900"/>
            <a:ext cx="17145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677400" y="2400300"/>
            <a:ext cx="361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772650" y="24574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0134600" y="24384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执行记录</a:t>
            </a:r>
            <a:endParaRPr sz="1350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715500" y="2895600"/>
            <a:ext cx="1295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动作、source、诊断字段入 trace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57250" y="4343400"/>
            <a:ext cx="4762500" cy="1066800"/>
          </a:xfrm>
          <a:prstGeom prst="rect">
            <a:avLst/>
          </a:prstGeom>
          <a:solidFill>
            <a:srgbClr val="DDEBE3"/>
          </a:solidFill>
          <a:ln w="9525">
            <a:solidFill>
              <a:srgbClr val="C9DED2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123950" y="4572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重规划触发</a:t>
            </a:r>
            <a:endParaRPr sz="15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2857500" y="4610100"/>
            <a:ext cx="66675" cy="66675"/>
          </a:xfrm>
          <a:prstGeom prst="rect">
            <a:avLst/>
          </a:prstGeom>
          <a:solidFill>
            <a:srgbClr val="236B4B"/>
          </a:solidFill>
          <a:ln w="0">
            <a:solidFill>
              <a:srgbClr val="236B4B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3028950" y="4552950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计划过期 / 初始化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857500" y="4972050"/>
            <a:ext cx="66675" cy="66675"/>
          </a:xfrm>
          <a:prstGeom prst="rect">
            <a:avLst/>
          </a:prstGeom>
          <a:solidFill>
            <a:srgbClr val="236B4B"/>
          </a:solidFill>
          <a:ln w="0">
            <a:solidFill>
              <a:srgbClr val="236B4B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3028950" y="491490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严重 RH、VPD、温度风险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305550" y="4343400"/>
            <a:ext cx="4762500" cy="1066800"/>
          </a:xfrm>
          <a:prstGeom prst="rect">
            <a:avLst/>
          </a:prstGeom>
          <a:solidFill>
            <a:srgbClr val="E0ECF2"/>
          </a:solidFill>
          <a:ln w="9525">
            <a:solidFill>
              <a:srgbClr val="C1D8E4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572250" y="45720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公平实验关键</a:t>
            </a:r>
            <a:endParaRPr sz="1500" b="1">
              <a:solidFill>
                <a:srgbClr val="3A6F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305800" y="4610100"/>
            <a:ext cx="66675" cy="66675"/>
          </a:xfrm>
          <a:prstGeom prst="rect">
            <a:avLst/>
          </a:prstGeom>
          <a:solidFill>
            <a:srgbClr val="3A6F8F"/>
          </a:solidFill>
          <a:ln w="0">
            <a:solidFill>
              <a:srgbClr val="3A6F8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477250" y="4552950"/>
            <a:ext cx="2019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冻结同一批 LLM plans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305800" y="4972050"/>
            <a:ext cx="66675" cy="66675"/>
          </a:xfrm>
          <a:prstGeom prst="rect">
            <a:avLst/>
          </a:prstGeom>
          <a:solidFill>
            <a:srgbClr val="3A6F8F"/>
          </a:solidFill>
          <a:ln w="0">
            <a:solidFill>
              <a:srgbClr val="3A6F8F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477250" y="491490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比较底层控制逻辑，而不是比较 LLM 运气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304800"/>
            <a:ext cx="609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模块边界</a:t>
            </a:r>
            <a:endParaRPr sz="97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87100" y="3048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05</a:t>
            </a:r>
            <a:endParaRPr sz="105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324600"/>
            <a:ext cx="10668000" cy="11430"/>
          </a:xfrm>
          <a:prstGeom prst="rect">
            <a:avLst/>
          </a:prstGeom>
          <a:solidFill>
            <a:srgbClr val="E6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293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GreenLight-Gym2 | LLM-RSPC greenhouse control</a:t>
            </a:r>
            <a:endParaRPr sz="825" b="0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704850"/>
            <a:ext cx="7429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每个模块都有明确角色：主线、诊断、护栏、评估不能混在一起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50495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这也是后续论文叙事的防混淆设计。</a:t>
            </a:r>
            <a:endParaRPr sz="12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2000250"/>
            <a:ext cx="1924050" cy="400050"/>
          </a:xfrm>
          <a:prstGeom prst="rect">
            <a:avLst/>
          </a:prstGeom>
          <a:solidFill>
            <a:srgbClr val="27312B"/>
          </a:solidFill>
          <a:ln w="9525">
            <a:solidFill>
              <a:srgbClr val="27312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2105025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模块</a:t>
            </a:r>
            <a:endParaRPr sz="105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667000" y="2000250"/>
            <a:ext cx="1638300" cy="400050"/>
          </a:xfrm>
          <a:prstGeom prst="rect">
            <a:avLst/>
          </a:prstGeom>
          <a:solidFill>
            <a:srgbClr val="27312B"/>
          </a:solidFill>
          <a:ln w="9525">
            <a:solidFill>
              <a:srgbClr val="27312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781300" y="210502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定位</a:t>
            </a:r>
            <a:endParaRPr sz="105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381500" y="2000250"/>
            <a:ext cx="3924300" cy="400050"/>
          </a:xfrm>
          <a:prstGeom prst="rect">
            <a:avLst/>
          </a:prstGeom>
          <a:solidFill>
            <a:srgbClr val="27312B"/>
          </a:solidFill>
          <a:ln w="9525">
            <a:solidFill>
              <a:srgbClr val="27312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495800" y="2105025"/>
            <a:ext cx="3695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核心作用</a:t>
            </a:r>
            <a:endParaRPr sz="105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0" y="2000250"/>
            <a:ext cx="1828800" cy="400050"/>
          </a:xfrm>
          <a:prstGeom prst="rect">
            <a:avLst/>
          </a:prstGeom>
          <a:solidFill>
            <a:srgbClr val="27312B"/>
          </a:solidFill>
          <a:ln w="9525">
            <a:solidFill>
              <a:srgbClr val="27312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496300" y="2105025"/>
            <a:ext cx="1600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当前状态</a:t>
            </a:r>
            <a:endParaRPr sz="105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476500"/>
            <a:ext cx="10763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2590800"/>
            <a:ext cx="1676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LLM-RSPC</a:t>
            </a:r>
            <a:endParaRPr sz="105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781300" y="25908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主控制器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514850" y="2590800"/>
            <a:ext cx="3714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高层设定点规划 + 安全滚动执行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829800" y="2562225"/>
            <a:ext cx="1238250" cy="285750"/>
          </a:xfrm>
          <a:prstGeom prst="rect">
            <a:avLst/>
          </a:prstGeom>
          <a:solidFill>
            <a:srgbClr val="EEF1ED"/>
          </a:solidFill>
          <a:ln w="9525">
            <a:solidFill>
              <a:srgbClr val="EEF1ED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925050" y="2619375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论文主线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6750" y="3028950"/>
            <a:ext cx="10763250" cy="457200"/>
          </a:xfrm>
          <a:prstGeom prst="rect">
            <a:avLst/>
          </a:prstGeom>
          <a:solidFill>
            <a:srgbClr val="F3F4E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00100" y="3143250"/>
            <a:ext cx="1676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Tomato Safety v2</a:t>
            </a:r>
            <a:endParaRPr sz="1050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781300" y="31432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番茄护栏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514850" y="3143250"/>
            <a:ext cx="3714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低 RH / 高 VPD / 低温恢复 / 高温强辐射优先级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829800" y="3114675"/>
            <a:ext cx="1238250" cy="285750"/>
          </a:xfrm>
          <a:prstGeom prst="rect">
            <a:avLst/>
          </a:prstGeom>
          <a:solidFill>
            <a:srgbClr val="F3E5C7"/>
          </a:solidFill>
          <a:ln w="9525">
            <a:solidFill>
              <a:srgbClr val="F3E5C7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925050" y="3171825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opt-in</a:t>
            </a:r>
            <a:endParaRPr sz="90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6750" y="3581400"/>
            <a:ext cx="10763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00100" y="3695700"/>
            <a:ext cx="1676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MC-SERO Shadow</a:t>
            </a:r>
            <a:endParaRPr sz="1050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781300" y="36957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机制诊断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514850" y="3695700"/>
            <a:ext cx="3714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生成候选、短时域 proxy、margin 评估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829800" y="3667125"/>
            <a:ext cx="1238250" cy="285750"/>
          </a:xfrm>
          <a:prstGeom prst="rect">
            <a:avLst/>
          </a:prstGeom>
          <a:solidFill>
            <a:srgbClr val="EEF1ED"/>
          </a:solidFill>
          <a:ln w="9525">
            <a:solidFill>
              <a:srgbClr val="EEF1ED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925050" y="3724275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不接管动作</a:t>
            </a:r>
            <a:endParaRPr sz="900" b="1">
              <a:solidFill>
                <a:srgbClr val="3A6F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66750" y="4133850"/>
            <a:ext cx="10763250" cy="457200"/>
          </a:xfrm>
          <a:prstGeom prst="rect">
            <a:avLst/>
          </a:prstGeom>
          <a:solidFill>
            <a:srgbClr val="F3F4E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00100" y="4248150"/>
            <a:ext cx="1676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PPO</a:t>
            </a:r>
            <a:endParaRPr sz="1050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781300" y="42481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诊断镜子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514850" y="4248150"/>
            <a:ext cx="3714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提供对照行为与风险暴露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829800" y="4219575"/>
            <a:ext cx="1238250" cy="285750"/>
          </a:xfrm>
          <a:prstGeom prst="rect">
            <a:avLst/>
          </a:prstGeom>
          <a:solidFill>
            <a:srgbClr val="EEF1ED"/>
          </a:solidFill>
          <a:ln w="9525">
            <a:solidFill>
              <a:srgbClr val="EEF1ED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925050" y="4276725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非最终教师</a:t>
            </a:r>
            <a:endParaRPr sz="90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66750" y="4686300"/>
            <a:ext cx="10763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00100" y="4800600"/>
            <a:ext cx="1676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HEM</a:t>
            </a:r>
            <a:endParaRPr sz="1050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781300" y="48006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经验库框架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514850" y="4800600"/>
            <a:ext cx="3714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存储局部经验，等待强 baseline 后再挖掘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829800" y="4772025"/>
            <a:ext cx="1238250" cy="285750"/>
          </a:xfrm>
          <a:prstGeom prst="rect">
            <a:avLst/>
          </a:prstGeom>
          <a:solidFill>
            <a:srgbClr val="EEF1ED"/>
          </a:solidFill>
          <a:ln w="9525">
            <a:solidFill>
              <a:srgbClr val="EEF1ED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925050" y="4829175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非当前收益主线</a:t>
            </a:r>
            <a:endParaRPr sz="90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66750" y="5238750"/>
            <a:ext cx="10763250" cy="457200"/>
          </a:xfrm>
          <a:prstGeom prst="rect">
            <a:avLst/>
          </a:prstGeom>
          <a:solidFill>
            <a:srgbClr val="F3F4E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00100" y="5353050"/>
            <a:ext cx="1676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Plan Cache</a:t>
            </a:r>
            <a:endParaRPr sz="1050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2781300" y="53530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实验底座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514850" y="5353050"/>
            <a:ext cx="3714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冻结 LLM 计划，strict replay 公平比较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829800" y="5324475"/>
            <a:ext cx="1238250" cy="285750"/>
          </a:xfrm>
          <a:prstGeom prst="rect">
            <a:avLst/>
          </a:prstGeom>
          <a:solidFill>
            <a:srgbClr val="EEF1ED"/>
          </a:solidFill>
          <a:ln w="9525">
            <a:solidFill>
              <a:srgbClr val="EEF1ED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925050" y="5381625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必须保持</a:t>
            </a:r>
            <a:endParaRPr sz="90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304800"/>
            <a:ext cx="609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Tomato Safety v2</a:t>
            </a:r>
            <a:endParaRPr sz="97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87100" y="3048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06</a:t>
            </a:r>
            <a:endParaRPr sz="105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324600"/>
            <a:ext cx="10668000" cy="11430"/>
          </a:xfrm>
          <a:prstGeom prst="rect">
            <a:avLst/>
          </a:prstGeom>
          <a:solidFill>
            <a:srgbClr val="E6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293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GreenLight-Gym2 | LLM-RSPC greenhouse control</a:t>
            </a:r>
            <a:endParaRPr sz="825" b="0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704850"/>
            <a:ext cx="7429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Tomato Safety v2：番茄专用二级护栏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50495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在低湿/高 VPD、结露、高温强辐射冲突中重排安全优先级；它不是另一个控制器，而是在 guardrail 后做动作修正。</a:t>
            </a:r>
            <a:endParaRPr sz="12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2038350"/>
            <a:ext cx="495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2066925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</a:t>
            </a:r>
            <a:endParaRPr sz="202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2466975"/>
            <a:ext cx="419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600200" y="21526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结露 / 极端高湿</a:t>
            </a:r>
            <a:endParaRPr sz="1350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52800" y="21717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不能因 hot override 错误放过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2819400"/>
            <a:ext cx="4953000" cy="552450"/>
          </a:xfrm>
          <a:prstGeom prst="rect">
            <a:avLst/>
          </a:prstGeom>
          <a:solidFill>
            <a:srgbClr val="F3E5C7"/>
          </a:solidFill>
          <a:ln w="9525">
            <a:solidFill>
              <a:srgbClr val="E4BE7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90600" y="2847975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</a:t>
            </a:r>
            <a:endParaRPr sz="2025" b="1">
              <a:solidFill>
                <a:srgbClr val="D89B3D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3248025"/>
            <a:ext cx="419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600200" y="29337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高温强辐射</a:t>
            </a:r>
            <a:endParaRPr sz="1350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352800" y="29527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temp_air ≥ 32°C 或快速升温时优先降温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3600450"/>
            <a:ext cx="495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90600" y="3629025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</a:t>
            </a:r>
            <a:endParaRPr sz="202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90600" y="4029075"/>
            <a:ext cx="419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00200" y="37147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干侧恢复</a:t>
            </a:r>
            <a:endParaRPr sz="1350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352800" y="37338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温度安全区间内降低 RH-low / VPD-high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38200" y="4381500"/>
            <a:ext cx="495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90600" y="4410075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4</a:t>
            </a:r>
            <a:endParaRPr sz="202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0600" y="4810125"/>
            <a:ext cx="419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00200" y="44958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能耗限制</a:t>
            </a:r>
            <a:endParaRPr sz="1350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352800" y="45148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heat、CO2、lamp 在风险期关闭或受限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572250" y="2047875"/>
            <a:ext cx="4095750" cy="1028700"/>
          </a:xfrm>
          <a:prstGeom prst="rect">
            <a:avLst/>
          </a:prstGeom>
          <a:solidFill>
            <a:srgbClr val="F3DCD5"/>
          </a:solidFill>
          <a:ln w="9525">
            <a:solidFill>
              <a:srgbClr val="E2B9A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896100" y="2266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75A4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C75A4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修复前风险组合</a:t>
            </a:r>
            <a:endParaRPr sz="1500" b="1">
              <a:solidFill>
                <a:srgbClr val="C75A4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896100" y="2590800"/>
            <a:ext cx="3143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screen = 1.0, shade = 0.0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高温强辐射下可能保湿但积热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020050" y="3295650"/>
            <a:ext cx="74295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33" name="等腰三角形 32"/>
          <p:cNvSpPr>
            <a:spLocks noGrp="1"/>
          </p:cNvSpPr>
          <p:nvPr/>
        </p:nvSpPr>
        <p:spPr>
          <a:xfrm>
            <a:off x="8753475" y="3248025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572250" y="3714750"/>
            <a:ext cx="4095750" cy="1790700"/>
          </a:xfrm>
          <a:prstGeom prst="rect">
            <a:avLst/>
          </a:prstGeom>
          <a:solidFill>
            <a:srgbClr val="DDEBE3"/>
          </a:solidFill>
          <a:ln w="9525">
            <a:solidFill>
              <a:srgbClr val="C9DED2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896100" y="395287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修复后策略</a:t>
            </a:r>
            <a:endParaRPr sz="15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896100" y="4381500"/>
            <a:ext cx="66675" cy="66675"/>
          </a:xfrm>
          <a:prstGeom prst="rect">
            <a:avLst/>
          </a:prstGeom>
          <a:solidFill>
            <a:srgbClr val="236B4B"/>
          </a:solidFill>
          <a:ln w="0">
            <a:solidFill>
              <a:srgbClr val="236B4B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067550" y="4324350"/>
            <a:ext cx="2305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释放或降低 screen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896100" y="4724400"/>
            <a:ext cx="66675" cy="66675"/>
          </a:xfrm>
          <a:prstGeom prst="rect">
            <a:avLst/>
          </a:prstGeom>
          <a:solidFill>
            <a:srgbClr val="236B4B"/>
          </a:solidFill>
          <a:ln w="0">
            <a:solidFill>
              <a:srgbClr val="236B4B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067550" y="466725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启用 shade + 足够 vent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896100" y="5067300"/>
            <a:ext cx="66675" cy="66675"/>
          </a:xfrm>
          <a:prstGeom prst="rect">
            <a:avLst/>
          </a:prstGeom>
          <a:solidFill>
            <a:srgbClr val="236B4B"/>
          </a:solidFill>
          <a:ln w="0">
            <a:solidFill>
              <a:srgbClr val="236B4B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067550" y="5010150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极端热干时进入稳定缓冲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304800"/>
            <a:ext cx="609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MC-SERO Shadow</a:t>
            </a:r>
            <a:endParaRPr sz="97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87100" y="3048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07</a:t>
            </a:r>
            <a:endParaRPr sz="105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324600"/>
            <a:ext cx="10668000" cy="11430"/>
          </a:xfrm>
          <a:prstGeom prst="rect">
            <a:avLst/>
          </a:prstGeom>
          <a:solidFill>
            <a:srgbClr val="E6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293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GreenLight-Gym2 | LLM-RSPC greenhouse control</a:t>
            </a:r>
            <a:endParaRPr sz="825" b="0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704850"/>
            <a:ext cx="7429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MC-SERO 目前是“机制候选诊断层”，用来观察而不是接管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50495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它帮我们发现哪些机制动作可能更好，但不改变 selected_control。</a:t>
            </a:r>
            <a:endParaRPr sz="12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2333625"/>
            <a:ext cx="2000250" cy="914400"/>
          </a:xfrm>
          <a:prstGeom prst="rect">
            <a:avLst/>
          </a:prstGeom>
          <a:solidFill>
            <a:srgbClr val="FFFFFF"/>
          </a:solidFill>
          <a:ln w="11430">
            <a:solidFill>
              <a:srgbClr val="E6E2D8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2486025"/>
            <a:ext cx="209550" cy="209550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1123950" y="2447925"/>
            <a:ext cx="1428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当前 selected_control</a:t>
            </a:r>
            <a:endParaRPr sz="12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23950" y="2714625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LLM-RSPC / fallback 已选动作，作为 baseline_score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00350" y="2781300"/>
            <a:ext cx="38100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14" name="等腰三角形 13"/>
          <p:cNvSpPr>
            <a:spLocks noGrp="1"/>
          </p:cNvSpPr>
          <p:nvPr/>
        </p:nvSpPr>
        <p:spPr>
          <a:xfrm>
            <a:off x="3171825" y="2733675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429000" y="2143125"/>
            <a:ext cx="2381250" cy="1257300"/>
          </a:xfrm>
          <a:prstGeom prst="rect">
            <a:avLst/>
          </a:prstGeom>
          <a:solidFill>
            <a:srgbClr val="E0ECF2"/>
          </a:solidFill>
          <a:ln w="11430">
            <a:solidFill>
              <a:srgbClr val="E6E2D8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2350" y="2295525"/>
            <a:ext cx="209550" cy="20955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3886200" y="2257425"/>
            <a:ext cx="1809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机制候选池</a:t>
            </a:r>
            <a:endParaRPr sz="1200" b="1">
              <a:solidFill>
                <a:srgbClr val="3A6F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886200" y="2524125"/>
            <a:ext cx="18097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anchor、rule、dry_recovery、dehumidify、economy_hold 等动态条件填充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962650" y="2781300"/>
            <a:ext cx="38100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0" name="等腰三角形 19"/>
          <p:cNvSpPr>
            <a:spLocks noGrp="1"/>
          </p:cNvSpPr>
          <p:nvPr/>
        </p:nvSpPr>
        <p:spPr>
          <a:xfrm>
            <a:off x="6334125" y="2733675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591300" y="2143125"/>
            <a:ext cx="2362200" cy="1257300"/>
          </a:xfrm>
          <a:prstGeom prst="rect">
            <a:avLst/>
          </a:prstGeom>
          <a:solidFill>
            <a:srgbClr val="F3E5C7"/>
          </a:solidFill>
          <a:ln w="11430">
            <a:solidFill>
              <a:srgbClr val="E6E2D8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4650" y="2295525"/>
            <a:ext cx="209550" cy="209550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7048500" y="2257425"/>
            <a:ext cx="17907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Short-horizon proxy</a:t>
            </a:r>
            <a:endParaRPr sz="1200" b="1">
              <a:solidFill>
                <a:srgbClr val="D89B3D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48500" y="2524125"/>
            <a:ext cx="17907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对候选动作滚动若干步，估计温湿度风险与收益趋势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105900" y="2781300"/>
            <a:ext cx="32385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6" name="等腰三角形 25"/>
          <p:cNvSpPr>
            <a:spLocks noGrp="1"/>
          </p:cNvSpPr>
          <p:nvPr/>
        </p:nvSpPr>
        <p:spPr>
          <a:xfrm>
            <a:off x="9420225" y="2733675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658350" y="2333625"/>
            <a:ext cx="1847850" cy="914400"/>
          </a:xfrm>
          <a:prstGeom prst="rect">
            <a:avLst/>
          </a:prstGeom>
          <a:solidFill>
            <a:srgbClr val="FFFFFF"/>
          </a:solidFill>
          <a:ln w="11430">
            <a:solidFill>
              <a:srgbClr val="E6E2D8"/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91700" y="2486025"/>
            <a:ext cx="209550" cy="209550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10115550" y="2447925"/>
            <a:ext cx="1276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Margin 诊断</a:t>
            </a:r>
            <a:endParaRPr sz="12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115550" y="2714625"/>
            <a:ext cx="1276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baseline_score - best_candidate_score；只记录 would_select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200150" y="4095750"/>
            <a:ext cx="93345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524000" y="43624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C75A4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solidFill>
                  <a:srgbClr val="C75A4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关键边界</a:t>
            </a:r>
            <a:endParaRPr sz="1575" b="1">
              <a:solidFill>
                <a:srgbClr val="C75A4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952750" y="4324350"/>
            <a:ext cx="685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MC-SERO shadow 与 fallback 候选可以重合，因为二者都基于同一套温室机理启发；区别在于 shadow 只评分和记录，不把候选动作送入环境。</a:t>
            </a:r>
            <a:endParaRPr sz="13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629150" y="4953000"/>
            <a:ext cx="2286000" cy="285750"/>
          </a:xfrm>
          <a:prstGeom prst="rect">
            <a:avLst/>
          </a:prstGeom>
          <a:solidFill>
            <a:srgbClr val="DDEBE3"/>
          </a:solidFill>
          <a:ln w="9525">
            <a:solidFill>
              <a:srgbClr val="DDEBE3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724400" y="50101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shadow invariance 必须 OK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304800"/>
            <a:ext cx="609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可复现评估</a:t>
            </a:r>
            <a:endParaRPr sz="97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87100" y="3048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08</a:t>
            </a:r>
            <a:endParaRPr sz="105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324600"/>
            <a:ext cx="10668000" cy="11430"/>
          </a:xfrm>
          <a:prstGeom prst="rect">
            <a:avLst/>
          </a:prstGeom>
          <a:solidFill>
            <a:srgbClr val="E6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293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GreenLight-Gym2 | LLM-RSPC greenhouse control</a:t>
            </a:r>
            <a:endParaRPr sz="825" b="0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704850"/>
            <a:ext cx="7429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实验按层过门：cache → replay → canary → sentinel → benchmark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50495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这样可以区分 LLM 输出波动、底层控制改动、诊断层副作用和真实泛化风险。</a:t>
            </a:r>
            <a:endParaRPr sz="12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2400300"/>
            <a:ext cx="14668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2628900"/>
            <a:ext cx="1162050" cy="285750"/>
          </a:xfrm>
          <a:prstGeom prst="rect">
            <a:avLst/>
          </a:prstGeom>
          <a:solidFill>
            <a:srgbClr val="DDEBE3"/>
          </a:solidFill>
          <a:ln w="9525">
            <a:solidFill>
              <a:srgbClr val="DDEBE3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2686050"/>
            <a:ext cx="971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Record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10515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冻结 LLM plans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095500" y="2943225"/>
            <a:ext cx="17145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14" name="等腰三角形 13"/>
          <p:cNvSpPr>
            <a:spLocks noGrp="1"/>
          </p:cNvSpPr>
          <p:nvPr/>
        </p:nvSpPr>
        <p:spPr>
          <a:xfrm>
            <a:off x="2257425" y="2895600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438400" y="2400300"/>
            <a:ext cx="14668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590800" y="2628900"/>
            <a:ext cx="1162050" cy="285750"/>
          </a:xfrm>
          <a:prstGeom prst="rect">
            <a:avLst/>
          </a:prstGeom>
          <a:solidFill>
            <a:srgbClr val="DDEBE3"/>
          </a:solidFill>
          <a:ln w="9525">
            <a:solidFill>
              <a:srgbClr val="DDEBE3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686050" y="2686050"/>
            <a:ext cx="971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Strict Replay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609850" y="310515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cache hit 满步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962400" y="2943225"/>
            <a:ext cx="17145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0" name="等腰三角形 19"/>
          <p:cNvSpPr>
            <a:spLocks noGrp="1"/>
          </p:cNvSpPr>
          <p:nvPr/>
        </p:nvSpPr>
        <p:spPr>
          <a:xfrm>
            <a:off x="4124325" y="2895600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305300" y="2400300"/>
            <a:ext cx="14668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457700" y="2628900"/>
            <a:ext cx="1162050" cy="285750"/>
          </a:xfrm>
          <a:prstGeom prst="rect">
            <a:avLst/>
          </a:prstGeom>
          <a:solidFill>
            <a:srgbClr val="DDEBE3"/>
          </a:solidFill>
          <a:ln w="9525">
            <a:solidFill>
              <a:srgbClr val="DDEBE3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552950" y="2686050"/>
            <a:ext cx="971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Shadow Invariance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476750" y="310515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MC-SERO 不改变行为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829300" y="2943225"/>
            <a:ext cx="17145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6" name="等腰三角形 25"/>
          <p:cNvSpPr>
            <a:spLocks noGrp="1"/>
          </p:cNvSpPr>
          <p:nvPr/>
        </p:nvSpPr>
        <p:spPr>
          <a:xfrm>
            <a:off x="5991225" y="2895600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172200" y="2400300"/>
            <a:ext cx="14668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324600" y="2628900"/>
            <a:ext cx="1162050" cy="285750"/>
          </a:xfrm>
          <a:prstGeom prst="rect">
            <a:avLst/>
          </a:prstGeom>
          <a:solidFill>
            <a:srgbClr val="DDEBE3"/>
          </a:solidFill>
          <a:ln w="9525">
            <a:solidFill>
              <a:srgbClr val="DDEBE3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419850" y="2686050"/>
            <a:ext cx="971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Canary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343650" y="310515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单场景失败窗口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696200" y="2943225"/>
            <a:ext cx="17145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32" name="等腰三角形 31"/>
          <p:cNvSpPr>
            <a:spLocks noGrp="1"/>
          </p:cNvSpPr>
          <p:nvPr/>
        </p:nvSpPr>
        <p:spPr>
          <a:xfrm>
            <a:off x="7858125" y="2895600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039100" y="2400300"/>
            <a:ext cx="14668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191500" y="2628900"/>
            <a:ext cx="1162050" cy="285750"/>
          </a:xfrm>
          <a:prstGeom prst="rect">
            <a:avLst/>
          </a:prstGeom>
          <a:solidFill>
            <a:srgbClr val="F3E5C7"/>
          </a:solidFill>
          <a:ln w="9525">
            <a:solidFill>
              <a:srgbClr val="F3E5C7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286750" y="2686050"/>
            <a:ext cx="971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Sentinel 12x240</a:t>
            </a:r>
            <a:endParaRPr sz="900" b="1">
              <a:solidFill>
                <a:srgbClr val="D89B3D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210550" y="310515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跨年跨季节泛化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563100" y="2943225"/>
            <a:ext cx="171450" cy="22860"/>
          </a:xfrm>
          <a:prstGeom prst="rect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38" name="等腰三角形 37"/>
          <p:cNvSpPr>
            <a:spLocks noGrp="1"/>
          </p:cNvSpPr>
          <p:nvPr/>
        </p:nvSpPr>
        <p:spPr>
          <a:xfrm>
            <a:off x="9725025" y="2895600"/>
            <a:ext cx="114300" cy="114300"/>
          </a:xfrm>
          <a:prstGeom prst="triangle">
            <a:avLst/>
          </a:prstGeom>
          <a:solidFill>
            <a:srgbClr val="889186"/>
          </a:solidFill>
          <a:ln w="0">
            <a:solidFill>
              <a:srgbClr val="889186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906000" y="2400300"/>
            <a:ext cx="1466850" cy="1066800"/>
          </a:xfrm>
          <a:prstGeom prst="rect">
            <a:avLst/>
          </a:prstGeom>
          <a:solidFill>
            <a:srgbClr val="F3F4EF"/>
          </a:solidFill>
          <a:ln w="9525">
            <a:solidFill>
              <a:srgbClr val="889186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0058400" y="2628900"/>
            <a:ext cx="1162050" cy="285750"/>
          </a:xfrm>
          <a:prstGeom prst="rect">
            <a:avLst/>
          </a:prstGeom>
          <a:solidFill>
            <a:srgbClr val="DDEBE3"/>
          </a:solidFill>
          <a:ln w="9525">
            <a:solidFill>
              <a:srgbClr val="DDEBE3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0153650" y="2686050"/>
            <a:ext cx="971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36x240+</a:t>
            </a:r>
            <a:endParaRPr sz="90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0077450" y="310515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正式论文实验</a:t>
            </a:r>
            <a:endParaRPr sz="9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314450" y="4191000"/>
            <a:ext cx="4381500" cy="1066800"/>
          </a:xfrm>
          <a:prstGeom prst="rect">
            <a:avLst/>
          </a:prstGeom>
          <a:solidFill>
            <a:srgbClr val="DDEBE3"/>
          </a:solidFill>
          <a:ln w="9525">
            <a:solidFill>
              <a:srgbClr val="C9DED2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600200" y="44577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为什么 strict replay 重要</a:t>
            </a:r>
            <a:endParaRPr sz="157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638300" y="4895850"/>
            <a:ext cx="66675" cy="66675"/>
          </a:xfrm>
          <a:prstGeom prst="rect">
            <a:avLst/>
          </a:prstGeom>
          <a:solidFill>
            <a:srgbClr val="236B4B"/>
          </a:solidFill>
          <a:ln w="0">
            <a:solidFill>
              <a:srgbClr val="236B4B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809750" y="4838700"/>
            <a:ext cx="2971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同一高层计划下比较底层控制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496050" y="4191000"/>
            <a:ext cx="4381500" cy="1066800"/>
          </a:xfrm>
          <a:prstGeom prst="rect">
            <a:avLst/>
          </a:prstGeom>
          <a:solidFill>
            <a:srgbClr val="F3E5C7"/>
          </a:solidFill>
          <a:ln w="9525">
            <a:solidFill>
              <a:srgbClr val="E4BE74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6781800" y="44577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为什么 sentinel 先于 36x240</a:t>
            </a:r>
            <a:endParaRPr sz="1575" b="1">
              <a:solidFill>
                <a:srgbClr val="D89B3D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819900" y="4895850"/>
            <a:ext cx="66675" cy="66675"/>
          </a:xfrm>
          <a:prstGeom prst="rect">
            <a:avLst/>
          </a:prstGeom>
          <a:solidFill>
            <a:srgbClr val="D89B3D"/>
          </a:solidFill>
          <a:ln w="0">
            <a:solidFill>
              <a:srgbClr val="D89B3D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991350" y="4838700"/>
            <a:ext cx="3067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先拦截 pilot 看不到的泛化风险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304800"/>
            <a:ext cx="609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当前证据</a:t>
            </a:r>
            <a:endParaRPr sz="97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87100" y="3048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09</a:t>
            </a:r>
            <a:endParaRPr sz="105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324600"/>
            <a:ext cx="10668000" cy="11430"/>
          </a:xfrm>
          <a:prstGeom prst="rect">
            <a:avLst/>
          </a:prstGeom>
          <a:solidFill>
            <a:srgbClr val="E6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293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GreenLight-Gym2 | LLM-RSPC greenhouse control</a:t>
            </a:r>
            <a:endParaRPr sz="825" b="0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704850"/>
            <a:ext cx="7429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目前进展是“安全泛化风险被定位并修复”，不是最终性能结论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50495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pilot 有积极信号；sentinel 告诉我们还不能急着扩大正式实验。</a:t>
            </a:r>
            <a:endParaRPr sz="12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076450"/>
            <a:ext cx="32766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23431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Pilot 积极信号</a:t>
            </a:r>
            <a:endParaRPr sz="165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285750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170.71 → 4.59</a:t>
            </a:r>
            <a:endParaRPr sz="202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325755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2015/day120 RH-low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375285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21.35 → 8.48</a:t>
            </a:r>
            <a:endParaRPr sz="202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415290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2015/day120 VPD-high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57700" y="2076450"/>
            <a:ext cx="3276600" cy="2857500"/>
          </a:xfrm>
          <a:prstGeom prst="rect">
            <a:avLst/>
          </a:prstGeom>
          <a:solidFill>
            <a:srgbClr val="F3DCD5"/>
          </a:solidFill>
          <a:ln w="9525">
            <a:solidFill>
              <a:srgbClr val="E2B9A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724400" y="23431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75A4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C75A42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Sentinel 拦截风险</a:t>
            </a:r>
            <a:endParaRPr sz="1650" b="1">
              <a:solidFill>
                <a:srgbClr val="C75A42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781550" y="2990850"/>
            <a:ext cx="66675" cy="66675"/>
          </a:xfrm>
          <a:prstGeom prst="rect">
            <a:avLst/>
          </a:prstGeom>
          <a:solidFill>
            <a:srgbClr val="C75A42"/>
          </a:solidFill>
          <a:ln w="0">
            <a:solidFill>
              <a:srgbClr val="C75A4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953000" y="2933700"/>
            <a:ext cx="2305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2010/day180/seed44 曾提前终止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81550" y="3581400"/>
            <a:ext cx="66675" cy="66675"/>
          </a:xfrm>
          <a:prstGeom prst="rect">
            <a:avLst/>
          </a:prstGeom>
          <a:solidFill>
            <a:srgbClr val="C75A42"/>
          </a:solidFill>
          <a:ln w="0">
            <a:solidFill>
              <a:srgbClr val="C75A4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953000" y="352425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机理：热干保湿过强，牺牲温度安全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781550" y="4171950"/>
            <a:ext cx="66675" cy="66675"/>
          </a:xfrm>
          <a:prstGeom prst="rect">
            <a:avLst/>
          </a:prstGeom>
          <a:solidFill>
            <a:srgbClr val="C75A42"/>
          </a:solidFill>
          <a:ln w="0">
            <a:solidFill>
              <a:srgbClr val="C75A42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953000" y="4114800"/>
            <a:ext cx="2305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结论：不能直接进入 36x240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229600" y="2076450"/>
            <a:ext cx="3276600" cy="2857500"/>
          </a:xfrm>
          <a:prstGeom prst="rect">
            <a:avLst/>
          </a:prstGeom>
          <a:solidFill>
            <a:srgbClr val="E0ECF2"/>
          </a:solidFill>
          <a:ln w="9525">
            <a:solidFill>
              <a:srgbClr val="C1D8E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496300" y="23431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最新修复状态</a:t>
            </a:r>
            <a:endParaRPr sz="1650" b="1">
              <a:solidFill>
                <a:srgbClr val="3A6F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24900" y="28575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12 / 12</a:t>
            </a:r>
            <a:endParaRPr sz="2025" b="1">
              <a:solidFill>
                <a:srgbClr val="3A6F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724900" y="3257550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llm_rspc_v2 candidate 场景跑满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724900" y="37528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</a:t>
            </a:r>
            <a:endParaRPr sz="2025" b="1">
              <a:solidFill>
                <a:srgbClr val="3A6F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724900" y="4152900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runtime / strict miss</a:t>
            </a:r>
            <a:endParaRPr sz="900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724150" y="5429250"/>
            <a:ext cx="6667500" cy="285750"/>
          </a:xfrm>
          <a:prstGeom prst="rect">
            <a:avLst/>
          </a:prstGeom>
          <a:solidFill>
            <a:srgbClr val="F3E5C7"/>
          </a:solidFill>
          <a:ln w="9525">
            <a:solidFill>
              <a:srgbClr val="F3E5C7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819400" y="5486400"/>
            <a:ext cx="647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完整 gate 仍需处理 2015/d180 baseline runtime 与干侧性能</a:t>
            </a:r>
            <a:endParaRPr sz="900" b="1">
              <a:solidFill>
                <a:srgbClr val="D89B3D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304800"/>
            <a:ext cx="609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一页总结</a:t>
            </a:r>
            <a:endParaRPr sz="975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87100" y="3048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10</a:t>
            </a:r>
            <a:endParaRPr sz="1050" b="1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6324600"/>
            <a:ext cx="10668000" cy="11430"/>
          </a:xfrm>
          <a:prstGeom prst="rect">
            <a:avLst/>
          </a:prstGeom>
          <a:solidFill>
            <a:srgbClr val="E6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4293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88918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GreenLight-Gym2 | LLM-RSPC greenhouse control</a:t>
            </a:r>
            <a:endParaRPr sz="825" b="0">
              <a:solidFill>
                <a:srgbClr val="88918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704850"/>
            <a:ext cx="7429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目前进展与未来规划：先把控制做强，再进入论文级实验设计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50495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65706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下一阶段目标不是扩大实验数量，而是提升热干场景控制效果并建立强 baseline。</a:t>
            </a:r>
            <a:endParaRPr sz="1275" b="0">
              <a:solidFill>
                <a:srgbClr val="65706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2152650"/>
            <a:ext cx="325755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2419350"/>
            <a:ext cx="1314450" cy="285750"/>
          </a:xfrm>
          <a:prstGeom prst="rect">
            <a:avLst/>
          </a:prstGeom>
          <a:solidFill>
            <a:srgbClr val="DDEBE3"/>
          </a:solidFill>
          <a:ln w="9525">
            <a:solidFill>
              <a:srgbClr val="DDEBE3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28700" y="247650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23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已完成</a:t>
            </a:r>
            <a:endParaRPr sz="900" b="1">
              <a:solidFill>
                <a:srgbClr val="23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3067050"/>
            <a:ext cx="66675" cy="66675"/>
          </a:xfrm>
          <a:prstGeom prst="rect">
            <a:avLst/>
          </a:prstGeom>
          <a:solidFill>
            <a:srgbClr val="236B4B"/>
          </a:solidFill>
          <a:ln w="0">
            <a:solidFill>
              <a:srgbClr val="236B4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62050" y="300990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确定主线：LLM-RSPC，不让 LLM 直接控制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3543300"/>
            <a:ext cx="66675" cy="66675"/>
          </a:xfrm>
          <a:prstGeom prst="rect">
            <a:avLst/>
          </a:prstGeom>
          <a:solidFill>
            <a:srgbClr val="236B4B"/>
          </a:solidFill>
          <a:ln w="0">
            <a:solidFill>
              <a:srgbClr val="236B4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348615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建立 plan cache / strict replay / sentinel gate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4019550"/>
            <a:ext cx="66675" cy="66675"/>
          </a:xfrm>
          <a:prstGeom prst="rect">
            <a:avLst/>
          </a:prstGeom>
          <a:solidFill>
            <a:srgbClr val="236B4B"/>
          </a:solidFill>
          <a:ln w="0">
            <a:solidFill>
              <a:srgbClr val="236B4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62050" y="396240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完成 MC-SERO shadow 诊断与 Tomato Safety v2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90600" y="4495800"/>
            <a:ext cx="66675" cy="66675"/>
          </a:xfrm>
          <a:prstGeom prst="rect">
            <a:avLst/>
          </a:prstGeom>
          <a:solidFill>
            <a:srgbClr val="236B4B"/>
          </a:solidFill>
          <a:ln w="0">
            <a:solidFill>
              <a:srgbClr val="236B4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62050" y="443865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定位并修复 hot override 泛化风险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19600" y="2152650"/>
            <a:ext cx="325755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86300" y="2419350"/>
            <a:ext cx="1314450" cy="285750"/>
          </a:xfrm>
          <a:prstGeom prst="rect">
            <a:avLst/>
          </a:prstGeom>
          <a:solidFill>
            <a:srgbClr val="F3E5C7"/>
          </a:solidFill>
          <a:ln w="9525">
            <a:solidFill>
              <a:srgbClr val="F3E5C7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781550" y="247650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D89B3D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当前瓶颈</a:t>
            </a:r>
            <a:endParaRPr sz="900" b="1">
              <a:solidFill>
                <a:srgbClr val="D89B3D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743450" y="3067050"/>
            <a:ext cx="66675" cy="66675"/>
          </a:xfrm>
          <a:prstGeom prst="rect">
            <a:avLst/>
          </a:prstGeom>
          <a:solidFill>
            <a:srgbClr val="D89B3D"/>
          </a:solidFill>
          <a:ln w="0">
            <a:solidFill>
              <a:srgbClr val="D89B3D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914900" y="300990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热干场景 RH-low / VPD-high 仍偏大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743450" y="3543300"/>
            <a:ext cx="66675" cy="66675"/>
          </a:xfrm>
          <a:prstGeom prst="rect">
            <a:avLst/>
          </a:prstGeom>
          <a:solidFill>
            <a:srgbClr val="D89B3D"/>
          </a:solidFill>
          <a:ln w="0">
            <a:solidFill>
              <a:srgbClr val="D89B3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914900" y="348615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完整 12x240 gate 被 baseline runtime 阻塞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743450" y="4019550"/>
            <a:ext cx="66675" cy="66675"/>
          </a:xfrm>
          <a:prstGeom prst="rect">
            <a:avLst/>
          </a:prstGeom>
          <a:solidFill>
            <a:srgbClr val="D89B3D"/>
          </a:solidFill>
          <a:ln w="0">
            <a:solidFill>
              <a:srgbClr val="D89B3D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914900" y="396240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当前 PPO 不能作为最终强 baseline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743450" y="4495800"/>
            <a:ext cx="66675" cy="66675"/>
          </a:xfrm>
          <a:prstGeom prst="rect">
            <a:avLst/>
          </a:prstGeom>
          <a:solidFill>
            <a:srgbClr val="D89B3D"/>
          </a:solidFill>
          <a:ln w="0">
            <a:solidFill>
              <a:srgbClr val="D89B3D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914900" y="443865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pilot 结果不能写成最终泛化结论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172450" y="2152650"/>
            <a:ext cx="325755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439150" y="2419350"/>
            <a:ext cx="1314450" cy="285750"/>
          </a:xfrm>
          <a:prstGeom prst="rect">
            <a:avLst/>
          </a:prstGeom>
          <a:solidFill>
            <a:srgbClr val="E0ECF2"/>
          </a:solidFill>
          <a:ln w="9525">
            <a:solidFill>
              <a:srgbClr val="E0ECF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534400" y="247650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3A6F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下一步</a:t>
            </a:r>
            <a:endParaRPr sz="900" b="1">
              <a:solidFill>
                <a:srgbClr val="3A6F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496300" y="3067050"/>
            <a:ext cx="66675" cy="66675"/>
          </a:xfrm>
          <a:prstGeom prst="rect">
            <a:avLst/>
          </a:prstGeom>
          <a:solidFill>
            <a:srgbClr val="3A6F8F"/>
          </a:solidFill>
          <a:ln w="0">
            <a:solidFill>
              <a:srgbClr val="3A6F8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667750" y="300990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优化 RSPC hot-dry 候选与短时域评分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496300" y="3543300"/>
            <a:ext cx="66675" cy="66675"/>
          </a:xfrm>
          <a:prstGeom prst="rect">
            <a:avLst/>
          </a:prstGeom>
          <a:solidFill>
            <a:srgbClr val="3A6F8F"/>
          </a:solidFill>
          <a:ln w="0">
            <a:solidFill>
              <a:srgbClr val="3A6F8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667750" y="348615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在不破坏安全 gate 下恢复干侧性能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496300" y="4019550"/>
            <a:ext cx="66675" cy="66675"/>
          </a:xfrm>
          <a:prstGeom prst="rect">
            <a:avLst/>
          </a:prstGeom>
          <a:solidFill>
            <a:srgbClr val="3A6F8F"/>
          </a:solidFill>
          <a:ln w="0">
            <a:solidFill>
              <a:srgbClr val="3A6F8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667750" y="396240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固定 reward_v0，训练/调参 PPO 或 SAC 强基线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496300" y="4495800"/>
            <a:ext cx="66675" cy="66675"/>
          </a:xfrm>
          <a:prstGeom prst="rect">
            <a:avLst/>
          </a:prstGeom>
          <a:solidFill>
            <a:srgbClr val="3A6F8F"/>
          </a:solidFill>
          <a:ln w="0">
            <a:solidFill>
              <a:srgbClr val="3A6F8F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667750" y="4438650"/>
            <a:ext cx="2400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通过 sentinel 后再做 36x240、960/full-cycle</a:t>
            </a:r>
            <a:endParaRPr sz="120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238250" y="5734050"/>
            <a:ext cx="9525000" cy="400050"/>
          </a:xfrm>
          <a:prstGeom prst="rect">
            <a:avLst/>
          </a:prstGeom>
          <a:solidFill>
            <a:srgbClr val="27312B"/>
          </a:solidFill>
          <a:ln w="9525">
            <a:solidFill>
              <a:srgbClr val="27312B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543050" y="5848350"/>
            <a:ext cx="895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汇报口径：当前是安全与评估底座阶段，下一阶段才是把控制效果调到可与强 RL / MPC+RL 对齐。</a:t>
            </a:r>
            <a:endParaRPr sz="12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3782</Words>
  <Application>WPS 演示</Application>
  <PresentationFormat>Converted Presentation</PresentationFormat>
  <Paragraphs>453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Microsoft YaHei UI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李俊杰</cp:lastModifiedBy>
  <cp:revision>1</cp:revision>
  <dcterms:created xsi:type="dcterms:W3CDTF">2026-05-08T04:00:16Z</dcterms:created>
  <dcterms:modified xsi:type="dcterms:W3CDTF">2026-05-08T04:00:16Z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6746781C1DAD48E6B9F3FDA62F5CEA46_12</vt:lpwstr>
  </property>
</Properties>
</file>